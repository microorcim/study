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326" r:id="rId4"/>
    <p:sldId id="325" r:id="rId5"/>
    <p:sldId id="324" r:id="rId6"/>
    <p:sldId id="260" r:id="rId7"/>
    <p:sldId id="290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268" r:id="rId17"/>
    <p:sldId id="335" r:id="rId18"/>
    <p:sldId id="336" r:id="rId19"/>
    <p:sldId id="337" r:id="rId20"/>
    <p:sldId id="338" r:id="rId21"/>
    <p:sldId id="339" r:id="rId22"/>
    <p:sldId id="340" r:id="rId23"/>
    <p:sldId id="349" r:id="rId24"/>
    <p:sldId id="351" r:id="rId25"/>
    <p:sldId id="352" r:id="rId26"/>
    <p:sldId id="353" r:id="rId27"/>
    <p:sldId id="341" r:id="rId28"/>
    <p:sldId id="343" r:id="rId29"/>
    <p:sldId id="345" r:id="rId30"/>
    <p:sldId id="346" r:id="rId31"/>
    <p:sldId id="347" r:id="rId32"/>
    <p:sldId id="348" r:id="rId33"/>
    <p:sldId id="354" r:id="rId34"/>
    <p:sldId id="355" r:id="rId35"/>
    <p:sldId id="356" r:id="rId36"/>
    <p:sldId id="357" r:id="rId37"/>
    <p:sldId id="358" r:id="rId38"/>
    <p:sldId id="359" r:id="rId39"/>
    <p:sldId id="363" r:id="rId40"/>
    <p:sldId id="365" r:id="rId41"/>
    <p:sldId id="366" r:id="rId42"/>
    <p:sldId id="364" r:id="rId43"/>
    <p:sldId id="367" r:id="rId44"/>
    <p:sldId id="368" r:id="rId45"/>
    <p:sldId id="369" r:id="rId46"/>
    <p:sldId id="370" r:id="rId47"/>
    <p:sldId id="371" r:id="rId48"/>
    <p:sldId id="372" r:id="rId49"/>
    <p:sldId id="373" r:id="rId50"/>
    <p:sldId id="375" r:id="rId51"/>
    <p:sldId id="376" r:id="rId52"/>
    <p:sldId id="377" r:id="rId53"/>
    <p:sldId id="378" r:id="rId54"/>
    <p:sldId id="382" r:id="rId55"/>
    <p:sldId id="389" r:id="rId56"/>
    <p:sldId id="390" r:id="rId57"/>
    <p:sldId id="391" r:id="rId58"/>
    <p:sldId id="383" r:id="rId59"/>
    <p:sldId id="387" r:id="rId60"/>
    <p:sldId id="392" r:id="rId61"/>
    <p:sldId id="393" r:id="rId62"/>
    <p:sldId id="394" r:id="rId63"/>
    <p:sldId id="395" r:id="rId64"/>
    <p:sldId id="396" r:id="rId65"/>
    <p:sldId id="397" r:id="rId66"/>
    <p:sldId id="398" r:id="rId67"/>
    <p:sldId id="401" r:id="rId68"/>
    <p:sldId id="408" r:id="rId69"/>
    <p:sldId id="409" r:id="rId70"/>
    <p:sldId id="407" r:id="rId7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st Tenses" id="{157D4182-575E-4FCF-A126-4A115F0E46EB}">
          <p14:sldIdLst>
            <p14:sldId id="256"/>
          </p14:sldIdLst>
        </p14:section>
        <p14:section name="Simple" id="{12D91AC6-242A-473E-A28A-9ACBCD9718C1}">
          <p14:sldIdLst>
            <p14:sldId id="289"/>
            <p14:sldId id="326"/>
            <p14:sldId id="325"/>
            <p14:sldId id="324"/>
            <p14:sldId id="260"/>
            <p14:sldId id="290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268"/>
            <p14:sldId id="335"/>
            <p14:sldId id="336"/>
            <p14:sldId id="337"/>
            <p14:sldId id="338"/>
            <p14:sldId id="339"/>
            <p14:sldId id="340"/>
            <p14:sldId id="349"/>
            <p14:sldId id="351"/>
            <p14:sldId id="352"/>
            <p14:sldId id="353"/>
            <p14:sldId id="341"/>
            <p14:sldId id="343"/>
            <p14:sldId id="345"/>
            <p14:sldId id="346"/>
            <p14:sldId id="347"/>
            <p14:sldId id="348"/>
            <p14:sldId id="354"/>
          </p14:sldIdLst>
        </p14:section>
        <p14:section name="Continuous" id="{F6DDD6D6-584F-4500-B056-2126A9091BAF}">
          <p14:sldIdLst>
            <p14:sldId id="355"/>
            <p14:sldId id="356"/>
            <p14:sldId id="357"/>
            <p14:sldId id="358"/>
            <p14:sldId id="359"/>
            <p14:sldId id="363"/>
            <p14:sldId id="365"/>
            <p14:sldId id="366"/>
            <p14:sldId id="364"/>
            <p14:sldId id="367"/>
            <p14:sldId id="368"/>
            <p14:sldId id="369"/>
            <p14:sldId id="370"/>
            <p14:sldId id="371"/>
            <p14:sldId id="372"/>
          </p14:sldIdLst>
        </p14:section>
        <p14:section name="Perfect" id="{9547334A-487C-4D74-8006-A5280EB25FEC}">
          <p14:sldIdLst>
            <p14:sldId id="373"/>
            <p14:sldId id="375"/>
            <p14:sldId id="376"/>
            <p14:sldId id="377"/>
            <p14:sldId id="378"/>
            <p14:sldId id="382"/>
            <p14:sldId id="389"/>
            <p14:sldId id="390"/>
            <p14:sldId id="391"/>
            <p14:sldId id="383"/>
            <p14:sldId id="387"/>
            <p14:sldId id="392"/>
          </p14:sldIdLst>
        </p14:section>
        <p14:section name="Perfect C." id="{7FC977BA-EDCA-4208-AC88-8494898378C2}">
          <p14:sldIdLst>
            <p14:sldId id="393"/>
            <p14:sldId id="394"/>
            <p14:sldId id="395"/>
            <p14:sldId id="396"/>
            <p14:sldId id="397"/>
            <p14:sldId id="398"/>
            <p14:sldId id="401"/>
            <p14:sldId id="408"/>
            <p14:sldId id="409"/>
            <p14:sldId id="4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>
      <p:cViewPr varScale="1">
        <p:scale>
          <a:sx n="105" d="100"/>
          <a:sy n="105" d="100"/>
        </p:scale>
        <p:origin x="194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13800" dirty="0" smtClean="0"/>
              <a:t>Past Tenses</a:t>
            </a:r>
            <a:endParaRPr lang="ru-RU" sz="13800" dirty="0"/>
          </a:p>
        </p:txBody>
      </p:sp>
    </p:spTree>
    <p:extLst>
      <p:ext uri="{BB962C8B-B14F-4D97-AF65-F5344CB8AC3E}">
        <p14:creationId xmlns:p14="http://schemas.microsoft.com/office/powerpoint/2010/main" val="90307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kysmart Таблица английских време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3718"/>
            <a:ext cx="9144000" cy="631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22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3508" y="1268760"/>
            <a:ext cx="885698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/>
              <a:t>Past Simple</a:t>
            </a:r>
            <a:r>
              <a:rPr lang="ru-RU" sz="6600" b="1" dirty="0" smtClean="0"/>
              <a:t>. </a:t>
            </a:r>
            <a:endParaRPr lang="en-US" sz="6600" b="1" dirty="0" smtClean="0"/>
          </a:p>
          <a:p>
            <a:pPr algn="ctr"/>
            <a:r>
              <a:rPr lang="ru-RU" sz="6600" b="1" dirty="0"/>
              <a:t/>
            </a:r>
            <a:br>
              <a:rPr lang="ru-RU" sz="6600" b="1" dirty="0"/>
            </a:br>
            <a:r>
              <a:rPr lang="ru-RU" sz="6600" b="1" dirty="0" smtClean="0"/>
              <a:t>Прошедшее простое время</a:t>
            </a:r>
            <a:r>
              <a:rPr lang="ru-RU" sz="6600" b="1" dirty="0"/>
              <a:t>.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161082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188641"/>
            <a:ext cx="8856984" cy="6578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1000"/>
              </a:spcAft>
            </a:pP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Мы используем прошедшее время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Past Simple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когда говорим о событиях, которые произошли в прошлом</a:t>
            </a:r>
            <a:r>
              <a:rPr lang="ru-RU" sz="4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Aft>
                <a:spcPts val="1000"/>
              </a:spcAft>
            </a:pPr>
            <a:endParaRPr lang="ru-RU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</a:pPr>
            <a:r>
              <a:rPr lang="ru-RU" sz="4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Слова-указатели: 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yesterday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(вчера),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last week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(на прошлой неделе),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last month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(в прошлом месяце),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last year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(в прошлом году),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 days ago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(два дня назад),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1990 (в 1990 году).</a:t>
            </a:r>
            <a:endParaRPr lang="ru-R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23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79512" y="188640"/>
            <a:ext cx="8856984" cy="612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ru-RU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Глагол </a:t>
            </a:r>
            <a:r>
              <a:rPr lang="ru-RU" sz="4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be</a:t>
            </a:r>
            <a:r>
              <a:rPr lang="ru-RU" sz="4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» - быть</a:t>
            </a:r>
            <a:r>
              <a:rPr lang="ru-RU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ctr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endParaRPr lang="ru-RU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</a:pP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Глагол «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be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» в прошедшем времени имеет две формы: </a:t>
            </a: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или </a:t>
            </a:r>
            <a:r>
              <a:rPr lang="en-US" sz="4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4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</a:pPr>
            <a:endParaRPr lang="ru-RU" sz="4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</a:pPr>
            <a:r>
              <a:rPr lang="en-US" sz="4000" dirty="0" smtClean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ru-RU" sz="4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используется 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 единственным числом (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а </a:t>
            </a:r>
            <a:r>
              <a:rPr lang="en-US" sz="4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со множественным (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ru-R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813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Я был студентом.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6432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899592" y="1360188"/>
            <a:ext cx="8064896" cy="991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54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1302837" y="2276872"/>
            <a:ext cx="110892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287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899592" y="1360188"/>
            <a:ext cx="8064896" cy="2131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54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54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302837" y="2276872"/>
            <a:ext cx="110892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1302837" y="3356992"/>
            <a:ext cx="110892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2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899592" y="1360188"/>
            <a:ext cx="8064896" cy="4174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54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54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54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student?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endParaRPr lang="ru-RU" sz="5400" dirty="0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302837" y="2276872"/>
            <a:ext cx="110892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1302837" y="3356992"/>
            <a:ext cx="110892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988162" y="4437112"/>
            <a:ext cx="121981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15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endParaRPr lang="en-US" sz="5400" u="sng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899592" y="1341505"/>
            <a:ext cx="8244408" cy="4174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54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54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54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student?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Yes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No, </a:t>
            </a: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302837" y="2276872"/>
            <a:ext cx="110892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1302837" y="3356992"/>
            <a:ext cx="110892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988162" y="4437112"/>
            <a:ext cx="121981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3463077" y="5458537"/>
            <a:ext cx="110892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6300192" y="5434105"/>
            <a:ext cx="110892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3926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Мы были студентами.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214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899592" y="1360188"/>
            <a:ext cx="8064896" cy="991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54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students.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078075" y="2276872"/>
            <a:ext cx="134179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368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899592" y="1360188"/>
            <a:ext cx="8064896" cy="2131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students.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students.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078075" y="2276872"/>
            <a:ext cx="134179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2078075" y="3356992"/>
            <a:ext cx="134179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483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899592" y="1360188"/>
            <a:ext cx="8064896" cy="4174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students.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students.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54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students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endParaRPr lang="ru-RU" sz="5400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1007791" y="4437112"/>
            <a:ext cx="147597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2078075" y="3356992"/>
            <a:ext cx="134179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2078075" y="2276872"/>
            <a:ext cx="134179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13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endParaRPr lang="en-US" sz="5400" u="sng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899592" y="1341505"/>
            <a:ext cx="8244408" cy="5005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students.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students.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students?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Yes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54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No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54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4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2078075" y="2276872"/>
            <a:ext cx="134179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2078075" y="3356992"/>
            <a:ext cx="134179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1007791" y="4437112"/>
            <a:ext cx="147597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139952" y="5452425"/>
            <a:ext cx="134179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4067944" y="6237312"/>
            <a:ext cx="134179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597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97768"/>
            <a:ext cx="8229600" cy="1143000"/>
          </a:xfrm>
        </p:spPr>
        <p:txBody>
          <a:bodyPr>
            <a:noAutofit/>
          </a:bodyPr>
          <a:lstStyle/>
          <a:p>
            <a:r>
              <a:rPr lang="en-US" sz="5400" b="1" dirty="0" smtClean="0">
                <a:solidFill>
                  <a:schemeClr val="accent4">
                    <a:lumMod val="75000"/>
                  </a:schemeClr>
                </a:solidFill>
              </a:rPr>
              <a:t>Contractions</a:t>
            </a:r>
            <a:r>
              <a:rPr lang="ru-RU" sz="5400" b="1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5400" b="1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5400" b="1" dirty="0" smtClean="0">
                <a:solidFill>
                  <a:schemeClr val="accent4">
                    <a:lumMod val="75000"/>
                  </a:schemeClr>
                </a:solidFill>
              </a:rPr>
              <a:t>Сокращения</a:t>
            </a:r>
            <a:endParaRPr lang="ru-RU" sz="5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348880"/>
            <a:ext cx="8507288" cy="4248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dirty="0" smtClean="0">
                <a:latin typeface="Comic Sans MS" panose="030F0702030302020204" pitchFamily="66" charset="0"/>
              </a:rPr>
              <a:t>was not = wasn’t</a:t>
            </a:r>
          </a:p>
          <a:p>
            <a:pPr marL="0" indent="0">
              <a:buNone/>
            </a:pPr>
            <a:r>
              <a:rPr lang="en-US" sz="6600" dirty="0" smtClean="0">
                <a:latin typeface="Comic Sans MS" panose="030F0702030302020204" pitchFamily="66" charset="0"/>
              </a:rPr>
              <a:t>were not = weren’t</a:t>
            </a:r>
            <a:endParaRPr lang="en-US" sz="6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07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476672"/>
            <a:ext cx="8928992" cy="46228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algn="ctr">
              <a:lnSpc>
                <a:spcPct val="115000"/>
              </a:lnSpc>
              <a:spcAft>
                <a:spcPts val="0"/>
              </a:spcAft>
            </a:pPr>
            <a:r>
              <a:rPr lang="ru-RU" sz="4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Правильные глаголы</a:t>
            </a:r>
            <a:r>
              <a:rPr lang="ru-RU" sz="4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4400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ctr">
              <a:lnSpc>
                <a:spcPct val="115000"/>
              </a:lnSpc>
              <a:spcAft>
                <a:spcPts val="0"/>
              </a:spcAft>
            </a:pPr>
            <a:endParaRPr lang="ru-RU" sz="4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Правильные глаголы, это глаголы, которые меняют время по правилу</a:t>
            </a:r>
            <a:r>
              <a:rPr lang="ru-RU" sz="4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44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ru-RU" sz="4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Ved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(V = verb = </a:t>
            </a:r>
            <a:r>
              <a:rPr lang="ru-RU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глагол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267744" y="4365104"/>
            <a:ext cx="576064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66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Я играл.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402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1091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1259632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2519772" y="1628800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23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did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1259632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2519772" y="1628800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259632" y="3501008"/>
            <a:ext cx="9361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635896" y="3501008"/>
            <a:ext cx="12241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84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did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1259632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2519772" y="1628800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259632" y="3501008"/>
            <a:ext cx="9361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635896" y="3501008"/>
            <a:ext cx="12241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899592" y="4509120"/>
            <a:ext cx="10191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2519772" y="4514056"/>
            <a:ext cx="12241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83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did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6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did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1259632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2519772" y="1628800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259632" y="3501008"/>
            <a:ext cx="9361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635896" y="3501008"/>
            <a:ext cx="12241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899592" y="4509120"/>
            <a:ext cx="10191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2519772" y="4514056"/>
            <a:ext cx="12241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3851920" y="5589240"/>
            <a:ext cx="9361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3743908" y="6669360"/>
            <a:ext cx="9361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01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9512" y="-27384"/>
            <a:ext cx="8784976" cy="6038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algn="ctr">
              <a:lnSpc>
                <a:spcPct val="115000"/>
              </a:lnSpc>
              <a:spcAft>
                <a:spcPts val="0"/>
              </a:spcAft>
            </a:pPr>
            <a:r>
              <a:rPr lang="ru-RU" sz="40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Правила </a:t>
            </a:r>
            <a:r>
              <a:rPr lang="ru-RU" sz="40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написания</a:t>
            </a:r>
            <a:r>
              <a:rPr lang="en-US" sz="40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4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0" indent="-74295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4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Если 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глагол оканчивается на –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то добавляется только –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live – </a:t>
            </a:r>
            <a:r>
              <a:rPr lang="en-US" sz="4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lived</a:t>
            </a:r>
          </a:p>
          <a:p>
            <a:pPr marL="971550" indent="-742950">
              <a:lnSpc>
                <a:spcPct val="115000"/>
              </a:lnSpc>
              <a:spcAft>
                <a:spcPts val="0"/>
              </a:spcAft>
              <a:buFont typeface="+mj-lt"/>
              <a:buAutoNum type="arabicPeriod" startAt="2"/>
            </a:pPr>
            <a:r>
              <a:rPr lang="ru-RU" sz="4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Если 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глагол оканчивается на согласную +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4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4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меняется на </a:t>
            </a:r>
            <a:r>
              <a:rPr lang="ru-RU" sz="4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en-US" sz="40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i+ed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4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</a:t>
            </a:r>
            <a:r>
              <a:rPr lang="en-US" sz="46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46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4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</a:t>
            </a:r>
            <a:r>
              <a:rPr lang="en-US" sz="4600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46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r>
              <a:rPr lang="ru-RU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4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НО: </a:t>
            </a:r>
            <a:r>
              <a:rPr lang="en-US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</a:t>
            </a:r>
            <a:r>
              <a:rPr lang="en-US" sz="46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 – pl</a:t>
            </a:r>
            <a:r>
              <a:rPr lang="en-US" sz="46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yed, enj</a:t>
            </a:r>
            <a:r>
              <a:rPr lang="en-US" sz="46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 – enj</a:t>
            </a:r>
            <a:r>
              <a:rPr lang="en-US" sz="46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yed</a:t>
            </a:r>
            <a:endParaRPr lang="ru-RU" sz="4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100392" y="3645024"/>
            <a:ext cx="50405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480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9512" y="105373"/>
            <a:ext cx="8856984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algn="ctr">
              <a:lnSpc>
                <a:spcPct val="115000"/>
              </a:lnSpc>
              <a:spcAft>
                <a:spcPts val="0"/>
              </a:spcAft>
            </a:pPr>
            <a:r>
              <a:rPr lang="ru-RU" sz="35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Правила </a:t>
            </a:r>
            <a:r>
              <a:rPr lang="ru-RU" sz="35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написания</a:t>
            </a:r>
            <a:r>
              <a:rPr lang="en-US" sz="3500" b="1" u="sng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3500" b="1" u="sng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ctr">
              <a:lnSpc>
                <a:spcPct val="115000"/>
              </a:lnSpc>
              <a:spcAft>
                <a:spcPts val="0"/>
              </a:spcAft>
            </a:pPr>
            <a:endParaRPr lang="ru-RU" sz="35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115000"/>
              </a:lnSpc>
              <a:spcAft>
                <a:spcPts val="0"/>
              </a:spcAft>
              <a:buFont typeface="+mj-lt"/>
              <a:buAutoNum type="arabicPeriod" startAt="3"/>
            </a:pPr>
            <a:r>
              <a:rPr lang="ru-RU" sz="35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Если </a:t>
            </a:r>
            <a:r>
              <a:rPr lang="ru-RU" sz="3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глагол оканчивается на –</a:t>
            </a:r>
            <a:r>
              <a:rPr lang="en-US" sz="35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35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то она удваивается и добавляется окончание –</a:t>
            </a:r>
            <a:r>
              <a:rPr lang="en-US" sz="35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r>
              <a:rPr lang="ru-RU" sz="35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40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travel - trave</a:t>
            </a:r>
            <a:r>
              <a:rPr lang="en-US" sz="4000" u="sng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ll</a:t>
            </a:r>
            <a:r>
              <a:rPr lang="en-US" sz="40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endParaRPr lang="ru-RU" sz="4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ct val="115000"/>
              </a:lnSpc>
              <a:spcAft>
                <a:spcPts val="0"/>
              </a:spcAft>
              <a:buFont typeface="+mj-lt"/>
              <a:buAutoNum type="arabicPeriod" startAt="4"/>
            </a:pPr>
            <a:r>
              <a:rPr lang="ru-RU" sz="3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Если глагол односложный, то есть состоит из одного слога и оканчивается на гласную + согласную, то последняя согласная удваивается и добавляется окончание –</a:t>
            </a:r>
            <a:r>
              <a:rPr lang="en-US" sz="35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r>
              <a:rPr lang="ru-RU" sz="35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40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</a:t>
            </a:r>
            <a:r>
              <a:rPr lang="en-US" sz="40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400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40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cla</a:t>
            </a:r>
            <a:r>
              <a:rPr lang="en-US" sz="4000" u="sng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pp</a:t>
            </a:r>
            <a:r>
              <a:rPr lang="en-US" sz="40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ed, pl</a:t>
            </a:r>
            <a:r>
              <a:rPr lang="en-US" sz="40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400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40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pla</a:t>
            </a:r>
            <a:r>
              <a:rPr lang="en-US" sz="4000" u="sng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nn</a:t>
            </a:r>
            <a:r>
              <a:rPr lang="en-US" sz="40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r>
              <a:rPr lang="en-US" sz="400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4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942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116632"/>
            <a:ext cx="8928992" cy="6073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algn="ctr">
              <a:lnSpc>
                <a:spcPct val="115000"/>
              </a:lnSpc>
              <a:spcAft>
                <a:spcPts val="0"/>
              </a:spcAft>
            </a:pPr>
            <a:r>
              <a:rPr lang="ru-RU" sz="44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Правила произношения:</a:t>
            </a:r>
            <a:endParaRPr lang="ru-RU" sz="4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4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4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4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– после глухих согласных, кроме </a:t>
            </a:r>
            <a:r>
              <a:rPr lang="en-US" sz="4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4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 algn="ctr">
              <a:lnSpc>
                <a:spcPct val="115000"/>
              </a:lnSpc>
              <a:spcAft>
                <a:spcPts val="0"/>
              </a:spcAft>
            </a:pPr>
            <a:r>
              <a:rPr lang="en-US" sz="4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washed</a:t>
            </a:r>
            <a:r>
              <a:rPr lang="ru-RU" sz="4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420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worked</a:t>
            </a:r>
            <a:endParaRPr lang="ru-RU" sz="42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4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4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sz="4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– после гласных и звонких согласных, кроме </a:t>
            </a:r>
            <a:r>
              <a:rPr lang="en-US" sz="4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sz="4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 algn="ctr">
              <a:lnSpc>
                <a:spcPct val="115000"/>
              </a:lnSpc>
              <a:spcAft>
                <a:spcPts val="0"/>
              </a:spcAft>
            </a:pPr>
            <a:r>
              <a:rPr lang="en-US" sz="4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opened, played</a:t>
            </a:r>
            <a:endParaRPr lang="ru-RU" sz="42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4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4200"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ɪd</a:t>
            </a:r>
            <a:r>
              <a:rPr lang="en-US" sz="4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– </a:t>
            </a:r>
            <a:r>
              <a:rPr lang="ru-RU" sz="4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 букв</a:t>
            </a:r>
            <a:r>
              <a:rPr lang="en-US" sz="4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 </a:t>
            </a:r>
            <a:r>
              <a:rPr lang="ru-RU" sz="4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</a:t>
            </a:r>
            <a:r>
              <a:rPr lang="en-US" sz="4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d.</a:t>
            </a:r>
            <a:endParaRPr lang="ru-RU" sz="42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ctr">
              <a:lnSpc>
                <a:spcPct val="115000"/>
              </a:lnSpc>
              <a:spcAft>
                <a:spcPts val="0"/>
              </a:spcAft>
            </a:pPr>
            <a:r>
              <a:rPr lang="en-US" sz="4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wanted, </a:t>
            </a:r>
            <a:r>
              <a:rPr lang="en-US" sz="420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visited</a:t>
            </a:r>
            <a:endParaRPr lang="ru-RU" sz="4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30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116632"/>
            <a:ext cx="8928992" cy="825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algn="ctr">
              <a:lnSpc>
                <a:spcPct val="115000"/>
              </a:lnSpc>
              <a:spcAft>
                <a:spcPts val="0"/>
              </a:spcAft>
            </a:pPr>
            <a:r>
              <a:rPr lang="ru-RU" sz="44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Правила произношения</a:t>
            </a:r>
            <a:r>
              <a:rPr lang="ru-RU" sz="44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4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26440" y="3861048"/>
            <a:ext cx="8928992" cy="2003625"/>
          </a:xfrm>
          <a:prstGeom prst="rect">
            <a:avLst/>
          </a:prstGeom>
        </p:spPr>
        <p:txBody>
          <a:bodyPr wrap="square" numCol="3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360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endParaRPr lang="en-US" sz="3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endParaRPr lang="ru-RU" sz="3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302128"/>
              </p:ext>
            </p:extLst>
          </p:nvPr>
        </p:nvGraphicFramePr>
        <p:xfrm>
          <a:off x="226440" y="1052736"/>
          <a:ext cx="8666040" cy="55446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8680">
                  <a:extLst>
                    <a:ext uri="{9D8B030D-6E8A-4147-A177-3AD203B41FA5}">
                      <a16:colId xmlns:a16="http://schemas.microsoft.com/office/drawing/2014/main" val="3957329216"/>
                    </a:ext>
                  </a:extLst>
                </a:gridCol>
                <a:gridCol w="2888680">
                  <a:extLst>
                    <a:ext uri="{9D8B030D-6E8A-4147-A177-3AD203B41FA5}">
                      <a16:colId xmlns:a16="http://schemas.microsoft.com/office/drawing/2014/main" val="3527185120"/>
                    </a:ext>
                  </a:extLst>
                </a:gridCol>
                <a:gridCol w="2888680">
                  <a:extLst>
                    <a:ext uri="{9D8B030D-6E8A-4147-A177-3AD203B41FA5}">
                      <a16:colId xmlns:a16="http://schemas.microsoft.com/office/drawing/2014/main" val="4171298473"/>
                    </a:ext>
                  </a:extLst>
                </a:gridCol>
              </a:tblGrid>
              <a:tr h="774191">
                <a:tc>
                  <a:txBody>
                    <a:bodyPr/>
                    <a:lstStyle/>
                    <a:p>
                      <a:pPr algn="ctr"/>
                      <a:r>
                        <a:rPr lang="ru-RU" sz="4000" dirty="0" smtClean="0"/>
                        <a:t>[</a:t>
                      </a:r>
                      <a:r>
                        <a:rPr lang="en-US" sz="4000" dirty="0" smtClean="0"/>
                        <a:t>t</a:t>
                      </a:r>
                      <a:r>
                        <a:rPr lang="ru-RU" sz="4000" dirty="0" smtClean="0"/>
                        <a:t>] </a:t>
                      </a:r>
                      <a:endParaRPr lang="ru-RU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 smtClean="0"/>
                        <a:t>[</a:t>
                      </a:r>
                      <a:r>
                        <a:rPr lang="en-US" sz="4000" smtClean="0"/>
                        <a:t>d</a:t>
                      </a:r>
                      <a:r>
                        <a:rPr lang="ru-RU" sz="4000" smtClean="0"/>
                        <a:t>] </a:t>
                      </a:r>
                      <a:endParaRPr lang="ru-RU" sz="4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 smtClean="0"/>
                        <a:t>[</a:t>
                      </a:r>
                      <a:r>
                        <a:rPr lang="en-US" sz="4000" dirty="0" err="1" smtClean="0"/>
                        <a:t>ɪd</a:t>
                      </a:r>
                      <a:r>
                        <a:rPr lang="en-US" sz="4000" dirty="0" smtClean="0"/>
                        <a:t>]</a:t>
                      </a:r>
                      <a:endParaRPr lang="en-US" sz="4000" dirty="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89372"/>
                  </a:ext>
                </a:extLst>
              </a:tr>
              <a:tr h="4770425">
                <a:tc>
                  <a:txBody>
                    <a:bodyPr/>
                    <a:lstStyle/>
                    <a:p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ask — asked</a:t>
                      </a:r>
                      <a:r>
                        <a:rPr lang="en-US" sz="3200" i="0" dirty="0" smtClean="0"/>
                        <a:t/>
                      </a:r>
                      <a:br>
                        <a:rPr lang="en-US" sz="3200" i="0" dirty="0" smtClean="0"/>
                      </a:br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clap — clapped</a:t>
                      </a:r>
                      <a:r>
                        <a:rPr lang="en-US" sz="3200" i="0" dirty="0" smtClean="0"/>
                        <a:t/>
                      </a:r>
                      <a:br>
                        <a:rPr lang="en-US" sz="3200" i="0" dirty="0" smtClean="0"/>
                      </a:br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dress — dressed</a:t>
                      </a:r>
                      <a:r>
                        <a:rPr lang="en-US" sz="3200" i="0" dirty="0" smtClean="0"/>
                        <a:t/>
                      </a:r>
                      <a:br>
                        <a:rPr lang="en-US" sz="3200" i="0" dirty="0" smtClean="0"/>
                      </a:br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help — helped</a:t>
                      </a:r>
                      <a:r>
                        <a:rPr lang="en-US" sz="3200" i="0" dirty="0" smtClean="0"/>
                        <a:t/>
                      </a:r>
                      <a:br>
                        <a:rPr lang="en-US" sz="3200" i="0" dirty="0" smtClean="0"/>
                      </a:br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like — liked</a:t>
                      </a:r>
                      <a:r>
                        <a:rPr lang="en-US" sz="3200" i="0" dirty="0" smtClean="0"/>
                        <a:t/>
                      </a:r>
                      <a:br>
                        <a:rPr lang="en-US" sz="3200" i="0" dirty="0" smtClean="0"/>
                      </a:br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touch — touched</a:t>
                      </a:r>
                      <a:r>
                        <a:rPr lang="en-US" sz="3200" i="0" dirty="0" smtClean="0"/>
                        <a:t/>
                      </a:r>
                      <a:br>
                        <a:rPr lang="en-US" sz="3200" i="0" dirty="0" smtClean="0"/>
                      </a:br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wash — washed</a:t>
                      </a:r>
                      <a:endParaRPr lang="ru-RU" sz="32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answer — answered</a:t>
                      </a:r>
                      <a:r>
                        <a:rPr lang="en-US" sz="3200" i="0" smtClean="0"/>
                        <a:t/>
                      </a:r>
                      <a:br>
                        <a:rPr lang="en-US" sz="3200" i="0" smtClean="0"/>
                      </a:br>
                      <a:r>
                        <a:rPr lang="en-US" sz="32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 — called</a:t>
                      </a:r>
                      <a:r>
                        <a:rPr lang="en-US" sz="3200" i="0" smtClean="0"/>
                        <a:t/>
                      </a:r>
                      <a:br>
                        <a:rPr lang="en-US" sz="3200" i="0" smtClean="0"/>
                      </a:br>
                      <a:r>
                        <a:rPr lang="en-US" sz="32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cry — cried</a:t>
                      </a:r>
                      <a:r>
                        <a:rPr lang="en-US" sz="3200" i="0" smtClean="0"/>
                        <a:t/>
                      </a:r>
                      <a:br>
                        <a:rPr lang="en-US" sz="3200" i="0" smtClean="0"/>
                      </a:br>
                      <a:r>
                        <a:rPr lang="en-US" sz="32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love — loved</a:t>
                      </a:r>
                      <a:r>
                        <a:rPr lang="en-US" sz="3200" i="0" smtClean="0"/>
                        <a:t/>
                      </a:r>
                      <a:br>
                        <a:rPr lang="en-US" sz="3200" i="0" smtClean="0"/>
                      </a:br>
                      <a:r>
                        <a:rPr lang="en-US" sz="32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move — moved</a:t>
                      </a:r>
                      <a:r>
                        <a:rPr lang="en-US" sz="3200" i="0" smtClean="0"/>
                        <a:t/>
                      </a:r>
                      <a:br>
                        <a:rPr lang="en-US" sz="3200" i="0" smtClean="0"/>
                      </a:br>
                      <a:r>
                        <a:rPr lang="en-US" sz="32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phone — phoned</a:t>
                      </a:r>
                      <a:r>
                        <a:rPr lang="en-US" sz="3200" i="0" smtClean="0"/>
                        <a:t/>
                      </a:r>
                      <a:br>
                        <a:rPr lang="en-US" sz="3200" i="0" smtClean="0"/>
                      </a:br>
                      <a:r>
                        <a:rPr lang="en-US" sz="32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 — played</a:t>
                      </a:r>
                      <a:endParaRPr lang="ru-RU" sz="320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 — counted</a:t>
                      </a:r>
                      <a:r>
                        <a:rPr lang="en-US" sz="3200" i="0" dirty="0" smtClean="0"/>
                        <a:t/>
                      </a:r>
                      <a:br>
                        <a:rPr lang="en-US" sz="3200" i="0" dirty="0" smtClean="0"/>
                      </a:br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end — ended</a:t>
                      </a:r>
                      <a:r>
                        <a:rPr lang="en-US" sz="3200" i="0" dirty="0" smtClean="0"/>
                        <a:t/>
                      </a:r>
                      <a:br>
                        <a:rPr lang="en-US" sz="3200" i="0" dirty="0" smtClean="0"/>
                      </a:br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invite — invited</a:t>
                      </a:r>
                      <a:r>
                        <a:rPr lang="en-US" sz="3200" i="0" dirty="0" smtClean="0"/>
                        <a:t/>
                      </a:r>
                      <a:br>
                        <a:rPr lang="en-US" sz="3200" i="0" dirty="0" smtClean="0"/>
                      </a:br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land — landed</a:t>
                      </a:r>
                      <a:r>
                        <a:rPr lang="en-US" sz="3200" i="0" dirty="0" smtClean="0"/>
                        <a:t/>
                      </a:r>
                      <a:br>
                        <a:rPr lang="en-US" sz="3200" i="0" dirty="0" smtClean="0"/>
                      </a:br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start — started</a:t>
                      </a:r>
                      <a:r>
                        <a:rPr lang="en-US" sz="3200" i="0" dirty="0" smtClean="0"/>
                        <a:t/>
                      </a:r>
                      <a:br>
                        <a:rPr lang="en-US" sz="3200" i="0" dirty="0" smtClean="0"/>
                      </a:br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visit — visited</a:t>
                      </a:r>
                      <a:r>
                        <a:rPr lang="en-US" sz="3200" i="0" dirty="0" smtClean="0"/>
                        <a:t/>
                      </a:r>
                      <a:br>
                        <a:rPr lang="en-US" sz="3200" i="0" dirty="0" smtClean="0"/>
                      </a:br>
                      <a:r>
                        <a:rPr lang="en-US" sz="32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wait — waited</a:t>
                      </a:r>
                      <a:endParaRPr lang="ru-RU" sz="320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63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13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476672"/>
            <a:ext cx="8928992" cy="1578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algn="ctr">
              <a:lnSpc>
                <a:spcPct val="115000"/>
              </a:lnSpc>
              <a:spcAft>
                <a:spcPts val="0"/>
              </a:spcAft>
            </a:pPr>
            <a:r>
              <a:rPr lang="en-US" sz="4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ru-RU" sz="4400" b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4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Неправильные </a:t>
            </a:r>
            <a:r>
              <a:rPr lang="ru-RU" sz="4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глаголы</a:t>
            </a:r>
            <a:r>
              <a:rPr lang="ru-RU" sz="4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4400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ctr">
              <a:lnSpc>
                <a:spcPct val="115000"/>
              </a:lnSpc>
              <a:spcAft>
                <a:spcPts val="0"/>
              </a:spcAft>
            </a:pPr>
            <a:endParaRPr lang="ru-RU" sz="4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1412776"/>
            <a:ext cx="8851280" cy="515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600" dirty="0"/>
              <a:t>Неправильные глаголы, это глаголы, которые меняют время не по правилу. Прошедшую форму таких глаголов нужно учить. Меняется только вид утвердительного предложения, </a:t>
            </a:r>
            <a:r>
              <a:rPr lang="ru-RU" sz="3600" dirty="0" smtClean="0"/>
              <a:t>отрицательное, вопросительное и краткие ответы остаются </a:t>
            </a:r>
            <a:r>
              <a:rPr lang="ru-RU" sz="3600" dirty="0"/>
              <a:t>такими же, как и при правильных глаголах.</a:t>
            </a:r>
            <a:endParaRPr lang="ru-RU" sz="6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517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endParaRPr lang="en-US" sz="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smtClean="0">
                <a:latin typeface="Comic Sans MS" panose="030F0702030302020204" pitchFamily="66" charset="0"/>
              </a:rPr>
              <a:t>?</a:t>
            </a:r>
            <a:r>
              <a:rPr lang="en-US" sz="480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479795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68664" y="463914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Я ходил.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049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endParaRPr lang="en-US" sz="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196752"/>
            <a:ext cx="8363272" cy="1091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went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479795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68664" y="463914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1259632" y="2204864"/>
            <a:ext cx="1584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91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endParaRPr lang="en-US" sz="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196752"/>
            <a:ext cx="836327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went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did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479795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68664" y="463914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1259632" y="2204864"/>
            <a:ext cx="1584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1259632" y="3284984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3635896" y="3283096"/>
            <a:ext cx="792088" cy="18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62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endParaRPr lang="en-US" sz="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196752"/>
            <a:ext cx="836327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went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did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479795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68664" y="463914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1259632" y="2204864"/>
            <a:ext cx="1584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1259632" y="3284984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3635896" y="3283096"/>
            <a:ext cx="792088" cy="18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897728" y="4293096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2483768" y="4293096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451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endParaRPr lang="en-US" sz="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6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196752"/>
            <a:ext cx="8363272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went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did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orbel" panose="020B05030202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did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479795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68664" y="463914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1259632" y="2204864"/>
            <a:ext cx="15841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1259632" y="3284984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3635896" y="3283096"/>
            <a:ext cx="792088" cy="18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897728" y="4293096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2483768" y="4293096"/>
            <a:ext cx="7920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3635896" y="5359226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3491880" y="6453336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78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97768"/>
            <a:ext cx="8229600" cy="1143000"/>
          </a:xfrm>
        </p:spPr>
        <p:txBody>
          <a:bodyPr>
            <a:noAutofit/>
          </a:bodyPr>
          <a:lstStyle/>
          <a:p>
            <a:r>
              <a:rPr lang="en-US" sz="5400" b="1" dirty="0" smtClean="0">
                <a:solidFill>
                  <a:schemeClr val="accent4">
                    <a:lumMod val="75000"/>
                  </a:schemeClr>
                </a:solidFill>
              </a:rPr>
              <a:t>Contractions</a:t>
            </a:r>
            <a:r>
              <a:rPr lang="ru-RU" sz="5400" b="1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5400" b="1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5400" b="1" dirty="0" smtClean="0">
                <a:solidFill>
                  <a:schemeClr val="accent4">
                    <a:lumMod val="75000"/>
                  </a:schemeClr>
                </a:solidFill>
              </a:rPr>
              <a:t>Сокращения</a:t>
            </a:r>
            <a:endParaRPr lang="ru-RU" sz="5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348880"/>
            <a:ext cx="8507288" cy="4248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dirty="0" smtClean="0">
                <a:latin typeface="Comic Sans MS" panose="030F0702030302020204" pitchFamily="66" charset="0"/>
              </a:rPr>
              <a:t>did not = didn’t</a:t>
            </a:r>
          </a:p>
        </p:txBody>
      </p:sp>
    </p:spTree>
    <p:extLst>
      <p:ext uri="{BB962C8B-B14F-4D97-AF65-F5344CB8AC3E}">
        <p14:creationId xmlns:p14="http://schemas.microsoft.com/office/powerpoint/2010/main" val="264278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kysmart Таблица английских време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3718"/>
            <a:ext cx="9144000" cy="631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00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3508" y="1268760"/>
            <a:ext cx="885698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/>
              <a:t>Past Continuous</a:t>
            </a:r>
            <a:r>
              <a:rPr lang="ru-RU" sz="6600" b="1" dirty="0" smtClean="0"/>
              <a:t>. </a:t>
            </a:r>
            <a:endParaRPr lang="en-US" sz="6600" b="1" dirty="0" smtClean="0"/>
          </a:p>
          <a:p>
            <a:pPr algn="ctr"/>
            <a:r>
              <a:rPr lang="ru-RU" sz="6600" b="1" dirty="0"/>
              <a:t/>
            </a:r>
            <a:br>
              <a:rPr lang="ru-RU" sz="6600" b="1" dirty="0"/>
            </a:br>
            <a:r>
              <a:rPr lang="ru-RU" sz="6600" b="1" dirty="0" smtClean="0"/>
              <a:t>Прошедшее длительное время</a:t>
            </a:r>
            <a:r>
              <a:rPr lang="ru-RU" sz="6600" b="1" dirty="0"/>
              <a:t>.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2480935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-11056"/>
            <a:ext cx="8856984" cy="6824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1000"/>
              </a:spcAft>
            </a:pP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Мы используем прошедшее время 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Past </a:t>
            </a:r>
            <a:r>
              <a:rPr lang="en-US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</a:t>
            </a:r>
            <a:r>
              <a:rPr lang="ru-RU" sz="4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когда говорим о событиях, которые </a:t>
            </a:r>
            <a:r>
              <a:rPr lang="ru-RU" sz="4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длились в определенный момент 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прошлом</a:t>
            </a:r>
            <a:r>
              <a:rPr lang="ru-RU" sz="4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Aft>
                <a:spcPts val="1000"/>
              </a:spcAft>
            </a:pPr>
            <a:endParaRPr lang="ru-RU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/>
            <a:r>
              <a:rPr lang="ru-RU" sz="4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Слова-указатели:  </a:t>
            </a:r>
            <a:r>
              <a:rPr lang="en-US" sz="4000" dirty="0"/>
              <a:t>at that moment (</a:t>
            </a:r>
            <a:r>
              <a:rPr lang="ru-RU" sz="4000" dirty="0"/>
              <a:t>в тот момент</a:t>
            </a:r>
            <a:r>
              <a:rPr lang="ru-RU" sz="4000" dirty="0" smtClean="0"/>
              <a:t>)</a:t>
            </a:r>
            <a:r>
              <a:rPr lang="en-US" sz="4000" dirty="0" smtClean="0"/>
              <a:t>, when</a:t>
            </a:r>
            <a:r>
              <a:rPr lang="en-US" sz="4000" dirty="0"/>
              <a:t> (</a:t>
            </a:r>
            <a:r>
              <a:rPr lang="ru-RU" sz="4000" dirty="0"/>
              <a:t>когда</a:t>
            </a:r>
            <a:r>
              <a:rPr lang="ru-RU" sz="4000" dirty="0" smtClean="0"/>
              <a:t>)</a:t>
            </a:r>
            <a:r>
              <a:rPr lang="en-US" sz="4000" dirty="0" smtClean="0"/>
              <a:t>, while</a:t>
            </a:r>
            <a:r>
              <a:rPr lang="en-US" sz="4000" dirty="0"/>
              <a:t> (</a:t>
            </a:r>
            <a:r>
              <a:rPr lang="ru-RU" sz="4000" dirty="0"/>
              <a:t>в то время, как</a:t>
            </a:r>
            <a:r>
              <a:rPr lang="ru-RU" sz="4000" dirty="0" smtClean="0"/>
              <a:t>)</a:t>
            </a:r>
            <a:r>
              <a:rPr lang="en-US" sz="4000" dirty="0" smtClean="0"/>
              <a:t>, all</a:t>
            </a:r>
            <a:r>
              <a:rPr lang="en-US" sz="4000" dirty="0"/>
              <a:t> morning (</a:t>
            </a:r>
            <a:r>
              <a:rPr lang="ru-RU" sz="4000" dirty="0"/>
              <a:t>все утро</a:t>
            </a:r>
            <a:r>
              <a:rPr lang="ru-RU" sz="4000" dirty="0" smtClean="0"/>
              <a:t>)</a:t>
            </a:r>
            <a:r>
              <a:rPr lang="en-US" sz="4000" dirty="0" smtClean="0"/>
              <a:t>,</a:t>
            </a:r>
            <a:endParaRPr lang="ru-RU" sz="4000" dirty="0"/>
          </a:p>
          <a:p>
            <a:pPr fontAlgn="base"/>
            <a:r>
              <a:rPr lang="en-US" sz="4000" dirty="0" smtClean="0"/>
              <a:t>last</a:t>
            </a:r>
            <a:r>
              <a:rPr lang="en-US" sz="4000" dirty="0"/>
              <a:t> Sunday (</a:t>
            </a:r>
            <a:r>
              <a:rPr lang="ru-RU" sz="4000" dirty="0"/>
              <a:t>в прошлое воскресенье</a:t>
            </a:r>
            <a:r>
              <a:rPr lang="ru-RU" sz="4000" dirty="0" smtClean="0"/>
              <a:t>)</a:t>
            </a:r>
            <a:r>
              <a:rPr lang="en-US" sz="4000" dirty="0" smtClean="0"/>
              <a:t>,</a:t>
            </a:r>
            <a:endParaRPr lang="ru-RU" sz="4000" dirty="0"/>
          </a:p>
          <a:p>
            <a:pPr fontAlgn="base"/>
            <a:r>
              <a:rPr lang="en-US" sz="4000" dirty="0" smtClean="0"/>
              <a:t>at</a:t>
            </a:r>
            <a:r>
              <a:rPr lang="en-US" sz="4000" dirty="0"/>
              <a:t> </a:t>
            </a:r>
            <a:r>
              <a:rPr lang="en-US" sz="4000" dirty="0" smtClean="0"/>
              <a:t>3:00</a:t>
            </a:r>
            <a:r>
              <a:rPr lang="en-US" sz="4000" dirty="0"/>
              <a:t> </a:t>
            </a:r>
            <a:r>
              <a:rPr lang="en-US" sz="4000" dirty="0" smtClean="0"/>
              <a:t>pm.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13418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377048" y="4598646"/>
            <a:ext cx="6029864" cy="9316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888217" y="5630824"/>
            <a:ext cx="7007525" cy="776638"/>
          </a:xfrm>
          <a:prstGeom prst="rect">
            <a:avLst/>
          </a:prstGeom>
          <a:solidFill>
            <a:srgbClr val="D17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79512" y="181552"/>
            <a:ext cx="8856984" cy="4290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1000"/>
              </a:spcAft>
            </a:pPr>
            <a:r>
              <a:rPr lang="en-US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Past Continuous </a:t>
            </a:r>
            <a:r>
              <a:rPr lang="ru-RU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образуется с помощью глагола </a:t>
            </a:r>
            <a:r>
              <a:rPr lang="en-US" sz="4600" dirty="0" smtClean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ru-RU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или </a:t>
            </a:r>
            <a:r>
              <a:rPr lang="en-US" sz="4600" dirty="0" smtClean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ru-RU" sz="4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 смыслового глагола с окончанием –</a:t>
            </a:r>
            <a:r>
              <a:rPr lang="en-US" sz="46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228600" algn="ctr">
              <a:lnSpc>
                <a:spcPct val="115000"/>
              </a:lnSpc>
              <a:spcAft>
                <a:spcPts val="1000"/>
              </a:spcAft>
            </a:pPr>
            <a:r>
              <a:rPr lang="en-US" sz="46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was/were + </a:t>
            </a:r>
            <a:r>
              <a:rPr lang="en-US" sz="4600" b="1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Ving</a:t>
            </a:r>
            <a:endParaRPr lang="ru-RU" sz="4600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012160" y="3573016"/>
            <a:ext cx="792088" cy="7991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755576" y="4653136"/>
            <a:ext cx="727280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I, he, she, it + was</a:t>
            </a:r>
          </a:p>
          <a:p>
            <a:pPr algn="ctr"/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we, you, they + were</a:t>
            </a:r>
          </a:p>
        </p:txBody>
      </p:sp>
    </p:spTree>
    <p:extLst>
      <p:ext uri="{BB962C8B-B14F-4D97-AF65-F5344CB8AC3E}">
        <p14:creationId xmlns:p14="http://schemas.microsoft.com/office/powerpoint/2010/main" val="180008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Я играл.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6404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1091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2699792" y="2420888"/>
            <a:ext cx="21591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3901605" y="1700808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1258722" y="2446193"/>
            <a:ext cx="12459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85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2699792" y="2420888"/>
            <a:ext cx="21591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3901605" y="1700808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222440" y="3501008"/>
            <a:ext cx="12459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883727" y="3501008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258722" y="2446193"/>
            <a:ext cx="12459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5125741" y="2780928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39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2699792" y="2420888"/>
            <a:ext cx="21591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3901605" y="1700808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222440" y="3501008"/>
            <a:ext cx="12459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883727" y="3501008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925517" y="4509120"/>
            <a:ext cx="123321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2803607" y="4514056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258722" y="2446193"/>
            <a:ext cx="12459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5125741" y="2780928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4013814" y="3829093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39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6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2699792" y="2420888"/>
            <a:ext cx="21591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3901605" y="1700808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222440" y="3501008"/>
            <a:ext cx="12459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883727" y="3501008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925517" y="4509120"/>
            <a:ext cx="123321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2803607" y="4514056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3850841" y="5589240"/>
            <a:ext cx="113268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3727347" y="6669360"/>
            <a:ext cx="113268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258722" y="2446193"/>
            <a:ext cx="12459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5125741" y="2780928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4013814" y="3829093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39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Мы играли.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479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1091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852999" y="2420888"/>
            <a:ext cx="21591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076056" y="1700808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2123728" y="2446193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09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852999" y="2420888"/>
            <a:ext cx="21591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076056" y="1700808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5067662" y="3501008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2123728" y="2446193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6300192" y="2744336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единительная линия 20"/>
          <p:cNvCxnSpPr/>
          <p:nvPr/>
        </p:nvCxnSpPr>
        <p:spPr>
          <a:xfrm>
            <a:off x="2123728" y="3520993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879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852999" y="2420888"/>
            <a:ext cx="21591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076056" y="1700808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5067662" y="3501008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902437" y="4509120"/>
            <a:ext cx="164141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3843526" y="4514056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2123728" y="2446193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6300192" y="2744336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5109346" y="3780041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единительная линия 20"/>
          <p:cNvCxnSpPr/>
          <p:nvPr/>
        </p:nvCxnSpPr>
        <p:spPr>
          <a:xfrm>
            <a:off x="2123728" y="3520993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949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6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were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852999" y="2420888"/>
            <a:ext cx="21591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076056" y="1700808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5067662" y="3501008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902437" y="4509120"/>
            <a:ext cx="164141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3843526" y="4514056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2123728" y="2446193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6300192" y="2744336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5109346" y="3780041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единительная линия 20"/>
          <p:cNvCxnSpPr/>
          <p:nvPr/>
        </p:nvCxnSpPr>
        <p:spPr>
          <a:xfrm>
            <a:off x="2123728" y="3520993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4544757" y="558924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4432548" y="666936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566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97768"/>
            <a:ext cx="8229600" cy="1143000"/>
          </a:xfrm>
        </p:spPr>
        <p:txBody>
          <a:bodyPr>
            <a:noAutofit/>
          </a:bodyPr>
          <a:lstStyle/>
          <a:p>
            <a:r>
              <a:rPr lang="en-US" sz="5400" b="1" dirty="0" smtClean="0">
                <a:solidFill>
                  <a:schemeClr val="accent4">
                    <a:lumMod val="75000"/>
                  </a:schemeClr>
                </a:solidFill>
              </a:rPr>
              <a:t>Contractions</a:t>
            </a:r>
            <a:r>
              <a:rPr lang="ru-RU" sz="5400" b="1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5400" b="1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5400" b="1" dirty="0" smtClean="0">
                <a:solidFill>
                  <a:schemeClr val="accent4">
                    <a:lumMod val="75000"/>
                  </a:schemeClr>
                </a:solidFill>
              </a:rPr>
              <a:t>Сокращения</a:t>
            </a:r>
            <a:endParaRPr lang="ru-RU" sz="5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348880"/>
            <a:ext cx="8507288" cy="4248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dirty="0" smtClean="0">
                <a:latin typeface="Comic Sans MS" panose="030F0702030302020204" pitchFamily="66" charset="0"/>
              </a:rPr>
              <a:t>was not = wasn’t</a:t>
            </a:r>
          </a:p>
          <a:p>
            <a:pPr marL="0" indent="0">
              <a:buNone/>
            </a:pPr>
            <a:r>
              <a:rPr lang="en-US" sz="6600" dirty="0" smtClean="0">
                <a:latin typeface="Comic Sans MS" panose="030F0702030302020204" pitchFamily="66" charset="0"/>
              </a:rPr>
              <a:t>were not = weren’t</a:t>
            </a:r>
            <a:endParaRPr lang="en-US" sz="6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515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kysmart Таблица английских време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3718"/>
            <a:ext cx="9144000" cy="631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239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16632"/>
            <a:ext cx="8964488" cy="6741368"/>
          </a:xfrm>
        </p:spPr>
        <p:txBody>
          <a:bodyPr>
            <a:noAutofit/>
          </a:bodyPr>
          <a:lstStyle/>
          <a:p>
            <a:r>
              <a:rPr lang="en-US" sz="8800" b="1" dirty="0" smtClean="0">
                <a:latin typeface="+mn-lt"/>
              </a:rPr>
              <a:t>Past Perfect</a:t>
            </a:r>
            <a:br>
              <a:rPr lang="en-US" sz="8800" b="1" dirty="0" smtClean="0">
                <a:latin typeface="+mn-lt"/>
              </a:rPr>
            </a:br>
            <a:r>
              <a:rPr lang="en-US" sz="8800" b="1" dirty="0">
                <a:latin typeface="+mn-lt"/>
              </a:rPr>
              <a:t/>
            </a:r>
            <a:br>
              <a:rPr lang="en-US" sz="8800" b="1" dirty="0">
                <a:latin typeface="+mn-lt"/>
              </a:rPr>
            </a:br>
            <a:r>
              <a:rPr lang="ru-RU" sz="8800" b="1" dirty="0" smtClean="0">
                <a:latin typeface="+mn-lt"/>
              </a:rPr>
              <a:t>Прошедшее совершенное время</a:t>
            </a:r>
            <a:endParaRPr lang="ru-RU" sz="88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410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8202" y="146650"/>
            <a:ext cx="8546621" cy="64611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4800" dirty="0" smtClean="0"/>
              <a:t>Мы используем</a:t>
            </a:r>
            <a:r>
              <a:rPr lang="ru-RU" sz="4800" dirty="0"/>
              <a:t> </a:t>
            </a:r>
            <a:r>
              <a:rPr lang="en-US" sz="4800" b="1" dirty="0" err="1" smtClean="0"/>
              <a:t>p</a:t>
            </a:r>
            <a:r>
              <a:rPr lang="ru-RU" sz="4800" b="1" dirty="0" err="1" smtClean="0"/>
              <a:t>ast</a:t>
            </a:r>
            <a:r>
              <a:rPr lang="ru-RU" sz="4800" b="1" dirty="0"/>
              <a:t> </a:t>
            </a:r>
            <a:r>
              <a:rPr lang="en-US" sz="4800" b="1" dirty="0" err="1" smtClean="0"/>
              <a:t>p</a:t>
            </a:r>
            <a:r>
              <a:rPr lang="ru-RU" sz="4800" b="1" dirty="0" err="1" smtClean="0"/>
              <a:t>erfect</a:t>
            </a:r>
            <a:r>
              <a:rPr lang="ru-RU" sz="4800" dirty="0"/>
              <a:t> </a:t>
            </a:r>
            <a:r>
              <a:rPr lang="ru-RU" sz="4800" dirty="0" smtClean="0"/>
              <a:t>когда говорим о действии, </a:t>
            </a:r>
            <a:r>
              <a:rPr lang="ru-RU" sz="4800" dirty="0"/>
              <a:t>которое завершилось до определенного момента в </a:t>
            </a:r>
            <a:r>
              <a:rPr lang="ru-RU" sz="4800" dirty="0" smtClean="0"/>
              <a:t>прошлом. Другими словами, это действие началось раньше другого события в прошлом.</a:t>
            </a:r>
            <a:endParaRPr lang="en-US" sz="4800" baseline="-25000" dirty="0" smtClean="0"/>
          </a:p>
          <a:p>
            <a:pPr marL="0" indent="0">
              <a:buNone/>
            </a:pPr>
            <a:endParaRPr lang="en-US" sz="4800" dirty="0" smtClean="0"/>
          </a:p>
          <a:p>
            <a:pPr marL="0" indent="0" algn="ctr">
              <a:buNone/>
            </a:pPr>
            <a:r>
              <a:rPr lang="en-US" sz="4400" i="1" dirty="0" smtClean="0"/>
              <a:t>When I came in, he had already left. </a:t>
            </a:r>
          </a:p>
          <a:p>
            <a:pPr marL="0" indent="0" algn="ctr">
              <a:buNone/>
            </a:pPr>
            <a:endParaRPr lang="en-US" sz="4400" i="1" dirty="0"/>
          </a:p>
          <a:p>
            <a:pPr marL="0" indent="0" algn="ctr">
              <a:buNone/>
            </a:pPr>
            <a:r>
              <a:rPr lang="en-US" sz="4400" i="1" dirty="0" smtClean="0"/>
              <a:t>I told her I had done my homework.</a:t>
            </a:r>
          </a:p>
        </p:txBody>
      </p:sp>
    </p:spTree>
    <p:extLst>
      <p:ext uri="{BB962C8B-B14F-4D97-AF65-F5344CB8AC3E}">
        <p14:creationId xmlns:p14="http://schemas.microsoft.com/office/powerpoint/2010/main" val="2532693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62309" y="215660"/>
            <a:ext cx="85725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had + V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₃</a:t>
            </a:r>
            <a:endParaRPr lang="en-US" sz="5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Слова-указатели:</a:t>
            </a:r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как у </a:t>
            </a:r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present perfect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017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1745" y="138023"/>
            <a:ext cx="8908931" cy="656470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5400" dirty="0" smtClean="0"/>
              <a:t>Как строятся предложения.</a:t>
            </a:r>
          </a:p>
          <a:p>
            <a:pPr marL="0" indent="0" algn="ctr">
              <a:buNone/>
            </a:pPr>
            <a:r>
              <a:rPr lang="ru-RU" sz="5400" dirty="0" smtClean="0"/>
              <a:t>Я сыграл</a:t>
            </a:r>
            <a:r>
              <a:rPr lang="en-US" sz="5400" dirty="0" smtClean="0"/>
              <a:t>.</a:t>
            </a:r>
          </a:p>
          <a:p>
            <a:pPr marL="0" indent="0">
              <a:buNone/>
            </a:pPr>
            <a:endParaRPr lang="ru-RU" sz="5400" dirty="0" smtClean="0"/>
          </a:p>
          <a:p>
            <a:pPr marL="0" indent="0">
              <a:buNone/>
            </a:pPr>
            <a:r>
              <a:rPr lang="en-US" sz="5400" dirty="0" smtClean="0"/>
              <a:t> </a:t>
            </a:r>
            <a:r>
              <a:rPr lang="ru-RU" sz="5400" dirty="0" smtClean="0"/>
              <a:t>+</a:t>
            </a:r>
          </a:p>
          <a:p>
            <a:pPr marL="0" indent="0">
              <a:buNone/>
            </a:pPr>
            <a:r>
              <a:rPr lang="en-US" sz="5400" dirty="0" smtClean="0"/>
              <a:t> </a:t>
            </a:r>
            <a:r>
              <a:rPr lang="ru-RU" sz="5400" dirty="0" smtClean="0"/>
              <a:t>-</a:t>
            </a:r>
          </a:p>
          <a:p>
            <a:pPr marL="0" indent="0">
              <a:buNone/>
            </a:pPr>
            <a:r>
              <a:rPr lang="en-US" sz="5400" dirty="0" smtClean="0"/>
              <a:t> </a:t>
            </a:r>
            <a:r>
              <a:rPr lang="ru-RU" sz="5400" dirty="0" smtClean="0"/>
              <a:t>?</a:t>
            </a:r>
          </a:p>
          <a:p>
            <a:pPr marL="0" indent="0">
              <a:buNone/>
            </a:pPr>
            <a:r>
              <a:rPr lang="en-US" sz="5400" dirty="0" smtClean="0"/>
              <a:t>Y/N</a:t>
            </a:r>
            <a:endParaRPr lang="ru-RU" sz="5400" dirty="0" smtClean="0"/>
          </a:p>
        </p:txBody>
      </p:sp>
      <p:grpSp>
        <p:nvGrpSpPr>
          <p:cNvPr id="9" name="Группа 8"/>
          <p:cNvGrpSpPr/>
          <p:nvPr/>
        </p:nvGrpSpPr>
        <p:grpSpPr>
          <a:xfrm>
            <a:off x="295061" y="3068960"/>
            <a:ext cx="1002821" cy="3290977"/>
            <a:chOff x="138023" y="2829464"/>
            <a:chExt cx="1337094" cy="3290977"/>
          </a:xfrm>
        </p:grpSpPr>
        <p:sp>
          <p:nvSpPr>
            <p:cNvPr id="4" name="Овал 3"/>
            <p:cNvSpPr/>
            <p:nvPr/>
          </p:nvSpPr>
          <p:spPr>
            <a:xfrm>
              <a:off x="155275" y="2829464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38023" y="3686354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138023" y="4543245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Овал 7"/>
            <p:cNvSpPr/>
            <p:nvPr/>
          </p:nvSpPr>
          <p:spPr>
            <a:xfrm>
              <a:off x="138023" y="5279367"/>
              <a:ext cx="1337094" cy="84107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55619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1745" y="138023"/>
            <a:ext cx="8908931" cy="656470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5400" dirty="0" smtClean="0"/>
              <a:t>Как строятся предложения.</a:t>
            </a:r>
          </a:p>
          <a:p>
            <a:pPr marL="0" indent="0" algn="ctr">
              <a:buNone/>
            </a:pPr>
            <a:r>
              <a:rPr lang="ru-RU" sz="5400" dirty="0" smtClean="0"/>
              <a:t>Я сыграл</a:t>
            </a:r>
            <a:r>
              <a:rPr lang="en-US" sz="5400" dirty="0" smtClean="0"/>
              <a:t>.</a:t>
            </a:r>
          </a:p>
          <a:p>
            <a:pPr marL="0" indent="0">
              <a:buNone/>
            </a:pPr>
            <a:endParaRPr lang="ru-RU" sz="5400" dirty="0" smtClean="0"/>
          </a:p>
          <a:p>
            <a:pPr marL="0" indent="0">
              <a:buNone/>
            </a:pPr>
            <a:r>
              <a:rPr lang="ru-RU" sz="5400" dirty="0" smtClean="0"/>
              <a:t>+</a:t>
            </a:r>
          </a:p>
          <a:p>
            <a:pPr marL="0" indent="0">
              <a:buNone/>
            </a:pPr>
            <a:r>
              <a:rPr lang="en-US" sz="5400" dirty="0" smtClean="0"/>
              <a:t> </a:t>
            </a:r>
            <a:r>
              <a:rPr lang="ru-RU" sz="5400" dirty="0" smtClean="0"/>
              <a:t>-</a:t>
            </a:r>
          </a:p>
          <a:p>
            <a:pPr marL="0" indent="0">
              <a:buNone/>
            </a:pPr>
            <a:r>
              <a:rPr lang="ru-RU" sz="5400" dirty="0" smtClean="0"/>
              <a:t>?</a:t>
            </a:r>
          </a:p>
          <a:p>
            <a:pPr marL="0" indent="0">
              <a:buNone/>
            </a:pPr>
            <a:r>
              <a:rPr lang="en-US" sz="5400" dirty="0" smtClean="0"/>
              <a:t>Y/N</a:t>
            </a:r>
            <a:endParaRPr lang="ru-RU" sz="5400" dirty="0" smtClean="0"/>
          </a:p>
        </p:txBody>
      </p:sp>
      <p:grpSp>
        <p:nvGrpSpPr>
          <p:cNvPr id="9" name="Группа 8"/>
          <p:cNvGrpSpPr/>
          <p:nvPr/>
        </p:nvGrpSpPr>
        <p:grpSpPr>
          <a:xfrm>
            <a:off x="262027" y="3068960"/>
            <a:ext cx="1002821" cy="3290977"/>
            <a:chOff x="138023" y="2829464"/>
            <a:chExt cx="1337094" cy="3290977"/>
          </a:xfrm>
        </p:grpSpPr>
        <p:sp>
          <p:nvSpPr>
            <p:cNvPr id="4" name="Овал 3"/>
            <p:cNvSpPr/>
            <p:nvPr/>
          </p:nvSpPr>
          <p:spPr>
            <a:xfrm>
              <a:off x="155275" y="2829464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38023" y="3686354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138023" y="4543245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Овал 7"/>
            <p:cNvSpPr/>
            <p:nvPr/>
          </p:nvSpPr>
          <p:spPr>
            <a:xfrm>
              <a:off x="138023" y="5279367"/>
              <a:ext cx="1337094" cy="84107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0" name="Прямоугольник 9"/>
          <p:cNvSpPr/>
          <p:nvPr/>
        </p:nvSpPr>
        <p:spPr>
          <a:xfrm>
            <a:off x="763438" y="2852936"/>
            <a:ext cx="429316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played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931777" y="2852936"/>
            <a:ext cx="876215" cy="7687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1336769" y="3789040"/>
            <a:ext cx="10746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 flipV="1">
            <a:off x="2699792" y="3798566"/>
            <a:ext cx="2033646" cy="10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40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1745" y="138023"/>
            <a:ext cx="8908931" cy="656470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5400" dirty="0" smtClean="0"/>
              <a:t>Как строятся предложения.</a:t>
            </a:r>
          </a:p>
          <a:p>
            <a:pPr marL="0" indent="0" algn="ctr">
              <a:buNone/>
            </a:pPr>
            <a:r>
              <a:rPr lang="ru-RU" sz="5400" dirty="0" smtClean="0"/>
              <a:t>Я сыграл</a:t>
            </a:r>
            <a:r>
              <a:rPr lang="en-US" sz="5400" dirty="0" smtClean="0"/>
              <a:t>.</a:t>
            </a:r>
          </a:p>
          <a:p>
            <a:pPr marL="0" indent="0">
              <a:buNone/>
            </a:pPr>
            <a:endParaRPr lang="ru-RU" sz="5400" dirty="0" smtClean="0"/>
          </a:p>
          <a:p>
            <a:pPr marL="0" indent="0">
              <a:buNone/>
            </a:pPr>
            <a:r>
              <a:rPr lang="ru-RU" sz="5400" dirty="0" smtClean="0"/>
              <a:t>+</a:t>
            </a:r>
          </a:p>
          <a:p>
            <a:pPr marL="0" indent="0">
              <a:buNone/>
            </a:pPr>
            <a:r>
              <a:rPr lang="en-US" sz="5400" dirty="0" smtClean="0"/>
              <a:t> </a:t>
            </a:r>
            <a:r>
              <a:rPr lang="ru-RU" sz="5400" dirty="0" smtClean="0"/>
              <a:t>-</a:t>
            </a:r>
          </a:p>
          <a:p>
            <a:pPr marL="0" indent="0">
              <a:buNone/>
            </a:pPr>
            <a:r>
              <a:rPr lang="ru-RU" sz="5400" dirty="0" smtClean="0"/>
              <a:t>?</a:t>
            </a:r>
          </a:p>
          <a:p>
            <a:pPr marL="0" indent="0">
              <a:buNone/>
            </a:pPr>
            <a:r>
              <a:rPr lang="en-US" sz="5400" dirty="0" smtClean="0"/>
              <a:t>Y/N</a:t>
            </a:r>
            <a:endParaRPr lang="ru-RU" sz="5400" dirty="0" smtClean="0"/>
          </a:p>
        </p:txBody>
      </p:sp>
      <p:grpSp>
        <p:nvGrpSpPr>
          <p:cNvPr id="9" name="Группа 8"/>
          <p:cNvGrpSpPr/>
          <p:nvPr/>
        </p:nvGrpSpPr>
        <p:grpSpPr>
          <a:xfrm>
            <a:off x="262027" y="3068960"/>
            <a:ext cx="1002821" cy="3290977"/>
            <a:chOff x="138023" y="2829464"/>
            <a:chExt cx="1337094" cy="3290977"/>
          </a:xfrm>
        </p:grpSpPr>
        <p:sp>
          <p:nvSpPr>
            <p:cNvPr id="4" name="Овал 3"/>
            <p:cNvSpPr/>
            <p:nvPr/>
          </p:nvSpPr>
          <p:spPr>
            <a:xfrm>
              <a:off x="155275" y="2829464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38023" y="3686354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138023" y="4543245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Овал 7"/>
            <p:cNvSpPr/>
            <p:nvPr/>
          </p:nvSpPr>
          <p:spPr>
            <a:xfrm>
              <a:off x="138023" y="5279367"/>
              <a:ext cx="1337094" cy="84107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0" name="Прямоугольник 9"/>
          <p:cNvSpPr/>
          <p:nvPr/>
        </p:nvSpPr>
        <p:spPr>
          <a:xfrm>
            <a:off x="763438" y="2852936"/>
            <a:ext cx="5489003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played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played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931777" y="2852936"/>
            <a:ext cx="876215" cy="7687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5148064" y="3798363"/>
            <a:ext cx="763620" cy="75001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1336769" y="3789040"/>
            <a:ext cx="10746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1287922" y="4684206"/>
            <a:ext cx="10746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 flipV="1">
            <a:off x="2699792" y="3798566"/>
            <a:ext cx="2033646" cy="10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3909493" y="4674007"/>
            <a:ext cx="2002191" cy="1019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96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1745" y="138023"/>
            <a:ext cx="8908931" cy="656470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5400" dirty="0" smtClean="0"/>
              <a:t>Как строятся предложения.</a:t>
            </a:r>
          </a:p>
          <a:p>
            <a:pPr marL="0" indent="0" algn="ctr">
              <a:buNone/>
            </a:pPr>
            <a:r>
              <a:rPr lang="ru-RU" sz="5400" dirty="0" smtClean="0"/>
              <a:t>Я сыграл</a:t>
            </a:r>
            <a:r>
              <a:rPr lang="en-US" sz="5400" dirty="0" smtClean="0"/>
              <a:t>.</a:t>
            </a:r>
          </a:p>
          <a:p>
            <a:pPr marL="0" indent="0">
              <a:buNone/>
            </a:pPr>
            <a:endParaRPr lang="ru-RU" sz="5400" dirty="0" smtClean="0"/>
          </a:p>
          <a:p>
            <a:pPr marL="0" indent="0">
              <a:buNone/>
            </a:pPr>
            <a:r>
              <a:rPr lang="ru-RU" sz="5400" dirty="0" smtClean="0"/>
              <a:t>+</a:t>
            </a:r>
          </a:p>
          <a:p>
            <a:pPr marL="0" indent="0">
              <a:buNone/>
            </a:pPr>
            <a:r>
              <a:rPr lang="en-US" sz="5400" dirty="0" smtClean="0"/>
              <a:t> </a:t>
            </a:r>
            <a:r>
              <a:rPr lang="ru-RU" sz="5400" dirty="0" smtClean="0"/>
              <a:t>-</a:t>
            </a:r>
          </a:p>
          <a:p>
            <a:pPr marL="0" indent="0">
              <a:buNone/>
            </a:pPr>
            <a:r>
              <a:rPr lang="ru-RU" sz="5400" dirty="0" smtClean="0"/>
              <a:t>?</a:t>
            </a:r>
          </a:p>
          <a:p>
            <a:pPr marL="0" indent="0">
              <a:buNone/>
            </a:pPr>
            <a:r>
              <a:rPr lang="en-US" sz="5400" dirty="0" smtClean="0"/>
              <a:t>Y/N</a:t>
            </a:r>
            <a:endParaRPr lang="ru-RU" sz="5400" dirty="0" smtClean="0"/>
          </a:p>
        </p:txBody>
      </p:sp>
      <p:grpSp>
        <p:nvGrpSpPr>
          <p:cNvPr id="9" name="Группа 8"/>
          <p:cNvGrpSpPr/>
          <p:nvPr/>
        </p:nvGrpSpPr>
        <p:grpSpPr>
          <a:xfrm>
            <a:off x="262027" y="3068960"/>
            <a:ext cx="1002821" cy="3290977"/>
            <a:chOff x="138023" y="2829464"/>
            <a:chExt cx="1337094" cy="3290977"/>
          </a:xfrm>
        </p:grpSpPr>
        <p:sp>
          <p:nvSpPr>
            <p:cNvPr id="4" name="Овал 3"/>
            <p:cNvSpPr/>
            <p:nvPr/>
          </p:nvSpPr>
          <p:spPr>
            <a:xfrm>
              <a:off x="155275" y="2829464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38023" y="3686354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138023" y="4543245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Овал 7"/>
            <p:cNvSpPr/>
            <p:nvPr/>
          </p:nvSpPr>
          <p:spPr>
            <a:xfrm>
              <a:off x="138023" y="5279367"/>
              <a:ext cx="1337094" cy="84107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0" name="Прямоугольник 9"/>
          <p:cNvSpPr/>
          <p:nvPr/>
        </p:nvSpPr>
        <p:spPr>
          <a:xfrm>
            <a:off x="763438" y="2852936"/>
            <a:ext cx="5489003" cy="353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played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played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played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ru-RU" sz="56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3931777" y="2852936"/>
            <a:ext cx="876215" cy="7687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5148064" y="3798363"/>
            <a:ext cx="763620" cy="75001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4096694" y="4725770"/>
            <a:ext cx="813894" cy="65650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1336769" y="3789040"/>
            <a:ext cx="10746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1287922" y="4684206"/>
            <a:ext cx="10746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858763" y="5508663"/>
            <a:ext cx="130031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 flipV="1">
            <a:off x="2699792" y="3798566"/>
            <a:ext cx="2033646" cy="10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3909493" y="4674007"/>
            <a:ext cx="2002191" cy="1019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flipV="1">
            <a:off x="2843808" y="5508663"/>
            <a:ext cx="1964185" cy="10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96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1745" y="138023"/>
            <a:ext cx="8908931" cy="656470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5400" dirty="0" smtClean="0"/>
              <a:t>Как строятся предложения.</a:t>
            </a:r>
          </a:p>
          <a:p>
            <a:pPr marL="0" indent="0" algn="ctr">
              <a:buNone/>
            </a:pPr>
            <a:r>
              <a:rPr lang="ru-RU" sz="5400" dirty="0" smtClean="0"/>
              <a:t>Я сыграл</a:t>
            </a:r>
            <a:r>
              <a:rPr lang="en-US" sz="5400" dirty="0" smtClean="0"/>
              <a:t>.</a:t>
            </a:r>
          </a:p>
          <a:p>
            <a:pPr marL="0" indent="0">
              <a:buNone/>
            </a:pPr>
            <a:endParaRPr lang="ru-RU" sz="5400" dirty="0" smtClean="0"/>
          </a:p>
          <a:p>
            <a:pPr marL="0" indent="0">
              <a:buNone/>
            </a:pPr>
            <a:r>
              <a:rPr lang="ru-RU" sz="5400" dirty="0" smtClean="0"/>
              <a:t>+</a:t>
            </a:r>
          </a:p>
          <a:p>
            <a:pPr marL="0" indent="0">
              <a:buNone/>
            </a:pPr>
            <a:r>
              <a:rPr lang="en-US" sz="5400" dirty="0" smtClean="0"/>
              <a:t> </a:t>
            </a:r>
            <a:r>
              <a:rPr lang="ru-RU" sz="5400" dirty="0" smtClean="0"/>
              <a:t>-</a:t>
            </a:r>
          </a:p>
          <a:p>
            <a:pPr marL="0" indent="0">
              <a:buNone/>
            </a:pPr>
            <a:r>
              <a:rPr lang="ru-RU" sz="5400" dirty="0" smtClean="0"/>
              <a:t>?</a:t>
            </a:r>
          </a:p>
          <a:p>
            <a:pPr marL="0" indent="0">
              <a:buNone/>
            </a:pPr>
            <a:r>
              <a:rPr lang="en-US" sz="5400" dirty="0" smtClean="0"/>
              <a:t>Y/N</a:t>
            </a:r>
            <a:endParaRPr lang="ru-RU" sz="5400" dirty="0" smtClean="0"/>
          </a:p>
        </p:txBody>
      </p:sp>
      <p:grpSp>
        <p:nvGrpSpPr>
          <p:cNvPr id="9" name="Группа 8"/>
          <p:cNvGrpSpPr/>
          <p:nvPr/>
        </p:nvGrpSpPr>
        <p:grpSpPr>
          <a:xfrm>
            <a:off x="262027" y="3068960"/>
            <a:ext cx="1002821" cy="3290977"/>
            <a:chOff x="138023" y="2829464"/>
            <a:chExt cx="1337094" cy="3290977"/>
          </a:xfrm>
        </p:grpSpPr>
        <p:sp>
          <p:nvSpPr>
            <p:cNvPr id="4" name="Овал 3"/>
            <p:cNvSpPr/>
            <p:nvPr/>
          </p:nvSpPr>
          <p:spPr>
            <a:xfrm>
              <a:off x="155275" y="2829464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38023" y="3686354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138023" y="4543245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Овал 7"/>
            <p:cNvSpPr/>
            <p:nvPr/>
          </p:nvSpPr>
          <p:spPr>
            <a:xfrm>
              <a:off x="138023" y="5279367"/>
              <a:ext cx="1337094" cy="84107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0" name="Прямоугольник 9"/>
          <p:cNvSpPr/>
          <p:nvPr/>
        </p:nvSpPr>
        <p:spPr>
          <a:xfrm>
            <a:off x="763438" y="2852936"/>
            <a:ext cx="8951489" cy="36625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played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played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played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 Yes,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. No,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6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ru-RU" sz="5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56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3931777" y="2852936"/>
            <a:ext cx="876215" cy="7687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5148064" y="3798363"/>
            <a:ext cx="763620" cy="75001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4096694" y="4725770"/>
            <a:ext cx="813894" cy="65650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1336769" y="3789040"/>
            <a:ext cx="10746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1287922" y="4684206"/>
            <a:ext cx="10746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858763" y="5508663"/>
            <a:ext cx="130031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3234850" y="6359937"/>
            <a:ext cx="11821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6485645" y="6359937"/>
            <a:ext cx="11821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 flipV="1">
            <a:off x="2699792" y="3798566"/>
            <a:ext cx="2033646" cy="10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3909493" y="4674007"/>
            <a:ext cx="2002191" cy="1019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flipV="1">
            <a:off x="2843808" y="5508663"/>
            <a:ext cx="1964185" cy="10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96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1745" y="138023"/>
            <a:ext cx="8908931" cy="656470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5400" dirty="0" smtClean="0"/>
              <a:t>Как строятся предложения.</a:t>
            </a:r>
          </a:p>
          <a:p>
            <a:pPr marL="0" indent="0" algn="ctr">
              <a:buNone/>
            </a:pPr>
            <a:r>
              <a:rPr lang="ru-RU" sz="5400" dirty="0" smtClean="0"/>
              <a:t>Мы сходили</a:t>
            </a:r>
            <a:r>
              <a:rPr lang="en-US" sz="5400" dirty="0" smtClean="0"/>
              <a:t>.</a:t>
            </a:r>
          </a:p>
          <a:p>
            <a:pPr marL="0" indent="0">
              <a:buNone/>
            </a:pPr>
            <a:endParaRPr lang="ru-RU" sz="5400" dirty="0" smtClean="0"/>
          </a:p>
          <a:p>
            <a:pPr marL="0" indent="0">
              <a:buNone/>
            </a:pPr>
            <a:r>
              <a:rPr lang="ru-RU" sz="5400" dirty="0" smtClean="0"/>
              <a:t>+</a:t>
            </a:r>
          </a:p>
          <a:p>
            <a:pPr marL="0" indent="0">
              <a:buNone/>
            </a:pPr>
            <a:r>
              <a:rPr lang="ru-RU" sz="5400" dirty="0" smtClean="0"/>
              <a:t>-</a:t>
            </a:r>
          </a:p>
          <a:p>
            <a:pPr marL="0" indent="0">
              <a:buNone/>
            </a:pPr>
            <a:r>
              <a:rPr lang="ru-RU" sz="5400" dirty="0" smtClean="0"/>
              <a:t>?</a:t>
            </a:r>
          </a:p>
          <a:p>
            <a:pPr marL="0" indent="0">
              <a:buNone/>
            </a:pPr>
            <a:r>
              <a:rPr lang="en-US" sz="5400" dirty="0" smtClean="0"/>
              <a:t>Y/N</a:t>
            </a:r>
            <a:endParaRPr lang="ru-RU" sz="5400" dirty="0" smtClean="0"/>
          </a:p>
        </p:txBody>
      </p:sp>
      <p:grpSp>
        <p:nvGrpSpPr>
          <p:cNvPr id="9" name="Группа 8"/>
          <p:cNvGrpSpPr/>
          <p:nvPr/>
        </p:nvGrpSpPr>
        <p:grpSpPr>
          <a:xfrm>
            <a:off x="251520" y="2996952"/>
            <a:ext cx="1002821" cy="3290977"/>
            <a:chOff x="138023" y="2829464"/>
            <a:chExt cx="1337094" cy="3290977"/>
          </a:xfrm>
        </p:grpSpPr>
        <p:sp>
          <p:nvSpPr>
            <p:cNvPr id="4" name="Овал 3"/>
            <p:cNvSpPr/>
            <p:nvPr/>
          </p:nvSpPr>
          <p:spPr>
            <a:xfrm>
              <a:off x="155275" y="2829464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38023" y="3686354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138023" y="4543245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Овал 7"/>
            <p:cNvSpPr/>
            <p:nvPr/>
          </p:nvSpPr>
          <p:spPr>
            <a:xfrm>
              <a:off x="138023" y="5279367"/>
              <a:ext cx="1337094" cy="84107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276226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1745" y="138023"/>
            <a:ext cx="8908931" cy="566724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5400" dirty="0" smtClean="0"/>
              <a:t>Как строятся предложения.</a:t>
            </a:r>
          </a:p>
          <a:p>
            <a:pPr marL="0" indent="0" algn="ctr">
              <a:buNone/>
            </a:pPr>
            <a:r>
              <a:rPr lang="ru-RU" sz="5400" dirty="0" smtClean="0"/>
              <a:t>Мы сходили</a:t>
            </a:r>
            <a:r>
              <a:rPr lang="en-US" sz="5400" dirty="0" smtClean="0"/>
              <a:t>.</a:t>
            </a:r>
          </a:p>
          <a:p>
            <a:pPr marL="0" indent="0">
              <a:buNone/>
            </a:pPr>
            <a:endParaRPr lang="ru-RU" sz="900" dirty="0" smtClean="0"/>
          </a:p>
          <a:p>
            <a:pPr marL="0" indent="0">
              <a:buNone/>
            </a:pPr>
            <a:r>
              <a:rPr lang="ru-RU" sz="5400" dirty="0" smtClean="0"/>
              <a:t>+</a:t>
            </a:r>
          </a:p>
          <a:p>
            <a:pPr marL="0" indent="0">
              <a:buNone/>
            </a:pPr>
            <a:r>
              <a:rPr lang="en-US" sz="5400" dirty="0" smtClean="0"/>
              <a:t> </a:t>
            </a:r>
            <a:r>
              <a:rPr lang="ru-RU" sz="5400" dirty="0" smtClean="0"/>
              <a:t>-</a:t>
            </a:r>
          </a:p>
          <a:p>
            <a:pPr marL="0" indent="0">
              <a:buNone/>
            </a:pPr>
            <a:r>
              <a:rPr lang="ru-RU" sz="5400" dirty="0" smtClean="0"/>
              <a:t>?</a:t>
            </a:r>
          </a:p>
          <a:p>
            <a:pPr marL="0" indent="0">
              <a:buNone/>
            </a:pPr>
            <a:r>
              <a:rPr lang="en-US" sz="5400" dirty="0" smtClean="0"/>
              <a:t>Y/N</a:t>
            </a:r>
            <a:endParaRPr lang="ru-RU" sz="5400" dirty="0" smtClean="0"/>
          </a:p>
        </p:txBody>
      </p:sp>
      <p:grpSp>
        <p:nvGrpSpPr>
          <p:cNvPr id="9" name="Группа 8"/>
          <p:cNvGrpSpPr/>
          <p:nvPr/>
        </p:nvGrpSpPr>
        <p:grpSpPr>
          <a:xfrm>
            <a:off x="262027" y="2273156"/>
            <a:ext cx="1002821" cy="3290977"/>
            <a:chOff x="138023" y="2829464"/>
            <a:chExt cx="1337094" cy="3290977"/>
          </a:xfrm>
        </p:grpSpPr>
        <p:sp>
          <p:nvSpPr>
            <p:cNvPr id="4" name="Овал 3"/>
            <p:cNvSpPr/>
            <p:nvPr/>
          </p:nvSpPr>
          <p:spPr>
            <a:xfrm>
              <a:off x="155275" y="2829464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38023" y="3686354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138023" y="4543245"/>
              <a:ext cx="603850" cy="5995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Овал 7"/>
            <p:cNvSpPr/>
            <p:nvPr/>
          </p:nvSpPr>
          <p:spPr>
            <a:xfrm>
              <a:off x="138023" y="5279367"/>
              <a:ext cx="1337094" cy="84107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0" name="Прямоугольник 9"/>
          <p:cNvSpPr/>
          <p:nvPr/>
        </p:nvSpPr>
        <p:spPr>
          <a:xfrm>
            <a:off x="763438" y="2060848"/>
            <a:ext cx="6425157" cy="47089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en-US" sz="6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en-US" sz="6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gone</a:t>
            </a:r>
            <a:r>
              <a:rPr lang="en-US" sz="6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6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en-US" sz="6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en-US" sz="6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6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gone</a:t>
            </a:r>
            <a:r>
              <a:rPr lang="en-US" sz="6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6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en-US" sz="6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en-US" sz="6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gone</a:t>
            </a:r>
            <a:r>
              <a:rPr lang="en-US" sz="60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r>
              <a:rPr lang="en-US" sz="6000" dirty="0" smtClean="0">
                <a:latin typeface="Arial" panose="020B0604020202020204" pitchFamily="34" charset="0"/>
                <a:cs typeface="Arial" panose="020B0604020202020204" pitchFamily="34" charset="0"/>
              </a:rPr>
              <a:t>   Yes, </a:t>
            </a:r>
            <a:r>
              <a:rPr lang="en-US" sz="6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en-US" sz="6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en-US" sz="60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dirty="0" smtClean="0">
                <a:latin typeface="Arial" panose="020B0604020202020204" pitchFamily="34" charset="0"/>
                <a:cs typeface="Arial" panose="020B0604020202020204" pitchFamily="34" charset="0"/>
              </a:rPr>
              <a:t>  No, </a:t>
            </a:r>
            <a:r>
              <a:rPr lang="en-US" sz="6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en-US" sz="6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en-US" sz="6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6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ru-RU" sz="6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6000" dirty="0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 flipV="1">
            <a:off x="2291812" y="3130045"/>
            <a:ext cx="112806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398012" y="5805264"/>
            <a:ext cx="11821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4109381" y="6669360"/>
            <a:ext cx="11821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895426" y="4879359"/>
            <a:ext cx="130031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3635896" y="4869160"/>
            <a:ext cx="1654704" cy="1019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4999413" y="3984987"/>
            <a:ext cx="1686143" cy="19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flipV="1">
            <a:off x="2195736" y="3986936"/>
            <a:ext cx="1240866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021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97768"/>
            <a:ext cx="8229600" cy="1143000"/>
          </a:xfrm>
        </p:spPr>
        <p:txBody>
          <a:bodyPr>
            <a:noAutofit/>
          </a:bodyPr>
          <a:lstStyle/>
          <a:p>
            <a:r>
              <a:rPr lang="en-US" sz="5400" b="1" dirty="0" smtClean="0">
                <a:solidFill>
                  <a:schemeClr val="accent4">
                    <a:lumMod val="75000"/>
                  </a:schemeClr>
                </a:solidFill>
              </a:rPr>
              <a:t>Contractions</a:t>
            </a:r>
            <a:r>
              <a:rPr lang="ru-RU" sz="5400" b="1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5400" b="1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5400" b="1" dirty="0" smtClean="0">
                <a:solidFill>
                  <a:schemeClr val="accent4">
                    <a:lumMod val="75000"/>
                  </a:schemeClr>
                </a:solidFill>
              </a:rPr>
              <a:t>Сокращения</a:t>
            </a:r>
            <a:endParaRPr lang="ru-RU" sz="5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348880"/>
            <a:ext cx="8507288" cy="42484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b="1" dirty="0"/>
              <a:t>had not = hadn’t</a:t>
            </a:r>
          </a:p>
        </p:txBody>
      </p:sp>
    </p:spTree>
    <p:extLst>
      <p:ext uri="{BB962C8B-B14F-4D97-AF65-F5344CB8AC3E}">
        <p14:creationId xmlns:p14="http://schemas.microsoft.com/office/powerpoint/2010/main" val="263737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kysmart Таблица английских време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3718"/>
            <a:ext cx="9144000" cy="631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3258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3508" y="1268760"/>
            <a:ext cx="885698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/>
              <a:t>Past </a:t>
            </a:r>
            <a:r>
              <a:rPr lang="en-US" sz="6600" b="1" dirty="0" smtClean="0"/>
              <a:t>Perfect </a:t>
            </a:r>
            <a:r>
              <a:rPr lang="en-US" sz="6600" b="1" dirty="0" smtClean="0"/>
              <a:t>Continuous</a:t>
            </a:r>
            <a:r>
              <a:rPr lang="ru-RU" sz="6600" b="1" dirty="0" smtClean="0"/>
              <a:t>. </a:t>
            </a:r>
            <a:endParaRPr lang="en-US" sz="6600" b="1" dirty="0" smtClean="0"/>
          </a:p>
          <a:p>
            <a:pPr algn="ctr"/>
            <a:r>
              <a:rPr lang="ru-RU" sz="6600" b="1" dirty="0"/>
              <a:t/>
            </a:r>
            <a:br>
              <a:rPr lang="ru-RU" sz="6600" b="1" dirty="0"/>
            </a:br>
            <a:r>
              <a:rPr lang="ru-RU" sz="6600" b="1" dirty="0" smtClean="0"/>
              <a:t>Прошедшее </a:t>
            </a:r>
            <a:r>
              <a:rPr lang="ru-RU" sz="6600" b="1" dirty="0" smtClean="0"/>
              <a:t>совершённое </a:t>
            </a:r>
            <a:r>
              <a:rPr lang="ru-RU" sz="6600" b="1" dirty="0" smtClean="0"/>
              <a:t>длительное </a:t>
            </a:r>
            <a:r>
              <a:rPr lang="ru-RU" sz="6600" b="1" dirty="0" smtClean="0"/>
              <a:t>время</a:t>
            </a:r>
            <a:r>
              <a:rPr lang="ru-RU" sz="6600" b="1" dirty="0"/>
              <a:t>.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4018172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11056"/>
            <a:ext cx="9144000" cy="6923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1000"/>
              </a:spcAft>
            </a:pPr>
            <a:r>
              <a:rPr lang="ru-RU" sz="3000" dirty="0">
                <a:ea typeface="Calibri" panose="020F0502020204030204" pitchFamily="34" charset="0"/>
                <a:cs typeface="Times New Roman" panose="02020603050405020304" pitchFamily="18" charset="0"/>
              </a:rPr>
              <a:t>Мы используем прошедшее время </a:t>
            </a:r>
            <a:r>
              <a:rPr lang="en-US" sz="3000" b="1" dirty="0">
                <a:ea typeface="Calibri" panose="020F0502020204030204" pitchFamily="34" charset="0"/>
                <a:cs typeface="Times New Roman" panose="02020603050405020304" pitchFamily="18" charset="0"/>
              </a:rPr>
              <a:t>Past </a:t>
            </a:r>
            <a:r>
              <a:rPr lang="en-US" sz="30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Perfect </a:t>
            </a:r>
            <a:r>
              <a:rPr lang="en-US" sz="30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Continuous</a:t>
            </a:r>
            <a:r>
              <a:rPr lang="ru-RU" sz="30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3000" dirty="0">
                <a:ea typeface="Calibri" panose="020F0502020204030204" pitchFamily="34" charset="0"/>
                <a:cs typeface="Times New Roman" panose="02020603050405020304" pitchFamily="18" charset="0"/>
              </a:rPr>
              <a:t>когда говорим о событиях, которые </a:t>
            </a:r>
            <a:r>
              <a:rPr lang="ru-RU" sz="3000" dirty="0" smtClean="0"/>
              <a:t>начались </a:t>
            </a:r>
            <a:r>
              <a:rPr lang="ru-RU" sz="3000" dirty="0"/>
              <a:t>в прошлом, </a:t>
            </a:r>
            <a:r>
              <a:rPr lang="ru-RU" sz="3000" dirty="0" smtClean="0"/>
              <a:t>продолжались </a:t>
            </a:r>
            <a:r>
              <a:rPr lang="ru-RU" sz="3000" dirty="0"/>
              <a:t>в течение некоторого времени </a:t>
            </a:r>
            <a:r>
              <a:rPr lang="ru-RU" sz="3000" dirty="0" smtClean="0"/>
              <a:t>и, </a:t>
            </a:r>
            <a:r>
              <a:rPr lang="ru-RU" sz="3000" dirty="0"/>
              <a:t>либо закончилось непосредственно перед неким моментом в </a:t>
            </a:r>
            <a:r>
              <a:rPr lang="ru-RU" sz="3000" dirty="0" smtClean="0"/>
              <a:t>прошлом, </a:t>
            </a:r>
            <a:r>
              <a:rPr lang="ru-RU" sz="3000" dirty="0"/>
              <a:t>или все еще не закончилось к некоему моменту в прошлом</a:t>
            </a:r>
            <a:r>
              <a:rPr lang="ru-RU" sz="3000" dirty="0" smtClean="0"/>
              <a:t>.</a:t>
            </a:r>
          </a:p>
          <a:p>
            <a:r>
              <a:rPr lang="ru-RU" sz="30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Слова-указатели: </a:t>
            </a:r>
            <a:r>
              <a:rPr lang="en-US" sz="3000" dirty="0" smtClean="0"/>
              <a:t>f</a:t>
            </a:r>
            <a:r>
              <a:rPr lang="en-GB" sz="3000" dirty="0" smtClean="0"/>
              <a:t>or </a:t>
            </a:r>
            <a:r>
              <a:rPr lang="ru-RU" sz="3000" dirty="0" smtClean="0"/>
              <a:t>(в течение)</a:t>
            </a:r>
            <a:r>
              <a:rPr lang="en-US" sz="3000" dirty="0" smtClean="0"/>
              <a:t>, b</a:t>
            </a:r>
            <a:r>
              <a:rPr lang="en-GB" sz="3000" dirty="0" err="1" smtClean="0"/>
              <a:t>efore</a:t>
            </a:r>
            <a:r>
              <a:rPr lang="en-GB" sz="3000" dirty="0" smtClean="0"/>
              <a:t> </a:t>
            </a:r>
            <a:r>
              <a:rPr lang="ru-RU" sz="3000" dirty="0"/>
              <a:t>(</a:t>
            </a:r>
            <a:r>
              <a:rPr lang="ru-RU" sz="3000" dirty="0" smtClean="0"/>
              <a:t>до того, как)</a:t>
            </a:r>
            <a:r>
              <a:rPr lang="en-US" sz="3000" dirty="0" smtClean="0"/>
              <a:t>, u</a:t>
            </a:r>
            <a:r>
              <a:rPr lang="en-GB" sz="3000" dirty="0" err="1" smtClean="0"/>
              <a:t>ntil</a:t>
            </a:r>
            <a:r>
              <a:rPr lang="en-GB" sz="3000" dirty="0" smtClean="0"/>
              <a:t>/ till </a:t>
            </a:r>
            <a:r>
              <a:rPr lang="ru-RU" sz="3000" dirty="0"/>
              <a:t>(</a:t>
            </a:r>
            <a:r>
              <a:rPr lang="ru-RU" sz="3000" dirty="0" smtClean="0"/>
              <a:t>пока</a:t>
            </a:r>
            <a:r>
              <a:rPr lang="en-US" sz="3000" dirty="0" smtClean="0"/>
              <a:t>,</a:t>
            </a:r>
            <a:r>
              <a:rPr lang="ru-RU" sz="3000" dirty="0" smtClean="0"/>
              <a:t> до тех пор, как)</a:t>
            </a:r>
            <a:r>
              <a:rPr lang="en-US" sz="3000" dirty="0" smtClean="0"/>
              <a:t>, </a:t>
            </a:r>
            <a:r>
              <a:rPr lang="en-GB" sz="3000" dirty="0" smtClean="0"/>
              <a:t>since </a:t>
            </a:r>
            <a:r>
              <a:rPr lang="ru-RU" sz="3000" dirty="0" smtClean="0"/>
              <a:t>(с тех пор)</a:t>
            </a:r>
            <a:r>
              <a:rPr lang="en-US" sz="3000" dirty="0" smtClean="0"/>
              <a:t>, n</a:t>
            </a:r>
            <a:r>
              <a:rPr lang="en-GB" sz="3000" dirty="0" smtClean="0"/>
              <a:t>ever </a:t>
            </a:r>
            <a:r>
              <a:rPr lang="ru-RU" sz="3000" dirty="0"/>
              <a:t>(</a:t>
            </a:r>
            <a:r>
              <a:rPr lang="ru-RU" sz="3000" dirty="0" smtClean="0"/>
              <a:t>никогда)</a:t>
            </a:r>
            <a:r>
              <a:rPr lang="en-US" sz="3000" dirty="0" smtClean="0"/>
              <a:t>, b</a:t>
            </a:r>
            <a:r>
              <a:rPr lang="en-GB" sz="3000" dirty="0" smtClean="0"/>
              <a:t>y the time </a:t>
            </a:r>
            <a:r>
              <a:rPr lang="ru-RU" sz="3000" dirty="0" smtClean="0"/>
              <a:t>(до тех пор, как)</a:t>
            </a:r>
            <a:r>
              <a:rPr lang="en-US" sz="3000" dirty="0" smtClean="0"/>
              <a:t>, a</a:t>
            </a:r>
            <a:r>
              <a:rPr lang="en-GB" sz="3000" dirty="0" err="1" smtClean="0"/>
              <a:t>ll</a:t>
            </a:r>
            <a:r>
              <a:rPr lang="en-GB" sz="3000" dirty="0" smtClean="0"/>
              <a:t> morning/ all night/ all evening/ all Monday </a:t>
            </a:r>
            <a:r>
              <a:rPr lang="ru-RU" sz="3000" dirty="0" smtClean="0"/>
              <a:t>(все утро/ всю ночь/ весь вечер/ весь понедельник)</a:t>
            </a:r>
            <a:r>
              <a:rPr lang="en-US" sz="3000" dirty="0" smtClean="0"/>
              <a:t>, b</a:t>
            </a:r>
            <a:r>
              <a:rPr lang="en-GB" sz="3000" dirty="0" err="1" smtClean="0"/>
              <a:t>ecause</a:t>
            </a:r>
            <a:r>
              <a:rPr lang="en-GB" sz="3000" dirty="0" smtClean="0"/>
              <a:t> </a:t>
            </a:r>
            <a:r>
              <a:rPr lang="ru-RU" sz="3000" dirty="0" smtClean="0"/>
              <a:t>(потому что)</a:t>
            </a:r>
            <a:r>
              <a:rPr lang="en-US" sz="3000" dirty="0" smtClean="0"/>
              <a:t>, t</a:t>
            </a:r>
            <a:r>
              <a:rPr lang="en-GB" sz="3000" dirty="0" smtClean="0"/>
              <a:t>hen </a:t>
            </a:r>
            <a:r>
              <a:rPr lang="ru-RU" sz="3000" dirty="0" smtClean="0"/>
              <a:t>(тогда)</a:t>
            </a:r>
            <a:r>
              <a:rPr lang="en-US" sz="3000" dirty="0" smtClean="0"/>
              <a:t>.</a:t>
            </a:r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54693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79512" y="181552"/>
            <a:ext cx="8856984" cy="5104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1000"/>
              </a:spcAft>
            </a:pPr>
            <a:r>
              <a:rPr lang="en-US" sz="46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Past </a:t>
            </a:r>
            <a:r>
              <a:rPr lang="en-US" sz="46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Perfect Continuous </a:t>
            </a:r>
            <a:r>
              <a:rPr lang="ru-RU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образуется с помощью глагола </a:t>
            </a:r>
            <a:r>
              <a:rPr lang="en-US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had</a:t>
            </a:r>
            <a:r>
              <a:rPr lang="en-US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глагола </a:t>
            </a:r>
            <a:r>
              <a:rPr lang="en-US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be </a:t>
            </a:r>
            <a:r>
              <a:rPr lang="ru-RU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3 форме </a:t>
            </a:r>
            <a:r>
              <a:rPr lang="ru-RU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 </a:t>
            </a:r>
            <a:r>
              <a:rPr lang="ru-RU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смыслового глагола с окончанием –</a:t>
            </a:r>
            <a:r>
              <a:rPr lang="en-US" sz="46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sz="4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228600" algn="ctr">
              <a:lnSpc>
                <a:spcPct val="115000"/>
              </a:lnSpc>
              <a:spcAft>
                <a:spcPts val="1000"/>
              </a:spcAft>
            </a:pPr>
            <a:r>
              <a:rPr lang="en-US" sz="46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had + </a:t>
            </a:r>
            <a:r>
              <a:rPr lang="en-US" sz="46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 </a:t>
            </a:r>
            <a:r>
              <a:rPr lang="en-US" sz="46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en-US" sz="4600" b="1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Ving</a:t>
            </a:r>
            <a:endParaRPr lang="ru-RU" sz="4600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156176" y="4437112"/>
            <a:ext cx="792088" cy="7991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579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Я играл.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373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1091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4379378" y="2416489"/>
            <a:ext cx="21591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580112" y="1724236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1279075" y="2446193"/>
            <a:ext cx="113268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2640975" y="244789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50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4293689" y="2446193"/>
            <a:ext cx="21591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604954" y="1696943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222440" y="3501008"/>
            <a:ext cx="12459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5604954" y="3501008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258722" y="2446193"/>
            <a:ext cx="12459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6804248" y="2766628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единительная линия 20"/>
          <p:cNvCxnSpPr/>
          <p:nvPr/>
        </p:nvCxnSpPr>
        <p:spPr>
          <a:xfrm>
            <a:off x="2640975" y="244789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3850841" y="352269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072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4293689" y="2446193"/>
            <a:ext cx="21591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604954" y="1696943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222440" y="3501008"/>
            <a:ext cx="12459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5604954" y="3501008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925517" y="4509120"/>
            <a:ext cx="123321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4417183" y="4524328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258722" y="2446193"/>
            <a:ext cx="12459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6804248" y="2766628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5652120" y="3798578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единительная линия 20"/>
          <p:cNvCxnSpPr/>
          <p:nvPr/>
        </p:nvCxnSpPr>
        <p:spPr>
          <a:xfrm>
            <a:off x="2640975" y="244789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3850841" y="352269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2699792" y="458112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08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6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had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4293689" y="2446193"/>
            <a:ext cx="21591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604954" y="1696943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222440" y="3501008"/>
            <a:ext cx="12459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5604954" y="3501008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925517" y="4509120"/>
            <a:ext cx="123321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4417183" y="4524328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3850841" y="5589240"/>
            <a:ext cx="113268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3727347" y="6669360"/>
            <a:ext cx="113268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258722" y="2446193"/>
            <a:ext cx="12459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6804248" y="2766628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5652120" y="3798578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единительная линия 20"/>
          <p:cNvCxnSpPr/>
          <p:nvPr/>
        </p:nvCxnSpPr>
        <p:spPr>
          <a:xfrm>
            <a:off x="2640975" y="244789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3850841" y="352269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2699792" y="458112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850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97768"/>
            <a:ext cx="8229600" cy="1143000"/>
          </a:xfrm>
        </p:spPr>
        <p:txBody>
          <a:bodyPr>
            <a:noAutofit/>
          </a:bodyPr>
          <a:lstStyle/>
          <a:p>
            <a:r>
              <a:rPr lang="en-US" sz="5400" b="1" dirty="0" smtClean="0">
                <a:solidFill>
                  <a:schemeClr val="accent4">
                    <a:lumMod val="75000"/>
                  </a:schemeClr>
                </a:solidFill>
              </a:rPr>
              <a:t>Contractions</a:t>
            </a:r>
            <a:r>
              <a:rPr lang="ru-RU" sz="5400" b="1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sz="5400" b="1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sz="5400" b="1" dirty="0" smtClean="0">
                <a:solidFill>
                  <a:schemeClr val="accent4">
                    <a:lumMod val="75000"/>
                  </a:schemeClr>
                </a:solidFill>
              </a:rPr>
              <a:t>Сокращения</a:t>
            </a:r>
            <a:endParaRPr lang="ru-RU" sz="5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348880"/>
            <a:ext cx="8507288" cy="42484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 smtClean="0">
                <a:latin typeface="Comic Sans MS" panose="030F0702030302020204" pitchFamily="66" charset="0"/>
              </a:rPr>
              <a:t>had </a:t>
            </a:r>
            <a:r>
              <a:rPr lang="en-US" sz="6600" dirty="0" smtClean="0">
                <a:latin typeface="Comic Sans MS" panose="030F0702030302020204" pitchFamily="66" charset="0"/>
              </a:rPr>
              <a:t>not = </a:t>
            </a:r>
            <a:r>
              <a:rPr lang="en-US" sz="6600" dirty="0" smtClean="0">
                <a:latin typeface="Comic Sans MS" panose="030F0702030302020204" pitchFamily="66" charset="0"/>
              </a:rPr>
              <a:t>hadn’t</a:t>
            </a:r>
            <a:endParaRPr lang="en-US" sz="6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78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1485</TotalTime>
  <Words>1656</Words>
  <Application>Microsoft Office PowerPoint</Application>
  <PresentationFormat>Экран (4:3)</PresentationFormat>
  <Paragraphs>424</Paragraphs>
  <Slides>70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70</vt:i4>
      </vt:variant>
    </vt:vector>
  </HeadingPairs>
  <TitlesOfParts>
    <vt:vector size="77" baseType="lpstr">
      <vt:lpstr>Arial</vt:lpstr>
      <vt:lpstr>Calibri</vt:lpstr>
      <vt:lpstr>Comic Sans MS</vt:lpstr>
      <vt:lpstr>Corbel</vt:lpstr>
      <vt:lpstr>Helvetica</vt:lpstr>
      <vt:lpstr>Times New Roman</vt:lpstr>
      <vt:lpstr>Тема Office</vt:lpstr>
      <vt:lpstr>Past Tenses</vt:lpstr>
      <vt:lpstr>Презентация PowerPoint</vt:lpstr>
      <vt:lpstr>Презентация PowerPoint</vt:lpstr>
      <vt:lpstr>Презентация PowerPoint</vt:lpstr>
      <vt:lpstr>Презентация PowerPoint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Contractions Сокращения</vt:lpstr>
      <vt:lpstr>Презентация PowerPoint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Contractions Сокращения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Contractions Сокращения</vt:lpstr>
      <vt:lpstr>Презентация PowerPoint</vt:lpstr>
      <vt:lpstr>Past Perfect  Прошедшее совершенное время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Contractions Сокращения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Contractions Сокращения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 Tenses</dc:title>
  <dc:creator>student</dc:creator>
  <cp:lastModifiedBy>July</cp:lastModifiedBy>
  <cp:revision>40</cp:revision>
  <dcterms:created xsi:type="dcterms:W3CDTF">2023-09-06T06:40:24Z</dcterms:created>
  <dcterms:modified xsi:type="dcterms:W3CDTF">2023-10-30T14:31:10Z</dcterms:modified>
</cp:coreProperties>
</file>