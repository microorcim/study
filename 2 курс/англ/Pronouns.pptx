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6" r:id="rId3"/>
    <p:sldId id="260" r:id="rId4"/>
    <p:sldId id="258" r:id="rId5"/>
    <p:sldId id="259" r:id="rId6"/>
    <p:sldId id="262" r:id="rId7"/>
    <p:sldId id="257" r:id="rId8"/>
    <p:sldId id="263" r:id="rId9"/>
    <p:sldId id="264" r:id="rId10"/>
    <p:sldId id="261" r:id="rId11"/>
    <p:sldId id="265" r:id="rId12"/>
    <p:sldId id="267" r:id="rId13"/>
    <p:sldId id="268" r:id="rId14"/>
    <p:sldId id="269" r:id="rId15"/>
    <p:sldId id="266" r:id="rId16"/>
    <p:sldId id="270" r:id="rId17"/>
    <p:sldId id="271" r:id="rId18"/>
    <p:sldId id="272" r:id="rId19"/>
    <p:sldId id="273" r:id="rId20"/>
    <p:sldId id="274" r:id="rId21"/>
    <p:sldId id="275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76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 autoAdjust="0"/>
    <p:restoredTop sz="94660"/>
  </p:normalViewPr>
  <p:slideViewPr>
    <p:cSldViewPr>
      <p:cViewPr varScale="1">
        <p:scale>
          <a:sx n="105" d="100"/>
          <a:sy n="10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14.01.2024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476672"/>
            <a:ext cx="8784976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6500" dirty="0" smtClean="0"/>
              <a:t>Перелыгина </a:t>
            </a:r>
            <a:endParaRPr lang="en-US" sz="6500" dirty="0" smtClean="0"/>
          </a:p>
          <a:p>
            <a:pPr marL="0" indent="0" algn="ctr">
              <a:buNone/>
            </a:pPr>
            <a:r>
              <a:rPr lang="ru-RU" sz="6500" dirty="0" smtClean="0"/>
              <a:t>Юлия Александровна</a:t>
            </a:r>
          </a:p>
          <a:p>
            <a:pPr marL="0" indent="0" algn="ctr">
              <a:buNone/>
            </a:pPr>
            <a:endParaRPr lang="ru-RU" sz="6500" dirty="0"/>
          </a:p>
          <a:p>
            <a:pPr marL="0" indent="0" algn="ctr">
              <a:buNone/>
            </a:pPr>
            <a:r>
              <a:rPr lang="en-US" sz="6500" dirty="0" smtClean="0"/>
              <a:t>perelyginajul@gmail.com</a:t>
            </a:r>
            <a:endParaRPr lang="ru-RU" sz="6500" dirty="0"/>
          </a:p>
        </p:txBody>
      </p:sp>
    </p:spTree>
    <p:extLst>
      <p:ext uri="{BB962C8B-B14F-4D97-AF65-F5344CB8AC3E}">
        <p14:creationId xmlns:p14="http://schemas.microsoft.com/office/powerpoint/2010/main" val="16913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992119"/>
            <a:ext cx="7772400" cy="1470025"/>
          </a:xfrm>
        </p:spPr>
        <p:txBody>
          <a:bodyPr>
            <a:noAutofit/>
          </a:bodyPr>
          <a:lstStyle/>
          <a:p>
            <a:r>
              <a:rPr lang="en-US" sz="9600" dirty="0" smtClean="0"/>
              <a:t>Pronouns </a:t>
            </a:r>
            <a:r>
              <a:rPr lang="ru-RU" sz="9600" dirty="0" smtClean="0"/>
              <a:t>Местоимения</a:t>
            </a:r>
            <a:endParaRPr lang="ru-RU" sz="13800" dirty="0"/>
          </a:p>
        </p:txBody>
      </p:sp>
    </p:spTree>
    <p:extLst>
      <p:ext uri="{BB962C8B-B14F-4D97-AF65-F5344CB8AC3E}">
        <p14:creationId xmlns:p14="http://schemas.microsoft.com/office/powerpoint/2010/main" val="9030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260648"/>
            <a:ext cx="8496944" cy="1224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Местоимение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 – это часть речи, которая указывает на предмет, но не называет его. </a:t>
            </a:r>
            <a:endParaRPr lang="ru-R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1761778"/>
            <a:ext cx="85689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Виды местоимений в английском языке почти совпадают с русским. </a:t>
            </a:r>
            <a:r>
              <a:rPr lang="ru-RU" sz="3200" dirty="0" smtClean="0"/>
              <a:t>В английском языке </a:t>
            </a:r>
            <a:r>
              <a:rPr lang="ru-RU" sz="3200" dirty="0"/>
              <a:t>7 групп </a:t>
            </a:r>
            <a:r>
              <a:rPr lang="ru-RU" sz="3200" dirty="0" smtClean="0"/>
              <a:t>местоимений, мы рассмотрим </a:t>
            </a:r>
            <a:r>
              <a:rPr lang="en-US" sz="3200" dirty="0" smtClean="0"/>
              <a:t>2</a:t>
            </a:r>
            <a:r>
              <a:rPr lang="ru-RU" sz="3200" dirty="0" smtClean="0"/>
              <a:t>:</a:t>
            </a:r>
          </a:p>
          <a:p>
            <a:endParaRPr lang="ru-RU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/>
              <a:t>Личные </a:t>
            </a:r>
            <a:r>
              <a:rPr lang="ru-RU" sz="3200" dirty="0"/>
              <a:t>(</a:t>
            </a:r>
            <a:r>
              <a:rPr lang="ru-RU" sz="3200" dirty="0" err="1"/>
              <a:t>Personal</a:t>
            </a:r>
            <a:r>
              <a:rPr lang="ru-RU" sz="3200" dirty="0"/>
              <a:t> </a:t>
            </a:r>
            <a:r>
              <a:rPr lang="ru-RU" sz="3200" dirty="0" err="1"/>
              <a:t>Pronouns</a:t>
            </a:r>
            <a:r>
              <a:rPr lang="ru-RU" sz="3200" dirty="0"/>
              <a:t>) </a:t>
            </a:r>
            <a:r>
              <a:rPr lang="en-US" sz="3200" dirty="0" smtClean="0"/>
              <a:t>- </a:t>
            </a:r>
            <a:r>
              <a:rPr lang="ru-RU" sz="3200" dirty="0" smtClean="0"/>
              <a:t>субъектные и объектные местоимения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/>
              <a:t>Притяжательные </a:t>
            </a:r>
            <a:r>
              <a:rPr lang="ru-RU" sz="3200" dirty="0"/>
              <a:t>(</a:t>
            </a:r>
            <a:r>
              <a:rPr lang="ru-RU" sz="3200" dirty="0" err="1"/>
              <a:t>Possessive</a:t>
            </a:r>
            <a:r>
              <a:rPr lang="ru-RU" sz="3200" dirty="0"/>
              <a:t> </a:t>
            </a:r>
            <a:r>
              <a:rPr lang="ru-RU" sz="3200" dirty="0" err="1"/>
              <a:t>Pronouns</a:t>
            </a:r>
            <a:r>
              <a:rPr lang="ru-RU" sz="3200" dirty="0" smtClean="0"/>
              <a:t>) – притяжательные местоимения и прилагательные</a:t>
            </a:r>
          </a:p>
        </p:txBody>
      </p:sp>
    </p:spTree>
    <p:extLst>
      <p:ext uri="{BB962C8B-B14F-4D97-AF65-F5344CB8AC3E}">
        <p14:creationId xmlns:p14="http://schemas.microsoft.com/office/powerpoint/2010/main" val="65462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260648"/>
            <a:ext cx="8640960" cy="6336703"/>
          </a:xfrm>
        </p:spPr>
        <p:txBody>
          <a:bodyPr>
            <a:noAutofit/>
          </a:bodyPr>
          <a:lstStyle/>
          <a:p>
            <a:r>
              <a:rPr lang="en-US" sz="9600" dirty="0" smtClean="0"/>
              <a:t>Personal pronouns </a:t>
            </a:r>
            <a:r>
              <a:rPr lang="ru-RU" sz="4800" dirty="0" smtClean="0"/>
              <a:t/>
            </a:r>
            <a:br>
              <a:rPr lang="ru-RU" sz="4800" dirty="0" smtClean="0"/>
            </a:br>
            <a:r>
              <a:rPr lang="ru-RU" sz="4800" dirty="0" smtClean="0"/>
              <a:t/>
            </a:r>
            <a:br>
              <a:rPr lang="ru-RU" sz="4800" dirty="0" smtClean="0"/>
            </a:br>
            <a:r>
              <a:rPr lang="ru-RU" sz="9600" dirty="0" smtClean="0"/>
              <a:t>Личные местоимения</a:t>
            </a:r>
            <a:endParaRPr lang="ru-RU" sz="13800" dirty="0"/>
          </a:p>
        </p:txBody>
      </p:sp>
    </p:spTree>
    <p:extLst>
      <p:ext uri="{BB962C8B-B14F-4D97-AF65-F5344CB8AC3E}">
        <p14:creationId xmlns:p14="http://schemas.microsoft.com/office/powerpoint/2010/main" val="204656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343449"/>
            <a:ext cx="8712968" cy="553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Личные местоимения могут быть</a:t>
            </a:r>
            <a:r>
              <a:rPr lang="en-US" sz="3200" dirty="0" smtClean="0"/>
              <a:t> </a:t>
            </a:r>
            <a:r>
              <a:rPr lang="ru-RU" sz="3200" dirty="0" smtClean="0"/>
              <a:t>субъектными </a:t>
            </a:r>
            <a:r>
              <a:rPr lang="ru-RU" sz="3200" dirty="0"/>
              <a:t>(</a:t>
            </a:r>
            <a:r>
              <a:rPr lang="ru-RU" sz="3200" dirty="0" err="1"/>
              <a:t>subject</a:t>
            </a:r>
            <a:r>
              <a:rPr lang="ru-RU" sz="3200" dirty="0"/>
              <a:t> </a:t>
            </a:r>
            <a:r>
              <a:rPr lang="ru-RU" sz="3200" dirty="0" err="1" smtClean="0"/>
              <a:t>pronoun</a:t>
            </a:r>
            <a:r>
              <a:rPr lang="en-US" sz="3200" dirty="0" smtClean="0"/>
              <a:t>s</a:t>
            </a:r>
            <a:r>
              <a:rPr lang="ru-RU" sz="3200" dirty="0" smtClean="0"/>
              <a:t>) или объектными </a:t>
            </a:r>
            <a:r>
              <a:rPr lang="ru-RU" sz="3200" dirty="0"/>
              <a:t>(</a:t>
            </a:r>
            <a:r>
              <a:rPr lang="ru-RU" sz="3200" dirty="0" err="1"/>
              <a:t>object</a:t>
            </a:r>
            <a:r>
              <a:rPr lang="ru-RU" sz="3200" dirty="0"/>
              <a:t> </a:t>
            </a:r>
            <a:r>
              <a:rPr lang="ru-RU" sz="3200" dirty="0" err="1" smtClean="0"/>
              <a:t>pronoun</a:t>
            </a:r>
            <a:r>
              <a:rPr lang="en-US" sz="3200" dirty="0" smtClean="0"/>
              <a:t>s</a:t>
            </a:r>
            <a:r>
              <a:rPr lang="ru-RU" sz="3200" dirty="0" smtClean="0"/>
              <a:t>)</a:t>
            </a:r>
            <a:r>
              <a:rPr lang="en-US" sz="3200" dirty="0" smtClean="0"/>
              <a:t>.</a:t>
            </a:r>
            <a:endParaRPr lang="ru-RU" sz="32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3200" b="1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b="1" dirty="0"/>
              <a:t>С</a:t>
            </a:r>
            <a:r>
              <a:rPr lang="ru-RU" sz="3200" b="1" dirty="0" smtClean="0"/>
              <a:t>убъектны</a:t>
            </a:r>
            <a:r>
              <a:rPr lang="ru-RU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е </a:t>
            </a:r>
            <a:r>
              <a:rPr lang="ru-RU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местоимения 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отвечают на вопросы (кто?), (что?). </a:t>
            </a:r>
            <a:endParaRPr lang="ru-RU" sz="32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мы используем, чтобы говорить о 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себе.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she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 – о других людях в единственном 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числе</a:t>
            </a:r>
            <a:r>
              <a:rPr lang="en-US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– для всех предметов в единственном числе (НЕ ЛЮДЕЙ!). </a:t>
            </a:r>
            <a:endParaRPr lang="en-US" sz="32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75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188640"/>
            <a:ext cx="864096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В английском языке не существует слова «ты», поэтому  ко всем они обращаются вежливо «вы», что является множественным 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числом</a:t>
            </a:r>
            <a:r>
              <a:rPr lang="en-US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0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200" i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Mary, are you sleeping? </a:t>
            </a:r>
            <a:r>
              <a:rPr lang="ru-RU" sz="3200" i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Мария</a:t>
            </a:r>
            <a:r>
              <a:rPr lang="ru-RU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, вы </a:t>
            </a:r>
            <a:r>
              <a:rPr lang="ru-RU" sz="3200" i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спите? </a:t>
            </a:r>
            <a:endParaRPr lang="en-US" sz="3200" i="1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US" sz="1000" i="1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r>
              <a:rPr lang="ru-RU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ru-RU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they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 мы используем для того, чтобы говорить о людях и предметах во множественном числе. </a:t>
            </a:r>
            <a:endParaRPr lang="en-US" sz="32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US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Мы 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ставим 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личные 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местоимения вместо существительного, в качестве подлежащего.</a:t>
            </a:r>
            <a:endParaRPr lang="ru-RU" sz="32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6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Личные местоимения. Глагол to be настоящего времени. | ВКонтакт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Личные местоимения. Глагол to be настоящего времени. | ВКонтакте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Личные местоимения. Глагол to be настоящего времени. | ВКонтакт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764501"/>
            <a:ext cx="8814777" cy="417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582727" y="537321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He, she – </a:t>
            </a:r>
            <a:r>
              <a:rPr lang="ru-RU" dirty="0" smtClean="0"/>
              <a:t>люди, </a:t>
            </a:r>
            <a:r>
              <a:rPr lang="en-US" dirty="0" smtClean="0"/>
              <a:t>it – </a:t>
            </a:r>
            <a:r>
              <a:rPr lang="ru-RU" dirty="0" smtClean="0"/>
              <a:t>всё остальное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815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16597" y="576064"/>
            <a:ext cx="9091907" cy="5229200"/>
          </a:xfrm>
          <a:prstGeom prst="rect">
            <a:avLst/>
          </a:prstGeom>
        </p:spPr>
      </p:pic>
      <p:sp>
        <p:nvSpPr>
          <p:cNvPr id="3" name="Половина рамки 2"/>
          <p:cNvSpPr/>
          <p:nvPr/>
        </p:nvSpPr>
        <p:spPr>
          <a:xfrm rot="13642886">
            <a:off x="3907375" y="1685020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Половина рамки 3"/>
          <p:cNvSpPr/>
          <p:nvPr/>
        </p:nvSpPr>
        <p:spPr>
          <a:xfrm rot="13642886">
            <a:off x="8371871" y="1685019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Половина рамки 4"/>
          <p:cNvSpPr/>
          <p:nvPr/>
        </p:nvSpPr>
        <p:spPr>
          <a:xfrm rot="13642886">
            <a:off x="3907373" y="2981163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Половина рамки 5"/>
          <p:cNvSpPr/>
          <p:nvPr/>
        </p:nvSpPr>
        <p:spPr>
          <a:xfrm rot="13642886">
            <a:off x="8371872" y="3003321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8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15952" y="620687"/>
            <a:ext cx="9128048" cy="5249985"/>
          </a:xfrm>
          <a:prstGeom prst="rect">
            <a:avLst/>
          </a:prstGeom>
        </p:spPr>
      </p:pic>
      <p:sp>
        <p:nvSpPr>
          <p:cNvPr id="3" name="Половина рамки 2"/>
          <p:cNvSpPr/>
          <p:nvPr/>
        </p:nvSpPr>
        <p:spPr>
          <a:xfrm rot="13642886">
            <a:off x="3835366" y="388877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Половина рамки 3"/>
          <p:cNvSpPr/>
          <p:nvPr/>
        </p:nvSpPr>
        <p:spPr>
          <a:xfrm rot="13642886">
            <a:off x="8443879" y="460884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Половина рамки 4"/>
          <p:cNvSpPr/>
          <p:nvPr/>
        </p:nvSpPr>
        <p:spPr>
          <a:xfrm rot="13642886">
            <a:off x="3835366" y="4277307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Половина рамки 5"/>
          <p:cNvSpPr/>
          <p:nvPr/>
        </p:nvSpPr>
        <p:spPr>
          <a:xfrm rot="13642886">
            <a:off x="8394897" y="4277306"/>
            <a:ext cx="241449" cy="648072"/>
          </a:xfrm>
          <a:prstGeom prst="halfFram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5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7504" y="116632"/>
            <a:ext cx="892899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Личные местоимения могут быть</a:t>
            </a:r>
            <a:r>
              <a:rPr lang="en-US" sz="3200" dirty="0"/>
              <a:t> </a:t>
            </a:r>
            <a:r>
              <a:rPr lang="ru-RU" sz="3200" dirty="0"/>
              <a:t>субъектными (</a:t>
            </a:r>
            <a:r>
              <a:rPr lang="ru-RU" sz="3200" dirty="0" err="1"/>
              <a:t>subject</a:t>
            </a:r>
            <a:r>
              <a:rPr lang="ru-RU" sz="3200" dirty="0"/>
              <a:t> </a:t>
            </a:r>
            <a:r>
              <a:rPr lang="ru-RU" sz="3200" dirty="0" err="1"/>
              <a:t>pronoun</a:t>
            </a:r>
            <a:r>
              <a:rPr lang="en-US" sz="3200" dirty="0"/>
              <a:t>s</a:t>
            </a:r>
            <a:r>
              <a:rPr lang="ru-RU" sz="3200" dirty="0"/>
              <a:t>) или объектными (</a:t>
            </a:r>
            <a:r>
              <a:rPr lang="ru-RU" sz="3200" dirty="0" err="1"/>
              <a:t>object</a:t>
            </a:r>
            <a:r>
              <a:rPr lang="ru-RU" sz="3200" dirty="0"/>
              <a:t> </a:t>
            </a:r>
            <a:r>
              <a:rPr lang="ru-RU" sz="3200" dirty="0" err="1"/>
              <a:t>pronoun</a:t>
            </a:r>
            <a:r>
              <a:rPr lang="en-US" sz="3200" dirty="0"/>
              <a:t>s</a:t>
            </a:r>
            <a:r>
              <a:rPr lang="ru-RU" sz="3200" dirty="0"/>
              <a:t>)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endParaRPr lang="ru-RU" sz="3200" dirty="0"/>
          </a:p>
          <a:p>
            <a:pPr>
              <a:spcAft>
                <a:spcPts val="0"/>
              </a:spcAft>
            </a:pPr>
            <a:r>
              <a:rPr lang="ru-RU" sz="3200" b="1" dirty="0" smtClean="0"/>
              <a:t>Субъектны</a:t>
            </a:r>
            <a:r>
              <a:rPr lang="ru-RU" sz="3200" b="1" dirty="0" smtClean="0">
                <a:ea typeface="Times New Roman" panose="02020603050405020304" pitchFamily="18" charset="0"/>
              </a:rPr>
              <a:t>е</a:t>
            </a:r>
            <a:r>
              <a:rPr lang="ru-RU" sz="3200" dirty="0" smtClean="0">
                <a:ea typeface="Times New Roman" panose="02020603050405020304" pitchFamily="18" charset="0"/>
              </a:rPr>
              <a:t> </a:t>
            </a:r>
            <a:r>
              <a:rPr lang="ru-RU" sz="3200" dirty="0">
                <a:ea typeface="Times New Roman" panose="02020603050405020304" pitchFamily="18" charset="0"/>
              </a:rPr>
              <a:t>местоимения отвечают на вопросы именительного падежа (кто?), (что?) и в предложении являются подлежащим. </a:t>
            </a:r>
          </a:p>
          <a:p>
            <a:pPr>
              <a:spcAft>
                <a:spcPts val="0"/>
              </a:spcAft>
            </a:pPr>
            <a:r>
              <a:rPr lang="en-US" sz="3200" b="1" u="sng" dirty="0">
                <a:ea typeface="Times New Roman" panose="02020603050405020304" pitchFamily="18" charset="0"/>
              </a:rPr>
              <a:t>He</a:t>
            </a:r>
            <a:r>
              <a:rPr lang="en-US" sz="3200" dirty="0">
                <a:ea typeface="Times New Roman" panose="02020603050405020304" pitchFamily="18" charset="0"/>
              </a:rPr>
              <a:t> </a:t>
            </a:r>
            <a:r>
              <a:rPr lang="en-US" sz="3200" u="dbl" dirty="0">
                <a:ea typeface="Times New Roman" panose="02020603050405020304" pitchFamily="18" charset="0"/>
              </a:rPr>
              <a:t>is</a:t>
            </a:r>
            <a:r>
              <a:rPr lang="en-US" sz="3200" dirty="0">
                <a:ea typeface="Times New Roman" panose="02020603050405020304" pitchFamily="18" charset="0"/>
              </a:rPr>
              <a:t> a boy</a:t>
            </a:r>
            <a:r>
              <a:rPr lang="ru-RU" sz="3200" dirty="0" smtClean="0">
                <a:ea typeface="Times New Roman" panose="02020603050405020304" pitchFamily="18" charset="0"/>
              </a:rPr>
              <a:t>.</a:t>
            </a:r>
          </a:p>
          <a:p>
            <a:pPr>
              <a:spcAft>
                <a:spcPts val="0"/>
              </a:spcAft>
            </a:pPr>
            <a:endParaRPr lang="ru-RU" sz="32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3200" b="1" dirty="0">
                <a:ea typeface="Times New Roman" panose="02020603050405020304" pitchFamily="18" charset="0"/>
              </a:rPr>
              <a:t>Объектные</a:t>
            </a:r>
            <a:r>
              <a:rPr lang="ru-RU" sz="3200" dirty="0">
                <a:ea typeface="Times New Roman" panose="02020603050405020304" pitchFamily="18" charset="0"/>
              </a:rPr>
              <a:t> местоимения отвечают на вопросы всех остальных падежей и в предложении являются дополнением.</a:t>
            </a:r>
          </a:p>
          <a:p>
            <a:pPr>
              <a:spcAft>
                <a:spcPts val="0"/>
              </a:spcAft>
            </a:pPr>
            <a:r>
              <a:rPr lang="en-US" sz="3200" dirty="0">
                <a:ea typeface="Times New Roman" panose="02020603050405020304" pitchFamily="18" charset="0"/>
              </a:rPr>
              <a:t>I like </a:t>
            </a:r>
            <a:r>
              <a:rPr lang="en-US" sz="3200" b="1" dirty="0">
                <a:ea typeface="Times New Roman" panose="02020603050405020304" pitchFamily="18" charset="0"/>
              </a:rPr>
              <a:t>Tim</a:t>
            </a:r>
            <a:r>
              <a:rPr lang="en-US" sz="3200" dirty="0">
                <a:ea typeface="Times New Roman" panose="02020603050405020304" pitchFamily="18" charset="0"/>
              </a:rPr>
              <a:t> = I like </a:t>
            </a:r>
            <a:r>
              <a:rPr lang="en-US" sz="3200" b="1" u="dotted" dirty="0">
                <a:ea typeface="Times New Roman" panose="02020603050405020304" pitchFamily="18" charset="0"/>
              </a:rPr>
              <a:t>him</a:t>
            </a:r>
            <a:r>
              <a:rPr lang="en-US" sz="3200" dirty="0" smtClean="0">
                <a:ea typeface="Times New Roman" panose="02020603050405020304" pitchFamily="18" charset="0"/>
              </a:rPr>
              <a:t>.</a:t>
            </a:r>
            <a:endParaRPr lang="ru-RU" sz="32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86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9512" y="260648"/>
            <a:ext cx="87129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3200" b="1" dirty="0">
                <a:ea typeface="Times New Roman" panose="02020603050405020304" pitchFamily="18" charset="0"/>
              </a:rPr>
              <a:t>Объектные</a:t>
            </a:r>
            <a:r>
              <a:rPr lang="ru-RU" sz="3200" dirty="0">
                <a:ea typeface="Times New Roman" panose="02020603050405020304" pitchFamily="18" charset="0"/>
              </a:rPr>
              <a:t> местоимения часто стоят в конце предложения, в то время как личные местоимения стоят в начале предложения. </a:t>
            </a:r>
            <a:endParaRPr lang="ru-RU" sz="3200" dirty="0" smtClean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ru-RU" sz="32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3200" dirty="0" smtClean="0">
                <a:ea typeface="Times New Roman" panose="02020603050405020304" pitchFamily="18" charset="0"/>
              </a:rPr>
              <a:t>Мы </a:t>
            </a:r>
            <a:r>
              <a:rPr lang="ru-RU" sz="3200" dirty="0">
                <a:ea typeface="Times New Roman" panose="02020603050405020304" pitchFamily="18" charset="0"/>
              </a:rPr>
              <a:t>часто употребляем </a:t>
            </a:r>
            <a:r>
              <a:rPr lang="ru-RU" sz="3200" b="1" dirty="0">
                <a:ea typeface="Times New Roman" panose="02020603050405020304" pitchFamily="18" charset="0"/>
              </a:rPr>
              <a:t>объектные</a:t>
            </a:r>
            <a:r>
              <a:rPr lang="ru-RU" sz="3200" dirty="0">
                <a:ea typeface="Times New Roman" panose="02020603050405020304" pitchFamily="18" charset="0"/>
              </a:rPr>
              <a:t> местоимения после глаголов с предлогами </a:t>
            </a:r>
            <a:r>
              <a:rPr lang="en-US" sz="3200" dirty="0">
                <a:ea typeface="Times New Roman" panose="02020603050405020304" pitchFamily="18" charset="0"/>
              </a:rPr>
              <a:t>in</a:t>
            </a:r>
            <a:r>
              <a:rPr lang="ru-RU" sz="3200" dirty="0">
                <a:ea typeface="Times New Roman" panose="02020603050405020304" pitchFamily="18" charset="0"/>
              </a:rPr>
              <a:t>, </a:t>
            </a:r>
            <a:r>
              <a:rPr lang="en-US" sz="3200" dirty="0">
                <a:ea typeface="Times New Roman" panose="02020603050405020304" pitchFamily="18" charset="0"/>
              </a:rPr>
              <a:t>on</a:t>
            </a:r>
            <a:r>
              <a:rPr lang="ru-RU" sz="3200" dirty="0">
                <a:ea typeface="Times New Roman" panose="02020603050405020304" pitchFamily="18" charset="0"/>
              </a:rPr>
              <a:t>, </a:t>
            </a:r>
            <a:r>
              <a:rPr lang="en-US" sz="3200" dirty="0">
                <a:ea typeface="Times New Roman" panose="02020603050405020304" pitchFamily="18" charset="0"/>
              </a:rPr>
              <a:t>next to</a:t>
            </a:r>
            <a:r>
              <a:rPr lang="ru-RU" sz="3200" dirty="0">
                <a:ea typeface="Times New Roman" panose="02020603050405020304" pitchFamily="18" charset="0"/>
              </a:rPr>
              <a:t>, </a:t>
            </a:r>
            <a:r>
              <a:rPr lang="en-US" sz="3200" dirty="0">
                <a:ea typeface="Times New Roman" panose="02020603050405020304" pitchFamily="18" charset="0"/>
              </a:rPr>
              <a:t>at</a:t>
            </a:r>
            <a:r>
              <a:rPr lang="ru-RU" sz="3200" dirty="0">
                <a:ea typeface="Times New Roman" panose="02020603050405020304" pitchFamily="18" charset="0"/>
              </a:rPr>
              <a:t>, </a:t>
            </a:r>
            <a:r>
              <a:rPr lang="en-US" sz="3200" dirty="0">
                <a:ea typeface="Times New Roman" panose="02020603050405020304" pitchFamily="18" charset="0"/>
              </a:rPr>
              <a:t>to</a:t>
            </a:r>
            <a:r>
              <a:rPr lang="ru-RU" sz="3200" dirty="0">
                <a:ea typeface="Times New Roman" panose="02020603050405020304" pitchFamily="18" charset="0"/>
              </a:rPr>
              <a:t> и т.д</a:t>
            </a:r>
            <a:r>
              <a:rPr lang="ru-RU" sz="3200" dirty="0" smtClean="0">
                <a:ea typeface="Times New Roman" panose="02020603050405020304" pitchFamily="18" charset="0"/>
              </a:rPr>
              <a:t>.</a:t>
            </a:r>
          </a:p>
          <a:p>
            <a:pPr>
              <a:spcAft>
                <a:spcPts val="0"/>
              </a:spcAft>
            </a:pPr>
            <a:endParaRPr lang="ru-RU" sz="32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3200" dirty="0">
                <a:ea typeface="Times New Roman" panose="02020603050405020304" pitchFamily="18" charset="0"/>
              </a:rPr>
              <a:t>Can you see </a:t>
            </a:r>
            <a:r>
              <a:rPr lang="en-US" sz="3200" b="1" dirty="0">
                <a:ea typeface="Times New Roman" panose="02020603050405020304" pitchFamily="18" charset="0"/>
              </a:rPr>
              <a:t>Tim</a:t>
            </a:r>
            <a:r>
              <a:rPr lang="en-US" sz="3200" dirty="0">
                <a:ea typeface="Times New Roman" panose="02020603050405020304" pitchFamily="18" charset="0"/>
              </a:rPr>
              <a:t>? My sister is sitting next to </a:t>
            </a:r>
            <a:r>
              <a:rPr lang="en-US" sz="3200" b="1" u="dotted" dirty="0">
                <a:ea typeface="Times New Roman" panose="02020603050405020304" pitchFamily="18" charset="0"/>
              </a:rPr>
              <a:t>him</a:t>
            </a:r>
            <a:r>
              <a:rPr lang="en-US" sz="3200" dirty="0">
                <a:ea typeface="Times New Roman" panose="02020603050405020304" pitchFamily="18" charset="0"/>
              </a:rPr>
              <a:t>.</a:t>
            </a:r>
            <a:endParaRPr lang="ru-RU" sz="32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90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332656"/>
            <a:ext cx="9028918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9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52291"/>
          <a:stretch/>
        </p:blipFill>
        <p:spPr>
          <a:xfrm>
            <a:off x="467544" y="188639"/>
            <a:ext cx="7992888" cy="6498279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4716016" y="2060848"/>
            <a:ext cx="50405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7668344" y="3429000"/>
            <a:ext cx="64807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4644008" y="1556792"/>
            <a:ext cx="648072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148064" y="3501008"/>
            <a:ext cx="648072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115616" y="5229200"/>
            <a:ext cx="64807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971600" y="4725144"/>
            <a:ext cx="792088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1043608" y="6525344"/>
            <a:ext cx="79208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Овал 15"/>
          <p:cNvSpPr/>
          <p:nvPr/>
        </p:nvSpPr>
        <p:spPr>
          <a:xfrm>
            <a:off x="971600" y="6036732"/>
            <a:ext cx="1152128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86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2291" t="-202" r="573" b="202"/>
          <a:stretch/>
        </p:blipFill>
        <p:spPr>
          <a:xfrm>
            <a:off x="611560" y="188640"/>
            <a:ext cx="7848872" cy="6458726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5220072" y="908720"/>
            <a:ext cx="36004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1187624" y="927000"/>
            <a:ext cx="1296144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2627784" y="2204864"/>
            <a:ext cx="72008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5200624" y="1772816"/>
            <a:ext cx="864096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6660232" y="3068960"/>
            <a:ext cx="864096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051720" y="4797152"/>
            <a:ext cx="72008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>
            <a:off x="1979712" y="4290824"/>
            <a:ext cx="864096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2483768" y="6093296"/>
            <a:ext cx="72008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5436096" y="5661248"/>
            <a:ext cx="648072" cy="5040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01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260648"/>
            <a:ext cx="8640960" cy="6336703"/>
          </a:xfrm>
        </p:spPr>
        <p:txBody>
          <a:bodyPr>
            <a:noAutofit/>
          </a:bodyPr>
          <a:lstStyle/>
          <a:p>
            <a:r>
              <a:rPr lang="en-US" sz="8800" dirty="0" smtClean="0"/>
              <a:t>Possessive pronouns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sz="8800" dirty="0" smtClean="0"/>
              <a:t>Притяжательные местоимения</a:t>
            </a:r>
            <a:endParaRPr lang="ru-RU" sz="11500" dirty="0"/>
          </a:p>
        </p:txBody>
      </p:sp>
    </p:spTree>
    <p:extLst>
      <p:ext uri="{BB962C8B-B14F-4D97-AF65-F5344CB8AC3E}">
        <p14:creationId xmlns:p14="http://schemas.microsoft.com/office/powerpoint/2010/main" val="288636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42872"/>
            <a:ext cx="8928992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100" dirty="0"/>
              <a:t>В английском языке также, как и в русском, есть слова, </a:t>
            </a:r>
            <a:r>
              <a:rPr lang="ru-RU" sz="3100" dirty="0" smtClean="0"/>
              <a:t>отвечающие </a:t>
            </a:r>
            <a:r>
              <a:rPr lang="ru-RU" sz="3100" dirty="0"/>
              <a:t>на вопросы (чей?), (чья?), (чьё?), (чьи?) и </a:t>
            </a:r>
            <a:r>
              <a:rPr lang="ru-RU" sz="3100" dirty="0" smtClean="0"/>
              <a:t>указывающие </a:t>
            </a:r>
            <a:r>
              <a:rPr lang="ru-RU" sz="3100" dirty="0"/>
              <a:t>на то, кому принадлежит </a:t>
            </a:r>
            <a:r>
              <a:rPr lang="ru-RU" sz="3100" dirty="0" smtClean="0"/>
              <a:t>предмет:</a:t>
            </a:r>
            <a:r>
              <a:rPr lang="ru-RU" sz="3100" dirty="0"/>
              <a:t> </a:t>
            </a:r>
            <a:r>
              <a:rPr lang="ru-RU" sz="3100" i="1" dirty="0"/>
              <a:t>мой, твой, ваш, наш, его, её, их.</a:t>
            </a:r>
            <a:endParaRPr lang="ru-RU" sz="3100" dirty="0"/>
          </a:p>
          <a:p>
            <a:r>
              <a:rPr lang="ru-RU" sz="3100" dirty="0"/>
              <a:t>В русском языке данные слова рассматриваются как притяжательные местоимения, в английском же ситуация несколько иная, так как выделяется две группы слов, соответствующих русским притяжательным </a:t>
            </a:r>
            <a:r>
              <a:rPr lang="ru-RU" sz="3100" dirty="0" smtClean="0"/>
              <a:t>местоимениям:</a:t>
            </a:r>
            <a:endParaRPr lang="ru-RU" sz="31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100" b="1" dirty="0" smtClean="0"/>
              <a:t> </a:t>
            </a:r>
            <a:r>
              <a:rPr lang="ru-RU" sz="3100" b="1" dirty="0" err="1" smtClean="0"/>
              <a:t>Possessive</a:t>
            </a:r>
            <a:r>
              <a:rPr lang="ru-RU" sz="3100" b="1" dirty="0" smtClean="0"/>
              <a:t> </a:t>
            </a:r>
            <a:r>
              <a:rPr lang="ru-RU" sz="3100" b="1" dirty="0" err="1"/>
              <a:t>Adjectives</a:t>
            </a:r>
            <a:r>
              <a:rPr lang="ru-RU" sz="3100" dirty="0"/>
              <a:t> (притяжательные </a:t>
            </a:r>
            <a:r>
              <a:rPr lang="ru-RU" sz="3100" dirty="0" smtClean="0"/>
              <a:t>прилагательные)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100" b="1" dirty="0" smtClean="0"/>
              <a:t> </a:t>
            </a:r>
            <a:r>
              <a:rPr lang="ru-RU" sz="3100" b="1" dirty="0" err="1" smtClean="0"/>
              <a:t>Possessive</a:t>
            </a:r>
            <a:r>
              <a:rPr lang="ru-RU" sz="3100" b="1" dirty="0" smtClean="0"/>
              <a:t> </a:t>
            </a:r>
            <a:r>
              <a:rPr lang="ru-RU" sz="3100" b="1" dirty="0" err="1"/>
              <a:t>Pronouns</a:t>
            </a:r>
            <a:r>
              <a:rPr lang="ru-RU" sz="3100" dirty="0"/>
              <a:t> (притяжательные </a:t>
            </a:r>
            <a:r>
              <a:rPr lang="ru-RU" sz="3100" dirty="0" smtClean="0"/>
              <a:t>местоимения)</a:t>
            </a:r>
            <a:endParaRPr lang="ru-RU" sz="31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071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1257722"/>
            <a:ext cx="885698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Притяжательные прилагательные (</a:t>
            </a:r>
            <a:r>
              <a:rPr lang="ru-RU" sz="3200" dirty="0" err="1"/>
              <a:t>Possessive</a:t>
            </a:r>
            <a:r>
              <a:rPr lang="ru-RU" sz="3200" dirty="0"/>
              <a:t> </a:t>
            </a:r>
            <a:r>
              <a:rPr lang="ru-RU" sz="3200" dirty="0" err="1"/>
              <a:t>Adjectives</a:t>
            </a:r>
            <a:r>
              <a:rPr lang="ru-RU" sz="3200" dirty="0"/>
              <a:t>) употребляются </a:t>
            </a:r>
            <a:r>
              <a:rPr lang="ru-RU" sz="3200" u="sng" dirty="0"/>
              <a:t>только в сочетании с существительными</a:t>
            </a:r>
            <a:r>
              <a:rPr lang="ru-RU" sz="3200" dirty="0" smtClean="0"/>
              <a:t>.</a:t>
            </a:r>
          </a:p>
          <a:p>
            <a:endParaRPr lang="ru-RU" sz="3200" dirty="0"/>
          </a:p>
          <a:p>
            <a:r>
              <a:rPr lang="ru-RU" sz="3200" dirty="0"/>
              <a:t>Притяжательные местоимения (</a:t>
            </a:r>
            <a:r>
              <a:rPr lang="ru-RU" sz="3200" dirty="0" err="1"/>
              <a:t>Possessive</a:t>
            </a:r>
            <a:r>
              <a:rPr lang="ru-RU" sz="3200" dirty="0"/>
              <a:t> </a:t>
            </a:r>
            <a:r>
              <a:rPr lang="ru-RU" sz="3200" dirty="0" err="1"/>
              <a:t>Pronouns</a:t>
            </a:r>
            <a:r>
              <a:rPr lang="ru-RU" sz="3200" dirty="0"/>
              <a:t>) употребляются </a:t>
            </a:r>
            <a:r>
              <a:rPr lang="ru-RU" sz="3200" u="sng" dirty="0"/>
              <a:t>самостоятельно, вместо существительных</a:t>
            </a:r>
            <a:r>
              <a:rPr lang="ru-RU" sz="3200" dirty="0"/>
              <a:t>.</a:t>
            </a:r>
            <a:endParaRPr lang="ru-RU" sz="32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648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80"/>
            <a:ext cx="915397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6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9632" y="31506"/>
            <a:ext cx="6768752" cy="678187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699792" y="692696"/>
            <a:ext cx="9220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My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207524" y="1353886"/>
            <a:ext cx="13644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Their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160815" y="2015076"/>
            <a:ext cx="121013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Your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194382" y="2686578"/>
            <a:ext cx="10134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Her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194382" y="3309034"/>
            <a:ext cx="73770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Its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160814" y="4014030"/>
            <a:ext cx="105189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Our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106694" y="4685532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His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279532" y="5323855"/>
            <a:ext cx="13644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Their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733358" y="6011713"/>
            <a:ext cx="92204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My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5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332656"/>
            <a:ext cx="8712968" cy="5988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It is </a:t>
            </a:r>
            <a:r>
              <a:rPr lang="en-US" sz="4800" b="1" dirty="0">
                <a:ea typeface="Calibri" panose="020F0502020204030204" pitchFamily="34" charset="0"/>
                <a:cs typeface="Times New Roman" panose="02020603050405020304" pitchFamily="18" charset="0"/>
              </a:rPr>
              <a:t>my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cat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 This cat is _______ .</a:t>
            </a:r>
            <a:endParaRPr lang="ru-RU" sz="4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It is </a:t>
            </a:r>
            <a:r>
              <a:rPr lang="en-US" sz="4800" b="1" dirty="0">
                <a:ea typeface="Calibri" panose="020F0502020204030204" pitchFamily="34" charset="0"/>
                <a:cs typeface="Times New Roman" panose="02020603050405020304" pitchFamily="18" charset="0"/>
              </a:rPr>
              <a:t>your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cat.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This cat is _______ .</a:t>
            </a:r>
            <a:endParaRPr lang="en-US" sz="48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8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his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cat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This cat is _______ .</a:t>
            </a:r>
            <a:endParaRPr lang="ru-RU" sz="4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It is </a:t>
            </a:r>
            <a:r>
              <a:rPr lang="en-US" sz="48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her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cat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This cat is _______ .</a:t>
            </a:r>
            <a:endParaRPr lang="ru-RU" sz="4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It is </a:t>
            </a:r>
            <a:r>
              <a:rPr lang="en-US" sz="48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its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toy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This cat is _______ .</a:t>
            </a:r>
            <a:endParaRPr lang="ru-RU" sz="4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It is </a:t>
            </a:r>
            <a:r>
              <a:rPr lang="en-US" sz="48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our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cat</a:t>
            </a:r>
            <a:r>
              <a:rPr lang="en-US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This cat is _______ .</a:t>
            </a:r>
            <a:endParaRPr lang="ru-RU" sz="4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It is </a:t>
            </a:r>
            <a:r>
              <a:rPr lang="en-US" sz="48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their 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cat</a:t>
            </a:r>
            <a:r>
              <a:rPr lang="ru-RU" sz="48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4800" dirty="0">
                <a:ea typeface="Calibri" panose="020F0502020204030204" pitchFamily="34" charset="0"/>
                <a:cs typeface="Times New Roman" panose="02020603050405020304" pitchFamily="18" charset="0"/>
              </a:rPr>
              <a:t> This cat is _______ .</a:t>
            </a:r>
            <a:endParaRPr lang="ru-RU" sz="4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28184" y="476672"/>
            <a:ext cx="13420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mine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516216" y="1269001"/>
            <a:ext cx="14364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yours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228184" y="2182458"/>
            <a:ext cx="8322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his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228184" y="2974787"/>
            <a:ext cx="11705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hers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142423" y="3855738"/>
            <a:ext cx="7248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its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228184" y="4648308"/>
            <a:ext cx="118814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ours</a:t>
            </a:r>
            <a:endParaRPr lang="ru-RU" sz="4400" dirty="0">
              <a:solidFill>
                <a:srgbClr val="0070C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727680" y="5484827"/>
            <a:ext cx="14895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theirs</a:t>
            </a:r>
            <a:endParaRPr lang="ru-RU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66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24704" y="2276872"/>
            <a:ext cx="529459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Тесты на платформе </a:t>
            </a:r>
            <a:endParaRPr lang="en-US" sz="4400" b="1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google classroom 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230791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" y="931103"/>
            <a:ext cx="9143999" cy="1142249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525" b="1" dirty="0"/>
              <a:t>Как присоединиться по </a:t>
            </a:r>
            <a:r>
              <a:rPr lang="en-US" sz="6525" b="1" dirty="0"/>
              <a:t>QR </a:t>
            </a:r>
            <a:r>
              <a:rPr lang="ru-RU" sz="6525" b="1" dirty="0"/>
              <a:t>коду. </a:t>
            </a:r>
          </a:p>
          <a:p>
            <a:r>
              <a:rPr lang="ru-RU" sz="4500" dirty="0"/>
              <a:t>1. Навести камеру на </a:t>
            </a:r>
            <a:r>
              <a:rPr lang="en-US" sz="4500" dirty="0"/>
              <a:t>QR </a:t>
            </a:r>
            <a:r>
              <a:rPr lang="ru-RU" sz="4500" dirty="0"/>
              <a:t>код и перейти по ссылке</a:t>
            </a:r>
            <a:endParaRPr lang="ru-RU" sz="45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99" y="2250868"/>
            <a:ext cx="6808670" cy="3580856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5802924" y="2073352"/>
            <a:ext cx="2226212" cy="30176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08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126" y="951731"/>
            <a:ext cx="8883748" cy="994172"/>
          </a:xfrm>
        </p:spPr>
        <p:txBody>
          <a:bodyPr>
            <a:noAutofit/>
          </a:bodyPr>
          <a:lstStyle/>
          <a:p>
            <a:r>
              <a:rPr lang="en-US" dirty="0" smtClean="0"/>
              <a:t>2. </a:t>
            </a:r>
            <a:r>
              <a:rPr lang="ru-RU" dirty="0" smtClean="0"/>
              <a:t>Создать почту или войти в свою почту </a:t>
            </a:r>
            <a:r>
              <a:rPr lang="en-US" dirty="0" smtClean="0"/>
              <a:t>google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6620"/>
          <a:stretch/>
        </p:blipFill>
        <p:spPr>
          <a:xfrm>
            <a:off x="4859324" y="2228850"/>
            <a:ext cx="3989256" cy="37719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17" y="2117472"/>
            <a:ext cx="3836083" cy="419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2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126" y="951731"/>
            <a:ext cx="8883748" cy="994172"/>
          </a:xfrm>
        </p:spPr>
        <p:txBody>
          <a:bodyPr>
            <a:noAutofit/>
          </a:bodyPr>
          <a:lstStyle/>
          <a:p>
            <a:r>
              <a:rPr lang="en-US" dirty="0" smtClean="0"/>
              <a:t>3. </a:t>
            </a:r>
            <a:r>
              <a:rPr lang="ru-RU" dirty="0" smtClean="0"/>
              <a:t>Нажать на кнопку присоединиться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t="66873"/>
          <a:stretch/>
        </p:blipFill>
        <p:spPr>
          <a:xfrm>
            <a:off x="893518" y="2398489"/>
            <a:ext cx="7026167" cy="4054847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5918982" y="2294920"/>
            <a:ext cx="1403252" cy="10496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63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363" r="28993" b="71234"/>
          <a:stretch/>
        </p:blipFill>
        <p:spPr>
          <a:xfrm>
            <a:off x="126610" y="2530930"/>
            <a:ext cx="8862646" cy="2729883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" y="931106"/>
            <a:ext cx="9143999" cy="144822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525" b="1" dirty="0"/>
              <a:t>Как присоединиться по коду. </a:t>
            </a:r>
          </a:p>
          <a:p>
            <a:r>
              <a:rPr lang="ru-RU" sz="4500" dirty="0"/>
              <a:t>1. </a:t>
            </a:r>
            <a:r>
              <a:rPr lang="ru-RU" sz="4500" dirty="0"/>
              <a:t>В</a:t>
            </a:r>
            <a:r>
              <a:rPr lang="ru-RU" sz="4500" dirty="0"/>
              <a:t> поисковике написать </a:t>
            </a:r>
            <a:r>
              <a:rPr lang="en-US" sz="4500" dirty="0"/>
              <a:t>google classroom</a:t>
            </a:r>
            <a:r>
              <a:rPr lang="ru-RU" sz="4500" dirty="0"/>
              <a:t> и перейти по ссылке</a:t>
            </a:r>
            <a:endParaRPr lang="ru-RU" sz="45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4378570" y="2379327"/>
            <a:ext cx="1403252" cy="10496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399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3" y="1340228"/>
            <a:ext cx="8947052" cy="454312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474" y="857251"/>
            <a:ext cx="5356274" cy="994172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sz="4950" dirty="0"/>
              <a:t>2. </a:t>
            </a:r>
            <a:r>
              <a:rPr lang="ru-RU" sz="4950" dirty="0"/>
              <a:t>Нажать </a:t>
            </a:r>
            <a:r>
              <a:rPr lang="en-US" sz="6600" dirty="0"/>
              <a:t>sign in </a:t>
            </a:r>
            <a:endParaRPr lang="ru-RU" sz="4950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648243" y="1754066"/>
            <a:ext cx="1413804" cy="33762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flipV="1">
            <a:off x="5222631" y="1448094"/>
            <a:ext cx="3376246" cy="105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94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126" y="951731"/>
            <a:ext cx="8883748" cy="994172"/>
          </a:xfrm>
        </p:spPr>
        <p:txBody>
          <a:bodyPr>
            <a:noAutofit/>
          </a:bodyPr>
          <a:lstStyle/>
          <a:p>
            <a:r>
              <a:rPr lang="en-US" dirty="0" smtClean="0"/>
              <a:t>3. </a:t>
            </a:r>
            <a:r>
              <a:rPr lang="ru-RU" dirty="0" smtClean="0"/>
              <a:t>Создать почту или войти в свою почту </a:t>
            </a:r>
            <a:r>
              <a:rPr lang="en-US" dirty="0" smtClean="0"/>
              <a:t>google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16620"/>
          <a:stretch/>
        </p:blipFill>
        <p:spPr>
          <a:xfrm>
            <a:off x="4859324" y="2228850"/>
            <a:ext cx="3989256" cy="37719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17" y="2189480"/>
            <a:ext cx="3836083" cy="419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8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9576" y="857250"/>
            <a:ext cx="8904849" cy="1088653"/>
          </a:xfrm>
        </p:spPr>
        <p:txBody>
          <a:bodyPr>
            <a:normAutofit fontScale="90000"/>
          </a:bodyPr>
          <a:lstStyle/>
          <a:p>
            <a:r>
              <a:rPr lang="en-US" sz="4950" dirty="0"/>
              <a:t>4. </a:t>
            </a:r>
            <a:r>
              <a:rPr lang="ru-RU" sz="4950" dirty="0"/>
              <a:t>Нажать на + и присоединиться в правом верхнем углу</a:t>
            </a:r>
            <a:endParaRPr lang="ru-RU" sz="495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19180"/>
          <a:stretch/>
        </p:blipFill>
        <p:spPr>
          <a:xfrm>
            <a:off x="2029265" y="2068021"/>
            <a:ext cx="5085470" cy="393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7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507" y="951731"/>
            <a:ext cx="8894300" cy="99417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5. Ввести код курса и нажать на </a:t>
            </a:r>
            <a:r>
              <a:rPr lang="ru-RU" b="1" dirty="0" smtClean="0"/>
              <a:t>присоединиться</a:t>
            </a:r>
            <a:r>
              <a:rPr lang="ru-RU" dirty="0" smtClean="0"/>
              <a:t> в правом верхнем углу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b="19065"/>
          <a:stretch/>
        </p:blipFill>
        <p:spPr>
          <a:xfrm>
            <a:off x="105507" y="3626826"/>
            <a:ext cx="8894989" cy="23739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26720" t="75325" r="28080" b="14590"/>
          <a:stretch/>
        </p:blipFill>
        <p:spPr>
          <a:xfrm>
            <a:off x="5824025" y="2122552"/>
            <a:ext cx="3175782" cy="1234440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2141806" y="2410977"/>
            <a:ext cx="2226212" cy="30176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 flipV="1">
            <a:off x="7628207" y="3118649"/>
            <a:ext cx="94957" cy="18225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45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957" y="1015513"/>
            <a:ext cx="9049043" cy="1213339"/>
          </a:xfrm>
        </p:spPr>
        <p:txBody>
          <a:bodyPr>
            <a:noAutofit/>
          </a:bodyPr>
          <a:lstStyle/>
          <a:p>
            <a:r>
              <a:rPr lang="ru-RU" sz="4500" dirty="0"/>
              <a:t>Если не один из этих способов не получился – напишите мне на почту</a:t>
            </a:r>
            <a:endParaRPr lang="ru-RU" sz="45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3953" y="3290501"/>
            <a:ext cx="891609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dirty="0"/>
              <a:t>perelyginajul@gmail.com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80445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70384" y="260648"/>
            <a:ext cx="6858000" cy="62782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Заочное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8049" y="1006181"/>
            <a:ext cx="86973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700" dirty="0"/>
              <a:t>https://classroom.google.com/c/NjU0MzE3MzQzMDc1?cjc=s4fbeho</a:t>
            </a:r>
            <a:endParaRPr lang="ru-RU" sz="27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08374" y="3934405"/>
            <a:ext cx="206498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/>
              <a:t>КОД</a:t>
            </a:r>
          </a:p>
          <a:p>
            <a:endParaRPr lang="ru-RU" sz="4400" b="1" dirty="0"/>
          </a:p>
          <a:p>
            <a:r>
              <a:rPr lang="en-GB" sz="4400" b="1" dirty="0"/>
              <a:t>s4fbeho</a:t>
            </a:r>
            <a:endParaRPr lang="ru-RU" sz="4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929511"/>
            <a:ext cx="4753174" cy="463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4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957" y="2431685"/>
            <a:ext cx="9049043" cy="1213339"/>
          </a:xfrm>
        </p:spPr>
        <p:txBody>
          <a:bodyPr>
            <a:noAutofit/>
          </a:bodyPr>
          <a:lstStyle/>
          <a:p>
            <a:r>
              <a:rPr lang="en-US" sz="9600" dirty="0" smtClean="0"/>
              <a:t>The end</a:t>
            </a:r>
            <a:endParaRPr lang="ru-RU" sz="9600" dirty="0"/>
          </a:p>
        </p:txBody>
      </p:sp>
    </p:spTree>
    <p:extLst>
      <p:ext uri="{BB962C8B-B14F-4D97-AF65-F5344CB8AC3E}">
        <p14:creationId xmlns:p14="http://schemas.microsoft.com/office/powerpoint/2010/main" val="109294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</TotalTime>
  <Words>658</Words>
  <Application>Microsoft Office PowerPoint</Application>
  <PresentationFormat>Экран (4:3)</PresentationFormat>
  <Paragraphs>88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 New Roman</vt:lpstr>
      <vt:lpstr>Тема Office</vt:lpstr>
      <vt:lpstr>Презентация PowerPoint</vt:lpstr>
      <vt:lpstr>Pronouns Местоимения</vt:lpstr>
      <vt:lpstr>Презентация PowerPoint</vt:lpstr>
      <vt:lpstr>Personal pronouns   Личные местоимения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Possessive pronouns   Притяжательные местоимения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Создать почту или войти в свою почту google</vt:lpstr>
      <vt:lpstr>3. Нажать на кнопку присоединиться</vt:lpstr>
      <vt:lpstr>Презентация PowerPoint</vt:lpstr>
      <vt:lpstr>2. Нажать sign in </vt:lpstr>
      <vt:lpstr>3. Создать почту или войти в свою почту google</vt:lpstr>
      <vt:lpstr>4. Нажать на + и присоединиться в правом верхнем углу</vt:lpstr>
      <vt:lpstr>5. Ввести код курса и нажать на присоединиться в правом верхнем углу</vt:lpstr>
      <vt:lpstr>Если не один из этих способов не получился – напишите мне на почту</vt:lpstr>
      <vt:lpstr>Заочное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Tenses</dc:title>
  <dc:creator>student</dc:creator>
  <cp:lastModifiedBy>July</cp:lastModifiedBy>
  <cp:revision>62</cp:revision>
  <dcterms:created xsi:type="dcterms:W3CDTF">2023-09-06T06:40:24Z</dcterms:created>
  <dcterms:modified xsi:type="dcterms:W3CDTF">2024-01-14T17:46:26Z</dcterms:modified>
</cp:coreProperties>
</file>