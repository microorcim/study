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57" r:id="rId4"/>
    <p:sldId id="267" r:id="rId5"/>
    <p:sldId id="269" r:id="rId6"/>
    <p:sldId id="260" r:id="rId7"/>
    <p:sldId id="290" r:id="rId8"/>
    <p:sldId id="291" r:id="rId9"/>
    <p:sldId id="292" r:id="rId10"/>
    <p:sldId id="264" r:id="rId11"/>
    <p:sldId id="272" r:id="rId12"/>
    <p:sldId id="261" r:id="rId13"/>
    <p:sldId id="293" r:id="rId14"/>
    <p:sldId id="294" r:id="rId15"/>
    <p:sldId id="295" r:id="rId16"/>
    <p:sldId id="273" r:id="rId17"/>
    <p:sldId id="262" r:id="rId18"/>
    <p:sldId id="296" r:id="rId19"/>
    <p:sldId id="297" r:id="rId20"/>
    <p:sldId id="298" r:id="rId21"/>
    <p:sldId id="268" r:id="rId22"/>
    <p:sldId id="386" r:id="rId23"/>
    <p:sldId id="259" r:id="rId24"/>
    <p:sldId id="278" r:id="rId25"/>
    <p:sldId id="300" r:id="rId26"/>
    <p:sldId id="302" r:id="rId27"/>
    <p:sldId id="303" r:id="rId28"/>
    <p:sldId id="304" r:id="rId29"/>
    <p:sldId id="275" r:id="rId30"/>
    <p:sldId id="299" r:id="rId31"/>
    <p:sldId id="308" r:id="rId32"/>
    <p:sldId id="309" r:id="rId33"/>
    <p:sldId id="310" r:id="rId34"/>
    <p:sldId id="311" r:id="rId35"/>
    <p:sldId id="280" r:id="rId36"/>
    <p:sldId id="320" r:id="rId37"/>
    <p:sldId id="312" r:id="rId38"/>
    <p:sldId id="313" r:id="rId39"/>
    <p:sldId id="314" r:id="rId40"/>
    <p:sldId id="317" r:id="rId41"/>
    <p:sldId id="318" r:id="rId42"/>
    <p:sldId id="319" r:id="rId43"/>
    <p:sldId id="321" r:id="rId44"/>
    <p:sldId id="326" r:id="rId45"/>
    <p:sldId id="387" r:id="rId46"/>
    <p:sldId id="388" r:id="rId47"/>
    <p:sldId id="324" r:id="rId48"/>
    <p:sldId id="325" r:id="rId49"/>
    <p:sldId id="279" r:id="rId50"/>
    <p:sldId id="284" r:id="rId51"/>
    <p:sldId id="323" r:id="rId52"/>
    <p:sldId id="283" r:id="rId53"/>
    <p:sldId id="282" r:id="rId54"/>
    <p:sldId id="285" r:id="rId55"/>
    <p:sldId id="327" r:id="rId56"/>
    <p:sldId id="389" r:id="rId57"/>
    <p:sldId id="390" r:id="rId58"/>
    <p:sldId id="329" r:id="rId59"/>
    <p:sldId id="330" r:id="rId60"/>
    <p:sldId id="331" r:id="rId61"/>
    <p:sldId id="332" r:id="rId62"/>
    <p:sldId id="334" r:id="rId63"/>
    <p:sldId id="339" r:id="rId64"/>
    <p:sldId id="343" r:id="rId65"/>
    <p:sldId id="344" r:id="rId66"/>
    <p:sldId id="345" r:id="rId67"/>
    <p:sldId id="346" r:id="rId68"/>
    <p:sldId id="352" r:id="rId69"/>
    <p:sldId id="353" r:id="rId70"/>
    <p:sldId id="354" r:id="rId71"/>
    <p:sldId id="355" r:id="rId72"/>
    <p:sldId id="356" r:id="rId73"/>
    <p:sldId id="347" r:id="rId74"/>
    <p:sldId id="348" r:id="rId75"/>
    <p:sldId id="349" r:id="rId76"/>
    <p:sldId id="350" r:id="rId77"/>
    <p:sldId id="351" r:id="rId78"/>
    <p:sldId id="357" r:id="rId79"/>
    <p:sldId id="358" r:id="rId80"/>
    <p:sldId id="359" r:id="rId81"/>
    <p:sldId id="360" r:id="rId82"/>
    <p:sldId id="361" r:id="rId83"/>
    <p:sldId id="364" r:id="rId84"/>
    <p:sldId id="335" r:id="rId85"/>
    <p:sldId id="336" r:id="rId86"/>
    <p:sldId id="338" r:id="rId87"/>
    <p:sldId id="392" r:id="rId88"/>
    <p:sldId id="362" r:id="rId89"/>
    <p:sldId id="363" r:id="rId90"/>
    <p:sldId id="367" r:id="rId91"/>
    <p:sldId id="374" r:id="rId92"/>
    <p:sldId id="372" r:id="rId93"/>
    <p:sldId id="376" r:id="rId94"/>
    <p:sldId id="377" r:id="rId95"/>
    <p:sldId id="380" r:id="rId96"/>
    <p:sldId id="381" r:id="rId97"/>
    <p:sldId id="382" r:id="rId98"/>
    <p:sldId id="378" r:id="rId99"/>
    <p:sldId id="379" r:id="rId100"/>
    <p:sldId id="383" r:id="rId101"/>
    <p:sldId id="384" r:id="rId102"/>
    <p:sldId id="385" r:id="rId103"/>
    <p:sldId id="375" r:id="rId10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 tenses" id="{ED136820-65BE-4260-84CE-4827D2E67D57}">
          <p14:sldIdLst>
            <p14:sldId id="256"/>
            <p14:sldId id="289"/>
          </p14:sldIdLst>
        </p14:section>
        <p14:section name="To be" id="{5664A952-B54F-4EC5-BB3A-695093A2AEAB}">
          <p14:sldIdLst>
            <p14:sldId id="257"/>
            <p14:sldId id="267"/>
            <p14:sldId id="269"/>
            <p14:sldId id="260"/>
            <p14:sldId id="290"/>
            <p14:sldId id="291"/>
            <p14:sldId id="292"/>
            <p14:sldId id="264"/>
            <p14:sldId id="272"/>
            <p14:sldId id="261"/>
            <p14:sldId id="293"/>
            <p14:sldId id="294"/>
            <p14:sldId id="295"/>
            <p14:sldId id="273"/>
            <p14:sldId id="262"/>
            <p14:sldId id="296"/>
            <p14:sldId id="297"/>
            <p14:sldId id="298"/>
            <p14:sldId id="268"/>
            <p14:sldId id="386"/>
          </p14:sldIdLst>
        </p14:section>
        <p14:section name="Present Simple" id="{78E8D9DF-BF1D-4581-862A-D87A7969F71C}">
          <p14:sldIdLst>
            <p14:sldId id="259"/>
            <p14:sldId id="278"/>
            <p14:sldId id="300"/>
            <p14:sldId id="302"/>
            <p14:sldId id="303"/>
            <p14:sldId id="304"/>
            <p14:sldId id="275"/>
            <p14:sldId id="299"/>
            <p14:sldId id="308"/>
            <p14:sldId id="309"/>
            <p14:sldId id="310"/>
            <p14:sldId id="311"/>
            <p14:sldId id="280"/>
            <p14:sldId id="320"/>
            <p14:sldId id="312"/>
            <p14:sldId id="313"/>
            <p14:sldId id="314"/>
            <p14:sldId id="317"/>
            <p14:sldId id="318"/>
            <p14:sldId id="319"/>
            <p14:sldId id="321"/>
            <p14:sldId id="326"/>
            <p14:sldId id="387"/>
            <p14:sldId id="388"/>
          </p14:sldIdLst>
        </p14:section>
        <p14:section name="Present Continuous" id="{26A691C5-8F8A-4672-990D-A8DFF8903EF9}">
          <p14:sldIdLst>
            <p14:sldId id="324"/>
            <p14:sldId id="325"/>
            <p14:sldId id="279"/>
            <p14:sldId id="284"/>
            <p14:sldId id="323"/>
            <p14:sldId id="283"/>
            <p14:sldId id="282"/>
            <p14:sldId id="285"/>
            <p14:sldId id="327"/>
            <p14:sldId id="389"/>
            <p14:sldId id="390"/>
          </p14:sldIdLst>
        </p14:section>
        <p14:section name="Present Perfect" id="{21B9C129-6263-474D-BCC2-7D2EB079D801}">
          <p14:sldIdLst>
            <p14:sldId id="329"/>
            <p14:sldId id="330"/>
            <p14:sldId id="331"/>
            <p14:sldId id="332"/>
            <p14:sldId id="334"/>
            <p14:sldId id="339"/>
            <p14:sldId id="343"/>
            <p14:sldId id="344"/>
            <p14:sldId id="345"/>
            <p14:sldId id="346"/>
            <p14:sldId id="352"/>
            <p14:sldId id="353"/>
            <p14:sldId id="354"/>
            <p14:sldId id="355"/>
            <p14:sldId id="356"/>
            <p14:sldId id="347"/>
            <p14:sldId id="348"/>
            <p14:sldId id="349"/>
            <p14:sldId id="350"/>
            <p14:sldId id="351"/>
            <p14:sldId id="357"/>
            <p14:sldId id="358"/>
            <p14:sldId id="359"/>
            <p14:sldId id="360"/>
            <p14:sldId id="361"/>
            <p14:sldId id="364"/>
            <p14:sldId id="335"/>
            <p14:sldId id="336"/>
            <p14:sldId id="338"/>
            <p14:sldId id="392"/>
          </p14:sldIdLst>
        </p14:section>
        <p14:section name="Present Perfect C." id="{6993A3AD-472E-4A20-9ADF-0905769A0D0D}">
          <p14:sldIdLst>
            <p14:sldId id="362"/>
            <p14:sldId id="363"/>
            <p14:sldId id="367"/>
            <p14:sldId id="374"/>
            <p14:sldId id="372"/>
            <p14:sldId id="376"/>
            <p14:sldId id="377"/>
            <p14:sldId id="380"/>
            <p14:sldId id="381"/>
            <p14:sldId id="382"/>
            <p14:sldId id="378"/>
            <p14:sldId id="379"/>
            <p14:sldId id="383"/>
            <p14:sldId id="384"/>
            <p14:sldId id="385"/>
            <p14:sldId id="3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 autoAdjust="0"/>
    <p:restoredTop sz="94660"/>
  </p:normalViewPr>
  <p:slideViewPr>
    <p:cSldViewPr>
      <p:cViewPr varScale="1">
        <p:scale>
          <a:sx n="105" d="100"/>
          <a:sy n="105" d="100"/>
        </p:scale>
        <p:origin x="217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3800" dirty="0" smtClean="0"/>
              <a:t>Present Tenses</a:t>
            </a:r>
            <a:endParaRPr lang="ru-RU" sz="13800" dirty="0"/>
          </a:p>
        </p:txBody>
      </p:sp>
    </p:spTree>
    <p:extLst>
      <p:ext uri="{BB962C8B-B14F-4D97-AF65-F5344CB8AC3E}">
        <p14:creationId xmlns:p14="http://schemas.microsoft.com/office/powerpoint/2010/main" val="903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2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6371" y="79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Personal pronouns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Личные местоимения</a:t>
            </a:r>
            <a:endParaRPr lang="ru-RU" dirty="0"/>
          </a:p>
        </p:txBody>
      </p:sp>
      <p:sp>
        <p:nvSpPr>
          <p:cNvPr id="4" name="AutoShape 2" descr="Личные местоимения. Глагол to be настоящего времени. | ВКонтакт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Личные местоимения. Глагол to be настоящего времени. | ВКонтакте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Личные местоимения. Глагол to be настоящего времени. | ВКонтакт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124744"/>
            <a:ext cx="8662377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582727" y="53732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He, she – </a:t>
            </a:r>
            <a:r>
              <a:rPr lang="ru-RU" dirty="0" smtClean="0"/>
              <a:t>люди, </a:t>
            </a:r>
            <a:r>
              <a:rPr lang="en-US" dirty="0" smtClean="0"/>
              <a:t>it – </a:t>
            </a:r>
            <a:r>
              <a:rPr lang="ru-RU" dirty="0" smtClean="0"/>
              <a:t>всё остальное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815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171400"/>
            <a:ext cx="8229600" cy="1143000"/>
          </a:xfrm>
        </p:spPr>
        <p:txBody>
          <a:bodyPr/>
          <a:lstStyle/>
          <a:p>
            <a:r>
              <a:rPr lang="ru-RU" dirty="0" smtClean="0"/>
              <a:t>Глагол </a:t>
            </a:r>
            <a:r>
              <a:rPr lang="en-US" dirty="0" smtClean="0"/>
              <a:t>to be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202" y="692696"/>
            <a:ext cx="9011798" cy="1036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Мы используем глагол </a:t>
            </a:r>
            <a:r>
              <a:rPr lang="en-US" b="1" dirty="0" smtClean="0"/>
              <a:t>to be</a:t>
            </a:r>
            <a:r>
              <a:rPr lang="en-US" dirty="0" smtClean="0"/>
              <a:t>, </a:t>
            </a:r>
            <a:r>
              <a:rPr lang="ru-RU" dirty="0" smtClean="0"/>
              <a:t>когда в предложении нет смыслового глагола.</a:t>
            </a:r>
            <a:endParaRPr lang="ru-RU" dirty="0"/>
          </a:p>
        </p:txBody>
      </p:sp>
      <p:pic>
        <p:nvPicPr>
          <p:cNvPr id="2050" name="Picture 2" descr="Глагол to be (am, is, are) в настоящем времени в английском язык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4"/>
          <a:stretch/>
        </p:blipFill>
        <p:spPr bwMode="auto">
          <a:xfrm>
            <a:off x="132202" y="1835696"/>
            <a:ext cx="8910466" cy="486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58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ultiurok.ru/img/1545577/image_62b94f1548e7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" r="5558"/>
          <a:stretch/>
        </p:blipFill>
        <p:spPr bwMode="auto">
          <a:xfrm>
            <a:off x="107504" y="787118"/>
            <a:ext cx="8856984" cy="5333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8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643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8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698380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Tom?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698380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8548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74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Tom?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. No,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am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698380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8548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47924" y="5117544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6660232" y="5100032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09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 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87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272760" y="2420888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2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272760" y="2420888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159732" y="3354720"/>
            <a:ext cx="509072" cy="22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65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Tom?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272760" y="2420888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159732" y="3354720"/>
            <a:ext cx="509072" cy="22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6027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Tom.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Tom?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. No,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272760" y="2420888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159732" y="3354720"/>
            <a:ext cx="509072" cy="22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6027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243968" y="5117544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7056276" y="5100032"/>
            <a:ext cx="3960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52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Мы студенты.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26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s</a:t>
            </a:r>
            <a:r>
              <a:rPr lang="en-US" sz="4800" dirty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uden</a:t>
            </a:r>
            <a:r>
              <a:rPr lang="en-US" sz="4800" dirty="0" smtClean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s.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Comic Sans MS" panose="030F0702030302020204" pitchFamily="66" charset="0"/>
              </a:rPr>
              <a:t>Y/N</a:t>
            </a:r>
            <a:endParaRPr lang="ru-RU" sz="4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90468" y="243385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2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s</a:t>
            </a:r>
            <a:r>
              <a:rPr lang="en-US" sz="4800" dirty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uden</a:t>
            </a:r>
            <a:r>
              <a:rPr lang="en-US" sz="4800" dirty="0" smtClean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s.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uden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Comic Sans MS" panose="030F0702030302020204" pitchFamily="66" charset="0"/>
              </a:rPr>
              <a:t>Y/N</a:t>
            </a:r>
            <a:endParaRPr lang="ru-RU" sz="4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90468" y="243385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451292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54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s</a:t>
            </a:r>
            <a:r>
              <a:rPr lang="en-US" sz="4800" dirty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uden</a:t>
            </a:r>
            <a:r>
              <a:rPr lang="en-US" sz="4800" dirty="0" smtClean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s.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uden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uden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Comic Sans MS" panose="030F0702030302020204" pitchFamily="66" charset="0"/>
              </a:rPr>
              <a:t>Y/N</a:t>
            </a:r>
            <a:endParaRPr lang="ru-RU" sz="4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90468" y="243385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451292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9628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74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s</a:t>
            </a:r>
            <a:r>
              <a:rPr lang="en-US" sz="4800" dirty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uden</a:t>
            </a:r>
            <a:r>
              <a:rPr lang="en-US" sz="4800" dirty="0" smtClean="0"/>
              <a:t>t</a:t>
            </a:r>
            <a:r>
              <a:rPr lang="en-US" sz="4800" dirty="0" smtClean="0">
                <a:latin typeface="Comic Sans MS" panose="030F0702030302020204" pitchFamily="66" charset="0"/>
              </a:rPr>
              <a:t>s.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uden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Are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uden</a:t>
            </a:r>
            <a:r>
              <a:rPr lang="en-US" sz="4800" dirty="0"/>
              <a:t>t</a:t>
            </a:r>
            <a:r>
              <a:rPr lang="en-US" sz="4800" dirty="0">
                <a:latin typeface="Comic Sans MS" panose="030F0702030302020204" pitchFamily="66" charset="0"/>
              </a:rPr>
              <a:t>s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Comic Sans MS" panose="030F0702030302020204" pitchFamily="66" charset="0"/>
              </a:rPr>
              <a:t>Y/N  Yes, </a:t>
            </a:r>
            <a:r>
              <a:rPr lang="en-US" sz="4400" u="sng" dirty="0" smtClean="0">
                <a:latin typeface="Comic Sans MS" panose="030F0702030302020204" pitchFamily="66" charset="0"/>
              </a:rPr>
              <a:t>we</a:t>
            </a:r>
            <a:r>
              <a:rPr lang="en-US" sz="4400" dirty="0" smtClean="0">
                <a:latin typeface="Comic Sans MS" panose="030F0702030302020204" pitchFamily="66" charset="0"/>
              </a:rPr>
              <a:t> </a:t>
            </a:r>
            <a:r>
              <a:rPr lang="en-US" sz="4400" u="sng" dirty="0" smtClean="0">
                <a:latin typeface="Comic Sans MS" panose="030F0702030302020204" pitchFamily="66" charset="0"/>
              </a:rPr>
              <a:t>are</a:t>
            </a:r>
            <a:r>
              <a:rPr lang="en-US" sz="4400" dirty="0" smtClean="0">
                <a:latin typeface="Comic Sans MS" panose="030F0702030302020204" pitchFamily="66" charset="0"/>
              </a:rPr>
              <a:t>. No, </a:t>
            </a:r>
            <a:r>
              <a:rPr lang="en-US" sz="4400" u="sng" dirty="0" smtClean="0">
                <a:latin typeface="Comic Sans MS" panose="030F0702030302020204" pitchFamily="66" charset="0"/>
              </a:rPr>
              <a:t>we</a:t>
            </a:r>
            <a:r>
              <a:rPr lang="en-US" sz="4400" dirty="0" smtClean="0">
                <a:latin typeface="Comic Sans MS" panose="030F0702030302020204" pitchFamily="66" charset="0"/>
              </a:rPr>
              <a:t> </a:t>
            </a:r>
            <a:r>
              <a:rPr lang="en-US" sz="4400" u="sng" dirty="0" smtClean="0">
                <a:latin typeface="Comic Sans MS" panose="030F0702030302020204" pitchFamily="66" charset="0"/>
              </a:rPr>
              <a:t>are</a:t>
            </a:r>
            <a:r>
              <a:rPr lang="en-US" sz="4400" dirty="0" smtClean="0">
                <a:latin typeface="Comic Sans MS" panose="030F0702030302020204" pitchFamily="66" charset="0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400" dirty="0" smtClean="0">
                <a:latin typeface="Comic Sans MS" panose="030F0702030302020204" pitchFamily="66" charset="0"/>
              </a:rPr>
              <a:t>.</a:t>
            </a:r>
            <a:endParaRPr lang="ru-RU" sz="4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90468" y="243385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451292" y="3354720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304924" y="4209296"/>
            <a:ext cx="9628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923928" y="508169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7056276" y="501317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46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= I’m            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= He’s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= we’re</a:t>
            </a: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not = I’m not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not = he isn’t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not = we aren’t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What is this? = What’s this?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283968" y="112474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600" dirty="0">
                <a:latin typeface="Comic Sans MS" panose="030F0702030302020204" pitchFamily="66" charset="0"/>
              </a:rPr>
              <a:t>Утвердительный краткий ответ не сокращается!</a:t>
            </a:r>
            <a:endParaRPr lang="en-US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07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94913"/>
            <a:ext cx="9144000" cy="394995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899592" y="2132856"/>
            <a:ext cx="9060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am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43808" y="2840644"/>
            <a:ext cx="9258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084168" y="1386295"/>
            <a:ext cx="9060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am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352600" y="4005064"/>
            <a:ext cx="9258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51137" y="4712852"/>
            <a:ext cx="9258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613447" y="2071203"/>
            <a:ext cx="9258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660232" y="3961975"/>
            <a:ext cx="9258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227964" y="3307631"/>
            <a:ext cx="5469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309274" y="2659559"/>
            <a:ext cx="5469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946029" y="3334070"/>
            <a:ext cx="5469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925334" y="4683737"/>
            <a:ext cx="5469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is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9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Present Simple tense</a:t>
            </a:r>
            <a:br>
              <a:rPr lang="en-US" sz="5400" b="1" dirty="0" smtClean="0"/>
            </a:br>
            <a:r>
              <a:rPr lang="ru-RU" sz="5400" b="1" dirty="0" smtClean="0"/>
              <a:t>Простое настоящее время</a:t>
            </a:r>
            <a:endParaRPr lang="ru-RU" sz="5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5516" y="1460053"/>
            <a:ext cx="8712968" cy="5497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simple</a:t>
            </a:r>
            <a:r>
              <a:rPr lang="ru-RU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когда говорим о том, что делаем регулярно или, когда говорим об общеизвестных фактах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4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go to school every day. Fish swim. Birds fly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плаваю.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60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47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1732328" y="2603451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732328" y="3312220"/>
            <a:ext cx="679432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707904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71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1315960" y="3490952"/>
            <a:ext cx="735760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32328" y="2603451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732328" y="3312220"/>
            <a:ext cx="679432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259632" y="42210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707904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771800" y="4166224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13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6548828" y="4352201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3834242" y="4352202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315960" y="3490952"/>
            <a:ext cx="735760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32328" y="2603451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. No,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13681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732328" y="3312220"/>
            <a:ext cx="679432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259632" y="42210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47924" y="5083920"/>
            <a:ext cx="6520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6548828" y="5087016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707904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771800" y="4166224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63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700808"/>
            <a:ext cx="2160240" cy="5760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3068960"/>
            <a:ext cx="8856984" cy="3672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4000" b="1" dirty="0" smtClean="0"/>
              <a:t>Слова</a:t>
            </a:r>
            <a:r>
              <a:rPr lang="en-US" sz="4000" b="1" dirty="0"/>
              <a:t>-</a:t>
            </a:r>
            <a:r>
              <a:rPr lang="ru-RU" sz="4000" b="1" dirty="0"/>
              <a:t>указатели</a:t>
            </a:r>
            <a:r>
              <a:rPr lang="en-US" sz="4000" b="1" dirty="0"/>
              <a:t>:</a:t>
            </a:r>
            <a:r>
              <a:rPr lang="en-US" sz="4000" dirty="0"/>
              <a:t> every day, week, year (</a:t>
            </a:r>
            <a:r>
              <a:rPr lang="ru-RU" sz="4000" dirty="0"/>
              <a:t>каждый день</a:t>
            </a:r>
            <a:r>
              <a:rPr lang="en-US" sz="4000" dirty="0"/>
              <a:t>, </a:t>
            </a:r>
            <a:r>
              <a:rPr lang="ru-RU" sz="4000" dirty="0"/>
              <a:t>неделю</a:t>
            </a:r>
            <a:r>
              <a:rPr lang="en-US" sz="4000" dirty="0"/>
              <a:t>, </a:t>
            </a:r>
            <a:r>
              <a:rPr lang="ru-RU" sz="4000" dirty="0"/>
              <a:t>год</a:t>
            </a:r>
            <a:r>
              <a:rPr lang="en-US" sz="4000" dirty="0"/>
              <a:t>), in the morning, afternoon, evening (</a:t>
            </a:r>
            <a:r>
              <a:rPr lang="ru-RU" sz="4000" dirty="0"/>
              <a:t>утром</a:t>
            </a:r>
            <a:r>
              <a:rPr lang="en-US" sz="4000" dirty="0"/>
              <a:t>, </a:t>
            </a:r>
            <a:r>
              <a:rPr lang="ru-RU" sz="4000" dirty="0"/>
              <a:t>днём</a:t>
            </a:r>
            <a:r>
              <a:rPr lang="en-US" sz="4000" dirty="0"/>
              <a:t>, </a:t>
            </a:r>
            <a:r>
              <a:rPr lang="ru-RU" sz="4000" dirty="0"/>
              <a:t>вечером</a:t>
            </a:r>
            <a:r>
              <a:rPr lang="en-US" sz="4000" dirty="0"/>
              <a:t>), at 3 o’clock (</a:t>
            </a:r>
            <a:r>
              <a:rPr lang="ru-RU" sz="4000" dirty="0"/>
              <a:t>в</a:t>
            </a:r>
            <a:r>
              <a:rPr lang="en-US" sz="4000" dirty="0"/>
              <a:t> 3 </a:t>
            </a:r>
            <a:r>
              <a:rPr lang="ru-RU" sz="4000" dirty="0"/>
              <a:t>часа</a:t>
            </a:r>
            <a:r>
              <a:rPr lang="en-US" sz="4000" dirty="0"/>
              <a:t>), </a:t>
            </a:r>
            <a:r>
              <a:rPr lang="ru-RU" sz="4000" dirty="0"/>
              <a:t>а так же указатели частоты</a:t>
            </a:r>
            <a:r>
              <a:rPr lang="en-US" sz="4000" dirty="0"/>
              <a:t> </a:t>
            </a:r>
            <a:r>
              <a:rPr lang="ru-RU" sz="4000" dirty="0" smtClean="0"/>
              <a:t>действия </a:t>
            </a:r>
            <a:r>
              <a:rPr lang="en-US" sz="4000" dirty="0" smtClean="0"/>
              <a:t>– </a:t>
            </a:r>
            <a:r>
              <a:rPr lang="en-US" sz="4000" dirty="0"/>
              <a:t>always, usually, </a:t>
            </a:r>
            <a:r>
              <a:rPr lang="en-US" sz="4000" dirty="0" smtClean="0"/>
              <a:t>often, sometimes</a:t>
            </a:r>
            <a:r>
              <a:rPr lang="en-US" sz="4000" dirty="0"/>
              <a:t>, </a:t>
            </a:r>
            <a:r>
              <a:rPr lang="en-US" sz="4000" dirty="0" smtClean="0"/>
              <a:t>never.</a:t>
            </a:r>
            <a:endParaRPr lang="ru-RU" sz="4000" dirty="0"/>
          </a:p>
          <a:p>
            <a:pPr marL="0" indent="0">
              <a:buNone/>
            </a:pP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88640"/>
            <a:ext cx="8712968" cy="2882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просто глагол.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глагол с окончанием –</a:t>
            </a:r>
            <a:r>
              <a:rPr lang="en-US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92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Она плавает.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455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556136" y="2420888"/>
            <a:ext cx="16554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896373" y="1844824"/>
            <a:ext cx="300559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75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2472732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556136" y="2420888"/>
            <a:ext cx="16554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490154" y="3312220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096607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896373" y="1844824"/>
            <a:ext cx="300559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165740" y="27089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2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2472732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135446" y="3505870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556136" y="2420888"/>
            <a:ext cx="16554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490154" y="3312220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096607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896373" y="1844824"/>
            <a:ext cx="300559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165740" y="27089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1110821" y="4181344"/>
            <a:ext cx="13793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62513" y="4181344"/>
            <a:ext cx="1337458" cy="79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845876" y="3583749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37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4397133" y="5248990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469489" y="4371817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2472732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135446" y="3505870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swim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. </a:t>
            </a:r>
          </a:p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latin typeface="Comic Sans MS" panose="030F0702030302020204" pitchFamily="66" charset="0"/>
              </a:rPr>
              <a:t>        No, </a:t>
            </a:r>
            <a:r>
              <a:rPr lang="en-US" sz="4800" u="sng" dirty="0" smtClean="0">
                <a:latin typeface="Comic Sans MS" panose="030F0702030302020204" pitchFamily="66" charset="0"/>
              </a:rPr>
              <a:t>she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556136" y="2420888"/>
            <a:ext cx="16554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490154" y="3312220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096607" y="3328472"/>
            <a:ext cx="1347601" cy="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896373" y="1844824"/>
            <a:ext cx="300559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165740" y="27089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1110821" y="4181344"/>
            <a:ext cx="13793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62513" y="4181344"/>
            <a:ext cx="1337458" cy="79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845876" y="3583749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V="1">
            <a:off x="4476122" y="5036846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4410398" y="5924638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5162832" y="4459268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5065776" y="5352162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55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88640"/>
            <a:ext cx="885698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Правил</a:t>
            </a:r>
            <a:r>
              <a:rPr lang="ru-RU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написания:</a:t>
            </a: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lnSpc>
                <a:spcPct val="115000"/>
              </a:lnSpc>
              <a:spcAft>
                <a:spcPts val="0"/>
              </a:spcAft>
              <a:buAutoNum type="arabicParenR"/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глаголам, которые оканчиваются на -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3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прибавляется –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watch-watches, go-goes, 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do-does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К глаголам, которые оканчиваются на согласную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y -&gt; 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ies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</a:t>
            </a:r>
            <a:r>
              <a:rPr lang="en-US" sz="3600" u="sng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-flies, cr</a:t>
            </a:r>
            <a:r>
              <a:rPr lang="en-US" sz="3600" u="sng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-cries, tr</a:t>
            </a:r>
            <a:r>
              <a:rPr lang="en-US" sz="3600" u="sng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-tries.</a:t>
            </a:r>
            <a:endParaRPr lang="ru-RU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87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44624"/>
            <a:ext cx="8280920" cy="6788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lang="ru-RU" sz="9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lang="ru-RU" sz="9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US" sz="9600" dirty="0" smtClean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lang="ru-RU" sz="9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ru-RU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r>
              <a:rPr lang="en-US" sz="9600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-pl</a:t>
            </a:r>
            <a:r>
              <a:rPr lang="en-US" sz="9600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9600" u="sng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9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ru-RU" sz="9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43220" y="4088105"/>
            <a:ext cx="1037618" cy="70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334582" y="2367345"/>
            <a:ext cx="1037618" cy="70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046550" y="692696"/>
            <a:ext cx="1037618" cy="70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411564" y="5733256"/>
            <a:ext cx="484055" cy="70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932040" y="4941168"/>
            <a:ext cx="3111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52908" y="3284984"/>
            <a:ext cx="3111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735370" y="1584248"/>
            <a:ext cx="3111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1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 ловит.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750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catches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267744" y="2420888"/>
            <a:ext cx="22034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822634" y="1844824"/>
            <a:ext cx="644278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4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2205289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>
                <a:latin typeface="Comic Sans MS" panose="030F0702030302020204" pitchFamily="66" charset="0"/>
              </a:rPr>
              <a:t>He</a:t>
            </a: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catches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catch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2190170" y="3284984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817831" y="3284984"/>
            <a:ext cx="1554369" cy="27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2873932" y="27053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822634" y="1844824"/>
            <a:ext cx="644278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267744" y="2420888"/>
            <a:ext cx="22034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04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2205289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131844" y="349233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>
                <a:latin typeface="Comic Sans MS" panose="030F0702030302020204" pitchFamily="66" charset="0"/>
              </a:rPr>
              <a:t>He</a:t>
            </a: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catches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catch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catch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2190170" y="3284984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817831" y="3284984"/>
            <a:ext cx="1554369" cy="27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2873932" y="27053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822634" y="1844824"/>
            <a:ext cx="644278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267744" y="2420888"/>
            <a:ext cx="22034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1110821" y="4181344"/>
            <a:ext cx="13793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542575" y="4167726"/>
            <a:ext cx="1613462" cy="1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845876" y="3583749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22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4195182" y="4371148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4108303" y="5232917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2205289" y="260345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131844" y="3492331"/>
            <a:ext cx="1337286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>
                <a:latin typeface="Comic Sans MS" panose="030F0702030302020204" pitchFamily="66" charset="0"/>
              </a:rPr>
              <a:t>He</a:t>
            </a: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catches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catch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</a:t>
            </a:r>
            <a:r>
              <a:rPr lang="en-US" sz="4800" u="sng" dirty="0" smtClean="0">
                <a:latin typeface="Comic Sans MS" panose="030F0702030302020204" pitchFamily="66" charset="0"/>
              </a:rPr>
              <a:t>Does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catch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does</a:t>
            </a:r>
            <a:r>
              <a:rPr lang="en-US" sz="4800" dirty="0">
                <a:latin typeface="Comic Sans MS" panose="030F0702030302020204" pitchFamily="66" charset="0"/>
              </a:rPr>
              <a:t>. </a:t>
            </a:r>
          </a:p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         No, </a:t>
            </a:r>
            <a:r>
              <a:rPr lang="en-US" sz="4800" u="sng" dirty="0" smtClean="0">
                <a:latin typeface="Comic Sans MS" panose="030F0702030302020204" pitchFamily="66" charset="0"/>
              </a:rPr>
              <a:t>he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>
                <a:latin typeface="Comic Sans MS" panose="030F0702030302020204" pitchFamily="66" charset="0"/>
              </a:rPr>
              <a:t>does</a:t>
            </a: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2190170" y="3284984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817831" y="3284984"/>
            <a:ext cx="1554369" cy="27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2873932" y="2705320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822634" y="1844824"/>
            <a:ext cx="644278" cy="39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267744" y="2420888"/>
            <a:ext cx="22034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1110821" y="4181344"/>
            <a:ext cx="13793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491880" y="4167726"/>
            <a:ext cx="1613462" cy="1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845876" y="3583749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4863826" y="4437112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4776946" y="5313886"/>
            <a:ext cx="644278" cy="435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4201815" y="5036850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4072075" y="5916295"/>
            <a:ext cx="1324021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23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</a:t>
            </a:r>
            <a:r>
              <a:rPr lang="ru-RU" smtClean="0"/>
              <a:t>ы смотрим.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325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160053" y="5239182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4257428" y="4358653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315960" y="3490952"/>
            <a:ext cx="735760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2380400" y="2627476"/>
            <a:ext cx="679432" cy="53751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2364432" y="3292492"/>
            <a:ext cx="679432" cy="7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259632" y="4221088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271110" y="5085184"/>
            <a:ext cx="6520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4186373" y="5949280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203848" y="4149080"/>
            <a:ext cx="1630597" cy="205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4355976" y="3275672"/>
            <a:ext cx="1630597" cy="205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411760" y="2398970"/>
            <a:ext cx="1630597" cy="205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watch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watch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watch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. </a:t>
            </a:r>
          </a:p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latin typeface="Comic Sans MS" panose="030F0702030302020204" pitchFamily="66" charset="0"/>
              </a:rPr>
              <a:t>        No, </a:t>
            </a:r>
            <a:r>
              <a:rPr lang="en-US" sz="4800" u="sng" dirty="0" smtClean="0">
                <a:latin typeface="Comic Sans MS" panose="030F0702030302020204" pitchFamily="66" charset="0"/>
              </a:rPr>
              <a:t>we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do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9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564904"/>
            <a:ext cx="8507288" cy="4032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do not = don’t</a:t>
            </a: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does not = doesn’t</a:t>
            </a:r>
            <a:endParaRPr lang="en-US" sz="7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78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1617488"/>
            <a:ext cx="9144001" cy="277494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627784" y="2060848"/>
            <a:ext cx="12025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tries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405566" y="2546511"/>
            <a:ext cx="16623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enjoys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483768" y="3091607"/>
            <a:ext cx="1117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flies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617512" y="3589278"/>
            <a:ext cx="11961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runs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092280" y="1484784"/>
            <a:ext cx="19039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catches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293555" y="2002208"/>
            <a:ext cx="11843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likes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092280" y="2515543"/>
            <a:ext cx="17972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pushes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137067" y="3069266"/>
            <a:ext cx="113717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says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62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956" y="1516804"/>
            <a:ext cx="7289768" cy="448394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131840" y="1988840"/>
            <a:ext cx="21932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does not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31840" y="2659559"/>
            <a:ext cx="21932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does not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43808" y="4509120"/>
            <a:ext cx="21932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does not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131839" y="3199618"/>
            <a:ext cx="1691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 not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94677" y="3830144"/>
            <a:ext cx="1691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 not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987824" y="5181948"/>
            <a:ext cx="1691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do not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23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Present Continuous</a:t>
            </a:r>
            <a:r>
              <a:rPr lang="ru-RU" sz="6600" b="1" dirty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/>
              <a:t>Настоящее длительное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284144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548680"/>
            <a:ext cx="8964488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continuous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когда говорим о действии, которое происходит (длится) в данный момент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Continuous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образуется с помощью </a:t>
            </a:r>
            <a:r>
              <a:rPr lang="ru-RU" sz="3600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вспомогательного глагола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be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ru-RU" sz="3600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смыслового глагола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 которому добавляется окончание –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4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260648"/>
            <a:ext cx="8784976" cy="582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5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</a:t>
            </a:r>
            <a:r>
              <a:rPr lang="en-US" sz="5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«to be» + verb + </a:t>
            </a:r>
            <a:r>
              <a:rPr lang="en-US" sz="5400" b="1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endParaRPr lang="en-US" sz="5400" b="1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5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5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Слова-указатели:</a:t>
            </a:r>
            <a:r>
              <a:rPr lang="ru-RU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ru-RU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(сейчас), </a:t>
            </a:r>
            <a:r>
              <a:rPr lang="en-US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the moment</a:t>
            </a:r>
            <a:r>
              <a:rPr lang="ru-RU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(в данный момент), </a:t>
            </a:r>
            <a:r>
              <a:rPr lang="en-US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lang="ru-RU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! (смотри), </a:t>
            </a:r>
            <a:r>
              <a:rPr lang="en-US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Listen! (</a:t>
            </a:r>
            <a:r>
              <a:rPr lang="ru-RU" sz="5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послушай</a:t>
            </a:r>
            <a:r>
              <a:rPr lang="en-US" sz="5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5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15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915816" y="836712"/>
            <a:ext cx="3168352" cy="9478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752" y="1772816"/>
            <a:ext cx="8640960" cy="3456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en-US" sz="54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23528" y="-171400"/>
            <a:ext cx="8640960" cy="6716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54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54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+ am</a:t>
            </a:r>
            <a:endParaRPr lang="ru-RU" sz="54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sleeping.</a:t>
            </a:r>
            <a:endParaRPr lang="ru-RU" sz="54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5400" u="sng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sleeping.</a:t>
            </a:r>
            <a:endParaRPr lang="ru-RU" sz="54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5400" u="sng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sleeping?</a:t>
            </a:r>
            <a:endParaRPr lang="ru-RU" sz="54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Yes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5400" dirty="0" smtClean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No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400" u="sng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129976" y="2040817"/>
            <a:ext cx="1800200" cy="3620431"/>
            <a:chOff x="129976" y="2040817"/>
            <a:chExt cx="1800200" cy="3620431"/>
          </a:xfrm>
        </p:grpSpPr>
        <p:sp>
          <p:nvSpPr>
            <p:cNvPr id="4" name="Овал 3"/>
            <p:cNvSpPr/>
            <p:nvPr/>
          </p:nvSpPr>
          <p:spPr>
            <a:xfrm>
              <a:off x="226752" y="2040817"/>
              <a:ext cx="489144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230720" y="3092696"/>
              <a:ext cx="432048" cy="3600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244328" y="3789040"/>
              <a:ext cx="432048" cy="79208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29976" y="4653136"/>
              <a:ext cx="1800200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5" name="Прямая соединительная линия 14"/>
          <p:cNvCxnSpPr/>
          <p:nvPr/>
        </p:nvCxnSpPr>
        <p:spPr>
          <a:xfrm>
            <a:off x="1619672" y="2636912"/>
            <a:ext cx="86409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1619672" y="3573016"/>
            <a:ext cx="86409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1006163" y="4509120"/>
            <a:ext cx="104555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211960" y="5517232"/>
            <a:ext cx="86409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923928" y="6453336"/>
            <a:ext cx="86409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355976" y="1916832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580112" y="2852936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4499992" y="3789040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43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1331640" y="1196752"/>
            <a:ext cx="6336704" cy="9361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226752" y="1988840"/>
            <a:ext cx="8640960" cy="3456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en-US" sz="54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16632"/>
            <a:ext cx="9036496" cy="647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58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</a:t>
            </a:r>
            <a:r>
              <a:rPr lang="en-US" sz="58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58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800" b="1" dirty="0">
                <a:latin typeface="Comic Sans MS" panose="030F0702030302020204" pitchFamily="66" charset="0"/>
              </a:rPr>
              <a:t>He, she, it + is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 smtClean="0">
                <a:latin typeface="Comic Sans MS" panose="030F0702030302020204" pitchFamily="66" charset="0"/>
              </a:rPr>
              <a:t>    </a:t>
            </a:r>
            <a:r>
              <a:rPr lang="en-US" sz="5800" u="sng" dirty="0" smtClean="0">
                <a:latin typeface="Comic Sans MS" panose="030F0702030302020204" pitchFamily="66" charset="0"/>
              </a:rPr>
              <a:t>He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is</a:t>
            </a:r>
            <a:r>
              <a:rPr lang="en-US" sz="5800" dirty="0">
                <a:latin typeface="Comic Sans MS" panose="030F0702030302020204" pitchFamily="66" charset="0"/>
              </a:rPr>
              <a:t> sleeping.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 smtClean="0">
                <a:latin typeface="Comic Sans MS" panose="030F0702030302020204" pitchFamily="66" charset="0"/>
              </a:rPr>
              <a:t>    </a:t>
            </a:r>
            <a:r>
              <a:rPr lang="en-US" sz="5800" u="sng" dirty="0" smtClean="0">
                <a:latin typeface="Comic Sans MS" panose="030F0702030302020204" pitchFamily="66" charset="0"/>
              </a:rPr>
              <a:t>He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is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800" dirty="0">
                <a:latin typeface="Comic Sans MS" panose="030F0702030302020204" pitchFamily="66" charset="0"/>
              </a:rPr>
              <a:t> sleeping.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 smtClean="0">
                <a:latin typeface="Comic Sans MS" panose="030F0702030302020204" pitchFamily="66" charset="0"/>
              </a:rPr>
              <a:t>    </a:t>
            </a:r>
            <a:r>
              <a:rPr lang="en-US" sz="5800" u="sng" dirty="0" smtClean="0">
                <a:latin typeface="Comic Sans MS" panose="030F0702030302020204" pitchFamily="66" charset="0"/>
              </a:rPr>
              <a:t>Is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he</a:t>
            </a:r>
            <a:r>
              <a:rPr lang="en-US" sz="5800" dirty="0">
                <a:latin typeface="Comic Sans MS" panose="030F0702030302020204" pitchFamily="66" charset="0"/>
              </a:rPr>
              <a:t> sleeping?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 smtClean="0">
                <a:latin typeface="Comic Sans MS" panose="030F0702030302020204" pitchFamily="66" charset="0"/>
              </a:rPr>
              <a:t>          Yes</a:t>
            </a:r>
            <a:r>
              <a:rPr lang="en-US" sz="5800" dirty="0">
                <a:latin typeface="Comic Sans MS" panose="030F0702030302020204" pitchFamily="66" charset="0"/>
              </a:rPr>
              <a:t>, </a:t>
            </a:r>
            <a:r>
              <a:rPr lang="en-US" sz="5800" u="sng" dirty="0">
                <a:latin typeface="Comic Sans MS" panose="030F0702030302020204" pitchFamily="66" charset="0"/>
              </a:rPr>
              <a:t>he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is</a:t>
            </a:r>
            <a:r>
              <a:rPr lang="en-US" sz="5800" dirty="0">
                <a:latin typeface="Comic Sans MS" panose="030F0702030302020204" pitchFamily="66" charset="0"/>
              </a:rPr>
              <a:t>. </a:t>
            </a:r>
            <a:endParaRPr lang="en-US" sz="5800" dirty="0" smtClean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       No</a:t>
            </a:r>
            <a:r>
              <a:rPr lang="en-US" sz="5800" dirty="0">
                <a:latin typeface="Comic Sans MS" panose="030F0702030302020204" pitchFamily="66" charset="0"/>
              </a:rPr>
              <a:t>, </a:t>
            </a:r>
            <a:r>
              <a:rPr lang="en-US" sz="5800" u="sng" dirty="0">
                <a:latin typeface="Comic Sans MS" panose="030F0702030302020204" pitchFamily="66" charset="0"/>
              </a:rPr>
              <a:t>he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u="sng" dirty="0" smtClean="0">
                <a:latin typeface="Comic Sans MS" panose="030F0702030302020204" pitchFamily="66" charset="0"/>
              </a:rPr>
              <a:t>is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800" dirty="0">
                <a:latin typeface="Comic Sans MS" panose="030F0702030302020204" pitchFamily="66" charset="0"/>
              </a:rPr>
              <a:t>.</a:t>
            </a:r>
            <a:endParaRPr lang="ru-RU" sz="5800" dirty="0">
              <a:latin typeface="Comic Sans MS" panose="030F0702030302020204" pitchFamily="66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129976" y="2256841"/>
            <a:ext cx="1800200" cy="3620431"/>
            <a:chOff x="129976" y="2040817"/>
            <a:chExt cx="1800200" cy="3620431"/>
          </a:xfrm>
        </p:grpSpPr>
        <p:sp>
          <p:nvSpPr>
            <p:cNvPr id="12" name="Овал 11"/>
            <p:cNvSpPr/>
            <p:nvPr/>
          </p:nvSpPr>
          <p:spPr>
            <a:xfrm>
              <a:off x="226752" y="2040817"/>
              <a:ext cx="489144" cy="4320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230720" y="3092696"/>
              <a:ext cx="432048" cy="3600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/>
            <p:cNvSpPr/>
            <p:nvPr/>
          </p:nvSpPr>
          <p:spPr>
            <a:xfrm>
              <a:off x="244328" y="3789040"/>
              <a:ext cx="432048" cy="79208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/>
            <p:cNvSpPr/>
            <p:nvPr/>
          </p:nvSpPr>
          <p:spPr>
            <a:xfrm>
              <a:off x="129976" y="4653136"/>
              <a:ext cx="1800200" cy="10081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7" name="Прямая соединительная линия 16"/>
          <p:cNvCxnSpPr/>
          <p:nvPr/>
        </p:nvCxnSpPr>
        <p:spPr>
          <a:xfrm>
            <a:off x="2195736" y="2996952"/>
            <a:ext cx="57606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195736" y="3861048"/>
            <a:ext cx="57606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948269" y="4797152"/>
            <a:ext cx="76674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5004048" y="5661248"/>
            <a:ext cx="57606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4716016" y="6525344"/>
            <a:ext cx="57606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4716016" y="2204864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6084168" y="3068960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8024" y="3933056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64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662768" y="1052736"/>
            <a:ext cx="7797664" cy="93610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47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58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</a:t>
            </a:r>
            <a:r>
              <a:rPr lang="en-US" sz="58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5800" dirty="0">
              <a:latin typeface="Comic Sans MS" panose="030F07020303020202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800" b="1" dirty="0">
                <a:latin typeface="Comic Sans MS" panose="030F0702030302020204" pitchFamily="66" charset="0"/>
              </a:rPr>
              <a:t>We, you, they + are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</a:t>
            </a:r>
            <a:r>
              <a:rPr lang="en-US" sz="5800" u="sng" dirty="0" smtClean="0">
                <a:latin typeface="Comic Sans MS" panose="030F0702030302020204" pitchFamily="66" charset="0"/>
              </a:rPr>
              <a:t>We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are</a:t>
            </a:r>
            <a:r>
              <a:rPr lang="en-US" sz="5800" dirty="0">
                <a:latin typeface="Comic Sans MS" panose="030F0702030302020204" pitchFamily="66" charset="0"/>
              </a:rPr>
              <a:t> sleeping.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</a:t>
            </a:r>
            <a:r>
              <a:rPr lang="en-US" sz="5800" u="sng" dirty="0" smtClean="0">
                <a:latin typeface="Comic Sans MS" panose="030F0702030302020204" pitchFamily="66" charset="0"/>
              </a:rPr>
              <a:t>We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are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800" dirty="0">
                <a:latin typeface="Comic Sans MS" panose="030F0702030302020204" pitchFamily="66" charset="0"/>
              </a:rPr>
              <a:t> sleeping.</a:t>
            </a:r>
            <a:endParaRPr lang="ru-RU" sz="5800" dirty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</a:t>
            </a:r>
            <a:r>
              <a:rPr lang="en-US" sz="5800" u="sng" dirty="0" smtClean="0">
                <a:latin typeface="Comic Sans MS" panose="030F0702030302020204" pitchFamily="66" charset="0"/>
              </a:rPr>
              <a:t>Are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we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sleeping?</a:t>
            </a:r>
            <a:endParaRPr lang="en-US" sz="5800" dirty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      Yes</a:t>
            </a:r>
            <a:r>
              <a:rPr lang="en-US" sz="5800" dirty="0">
                <a:latin typeface="Comic Sans MS" panose="030F0702030302020204" pitchFamily="66" charset="0"/>
              </a:rPr>
              <a:t>, </a:t>
            </a:r>
            <a:r>
              <a:rPr lang="en-US" sz="5800" u="sng" dirty="0">
                <a:latin typeface="Comic Sans MS" panose="030F0702030302020204" pitchFamily="66" charset="0"/>
              </a:rPr>
              <a:t>we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u="sng" dirty="0">
                <a:latin typeface="Comic Sans MS" panose="030F0702030302020204" pitchFamily="66" charset="0"/>
              </a:rPr>
              <a:t>are</a:t>
            </a:r>
            <a:r>
              <a:rPr lang="en-US" sz="5800" dirty="0">
                <a:latin typeface="Comic Sans MS" panose="030F0702030302020204" pitchFamily="66" charset="0"/>
              </a:rPr>
              <a:t>. </a:t>
            </a:r>
            <a:endParaRPr lang="en-US" sz="5800" dirty="0" smtClean="0">
              <a:latin typeface="Comic Sans MS" panose="030F0702030302020204" pitchFamily="66" charset="0"/>
            </a:endParaRPr>
          </a:p>
          <a:p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latin typeface="Comic Sans MS" panose="030F0702030302020204" pitchFamily="66" charset="0"/>
              </a:rPr>
              <a:t>        No</a:t>
            </a:r>
            <a:r>
              <a:rPr lang="en-US" sz="5800" dirty="0">
                <a:latin typeface="Comic Sans MS" panose="030F0702030302020204" pitchFamily="66" charset="0"/>
              </a:rPr>
              <a:t>, </a:t>
            </a:r>
            <a:r>
              <a:rPr lang="en-US" sz="5800" u="sng" dirty="0">
                <a:latin typeface="Comic Sans MS" panose="030F0702030302020204" pitchFamily="66" charset="0"/>
              </a:rPr>
              <a:t>we</a:t>
            </a:r>
            <a:r>
              <a:rPr lang="en-US" sz="5800" dirty="0">
                <a:latin typeface="Comic Sans MS" panose="030F0702030302020204" pitchFamily="66" charset="0"/>
              </a:rPr>
              <a:t> </a:t>
            </a:r>
            <a:r>
              <a:rPr lang="en-US" sz="5800" u="sng" dirty="0" smtClean="0">
                <a:latin typeface="Comic Sans MS" panose="030F0702030302020204" pitchFamily="66" charset="0"/>
              </a:rPr>
              <a:t>are</a:t>
            </a:r>
            <a:r>
              <a:rPr lang="en-US" sz="5800" dirty="0" smtClean="0">
                <a:latin typeface="Comic Sans MS" panose="030F0702030302020204" pitchFamily="66" charset="0"/>
              </a:rPr>
              <a:t> </a:t>
            </a:r>
            <a:r>
              <a:rPr lang="en-US" sz="5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800" dirty="0">
                <a:latin typeface="Comic Sans MS" panose="030F0702030302020204" pitchFamily="66" charset="0"/>
              </a:rPr>
              <a:t>.</a:t>
            </a:r>
            <a:endParaRPr lang="ru-RU" sz="5800" dirty="0">
              <a:latin typeface="Comic Sans MS" panose="030F0702030302020204" pitchFamily="66" charset="0"/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226752" y="1767928"/>
            <a:ext cx="8640960" cy="3456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en-US" sz="54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226752" y="2040817"/>
            <a:ext cx="489144" cy="4320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230720" y="3092696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244328" y="3789040"/>
            <a:ext cx="432048" cy="792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107504" y="4720256"/>
            <a:ext cx="1800200" cy="10081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153267" y="2852936"/>
            <a:ext cx="11225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123728" y="3789040"/>
            <a:ext cx="11225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4889571" y="5517232"/>
            <a:ext cx="11225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601539" y="6453336"/>
            <a:ext cx="11225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15896" y="4653136"/>
            <a:ext cx="133582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5292080" y="2060848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6588224" y="2924944"/>
            <a:ext cx="1008112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5148064" y="3861048"/>
            <a:ext cx="1008112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80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04665"/>
            <a:ext cx="8928992" cy="589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Правило написания</a:t>
            </a:r>
            <a:r>
              <a:rPr lang="ru-RU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r>
              <a:rPr lang="ru-RU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Если </a:t>
            </a:r>
            <a:r>
              <a:rPr lang="ru-RU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 оканчивается на –</a:t>
            </a: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то –</a:t>
            </a:r>
            <a:r>
              <a:rPr lang="en-US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опускается</a:t>
            </a:r>
            <a:r>
              <a:rPr lang="ru-RU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endParaRPr lang="ru-RU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– making, take – taking, 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write-writing</a:t>
            </a:r>
            <a:endParaRPr lang="ru-RU" sz="3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r>
              <a:rPr lang="ru-RU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Если </a:t>
            </a:r>
            <a:r>
              <a:rPr lang="ru-RU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 оканчивается на одну согласную и в нём одна гласная, то конечная согласная удваивается</a:t>
            </a:r>
            <a:r>
              <a:rPr lang="ru-RU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swim-swimming, run-running, sit-sitting</a:t>
            </a: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03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708920"/>
            <a:ext cx="8507288" cy="417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= I’m            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= He’s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= we’re</a:t>
            </a: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not = I’m not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not = he isn’t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not = we aren’t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707460" y="2708920"/>
            <a:ext cx="42673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Comic Sans MS" panose="030F0702030302020204" pitchFamily="66" charset="0"/>
              </a:rPr>
              <a:t>Утвердительный краткий ответ не сокращается!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55576" y="1556792"/>
            <a:ext cx="8002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latin typeface="Comic Sans MS" panose="030F0702030302020204" pitchFamily="66" charset="0"/>
              </a:rPr>
              <a:t>Сокращается только глагол </a:t>
            </a:r>
            <a:r>
              <a:rPr lang="en-US" sz="3600" dirty="0" smtClean="0">
                <a:latin typeface="Comic Sans MS" panose="030F0702030302020204" pitchFamily="66" charset="0"/>
              </a:rPr>
              <a:t>to be</a:t>
            </a:r>
            <a:r>
              <a:rPr lang="ru-RU" sz="3600" dirty="0" smtClean="0">
                <a:latin typeface="Comic Sans MS" panose="030F0702030302020204" pitchFamily="66" charset="0"/>
              </a:rPr>
              <a:t> !</a:t>
            </a:r>
            <a:endParaRPr lang="en-US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8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2316099"/>
            <a:ext cx="9144001" cy="273668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835696" y="2678999"/>
            <a:ext cx="253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swimming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95736" y="3284984"/>
            <a:ext cx="17828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cutting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05102" y="3784163"/>
            <a:ext cx="19641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cooking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350484" y="4283343"/>
            <a:ext cx="15007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riding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876256" y="2132856"/>
            <a:ext cx="196399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running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76256" y="2651567"/>
            <a:ext cx="19800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dancing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959611" y="3144037"/>
            <a:ext cx="17972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writing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014695" y="3712000"/>
            <a:ext cx="16137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saying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20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6632"/>
            <a:ext cx="4775666" cy="64587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She / drink.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I / drink.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We / drink.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He / not / drink.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You / not / drink.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They / drink?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Comic Sans MS" panose="030F0702030302020204" pitchFamily="66" charset="0"/>
              </a:rPr>
              <a:t>It / drink?</a:t>
            </a:r>
            <a:endParaRPr lang="ru-RU" sz="4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139952" y="260648"/>
            <a:ext cx="3640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She</a:t>
            </a:r>
            <a:r>
              <a:rPr lang="ru-RU" sz="4400" dirty="0" smtClean="0">
                <a:solidFill>
                  <a:srgbClr val="0070C0"/>
                </a:solidFill>
              </a:rPr>
              <a:t> </a:t>
            </a:r>
            <a:r>
              <a:rPr lang="en-US" sz="4400" dirty="0" smtClean="0">
                <a:solidFill>
                  <a:srgbClr val="0070C0"/>
                </a:solidFill>
              </a:rPr>
              <a:t>is drinking.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139952" y="1174105"/>
            <a:ext cx="3316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 am drinking.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62800" y="1943546"/>
            <a:ext cx="39556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We</a:t>
            </a:r>
            <a:r>
              <a:rPr lang="ru-RU" sz="4400" dirty="0" smtClean="0">
                <a:solidFill>
                  <a:srgbClr val="0070C0"/>
                </a:solidFill>
              </a:rPr>
              <a:t> </a:t>
            </a:r>
            <a:r>
              <a:rPr lang="en-US" sz="4400" dirty="0" smtClean="0">
                <a:solidFill>
                  <a:srgbClr val="0070C0"/>
                </a:solidFill>
              </a:rPr>
              <a:t>are drinking.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736451" y="2974106"/>
            <a:ext cx="43476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He</a:t>
            </a:r>
            <a:r>
              <a:rPr lang="ru-RU" sz="4400" dirty="0" smtClean="0">
                <a:solidFill>
                  <a:srgbClr val="0070C0"/>
                </a:solidFill>
              </a:rPr>
              <a:t> </a:t>
            </a:r>
            <a:r>
              <a:rPr lang="en-US" sz="4400" dirty="0" smtClean="0">
                <a:solidFill>
                  <a:srgbClr val="0070C0"/>
                </a:solidFill>
              </a:rPr>
              <a:t>is not drinking.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687166" y="3933056"/>
            <a:ext cx="4493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0070C0"/>
                </a:solidFill>
              </a:rPr>
              <a:t>You are not drinking.</a:t>
            </a:r>
            <a:endParaRPr lang="ru-RU" sz="40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572000" y="4798692"/>
            <a:ext cx="4386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Are they drinking?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68560" y="5687040"/>
            <a:ext cx="32544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Is it drinking?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74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88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Present </a:t>
            </a:r>
            <a:r>
              <a:rPr lang="en-US" sz="6600" b="1" dirty="0" smtClean="0"/>
              <a:t>Perfect</a:t>
            </a:r>
            <a:r>
              <a:rPr lang="ru-RU" sz="6600" b="1" dirty="0" smtClean="0"/>
              <a:t> </a:t>
            </a:r>
            <a:r>
              <a:rPr lang="ru-RU" sz="6600" b="1" dirty="0" err="1" smtClean="0"/>
              <a:t>Сщ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Настоящее</a:t>
            </a:r>
            <a:r>
              <a:rPr lang="en-US" sz="6600" b="1" dirty="0" smtClean="0"/>
              <a:t> </a:t>
            </a:r>
            <a:r>
              <a:rPr lang="ru-RU" sz="6600" b="1" dirty="0" smtClean="0"/>
              <a:t>совершенное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409933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217203"/>
            <a:ext cx="8964488" cy="393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4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</a:t>
            </a:r>
            <a:r>
              <a:rPr lang="en-US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perfect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говорим о 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действии, которое только что завершилось или произошло в прошлом, но есть результат в настоящем.</a:t>
            </a:r>
            <a:endParaRPr lang="en-US" sz="4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3508" y="-120690"/>
            <a:ext cx="8856984" cy="724300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ctr"/>
            <a:r>
              <a:rPr lang="ru-RU" sz="3800" b="1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Пример:</a:t>
            </a:r>
          </a:p>
          <a:p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have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broken the cup.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Я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разбил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чашку.</a:t>
            </a:r>
          </a:p>
          <a:p>
            <a:endParaRPr lang="ru-RU" sz="1400" baseline="-25000" dirty="0" smtClean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В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этом предложении время </a:t>
            </a:r>
            <a:r>
              <a:rPr lang="en-US" sz="3800" b="1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present perfect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употреблено для того, чтобы показать, что действие (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разбил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чашку) произошло незадолго до настоящего момента, но сейчас мы видим результат этого действия - осколки разбитой чашки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ru-RU" sz="3800" b="1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Другие </a:t>
            </a:r>
            <a:r>
              <a:rPr lang="ru-RU" sz="3800" b="1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примеры</a:t>
            </a:r>
            <a:r>
              <a:rPr lang="ru-RU" sz="3800" b="1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:</a:t>
            </a:r>
          </a:p>
          <a:p>
            <a:pPr algn="ctr"/>
            <a:endParaRPr lang="ru-RU" sz="1400" b="1" baseline="-25000" dirty="0" smtClean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Действие                      Результат</a:t>
            </a:r>
            <a:endParaRPr lang="ru-RU" sz="38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She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has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broken her leg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.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=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теперь она не может 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ходить</a:t>
            </a:r>
            <a:endParaRPr lang="en-US" sz="3800" baseline="-25000" dirty="0" smtClean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US" sz="14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They</a:t>
            </a:r>
            <a:r>
              <a:rPr lang="en-US" sz="38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have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spent all their money.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= сейчас они не могут ничего 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купить</a:t>
            </a:r>
            <a:endParaRPr lang="en-US" sz="3800" baseline="-25000" dirty="0" smtClean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ru-RU" sz="11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You</a:t>
            </a:r>
            <a:r>
              <a:rPr lang="ru-RU" sz="38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have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sent me a birthday card.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= и я чувствую себя 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счастливым</a:t>
            </a:r>
            <a:endParaRPr lang="en-US" sz="3800" baseline="-25000" dirty="0" smtClean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ru-RU" sz="14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I have </a:t>
            </a:r>
            <a:r>
              <a:rPr lang="en-US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cooked a pizza</a:t>
            </a:r>
            <a:r>
              <a:rPr lang="en-US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.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ru-RU" sz="3800" baseline="-25000" dirty="0">
                <a:solidFill>
                  <a:srgbClr val="000000"/>
                </a:solidFill>
                <a:latin typeface="Comic Sans MS" panose="030F0702030302020204" pitchFamily="66" charset="0"/>
              </a:rPr>
              <a:t>= мы можем </a:t>
            </a:r>
            <a:r>
              <a:rPr lang="ru-RU" sz="3800" baseline="-25000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поесть</a:t>
            </a:r>
            <a:endParaRPr lang="ru-RU" sz="3800" baseline="-25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6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843808" y="1916832"/>
            <a:ext cx="3600400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1196752"/>
            <a:ext cx="5400600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44624"/>
            <a:ext cx="8784976" cy="6693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have/has + V₃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en-US" sz="1050" b="1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I, we, you, they + have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he, she, it + has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105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Слова-указатели:</a:t>
            </a:r>
            <a:r>
              <a:rPr lang="ru-RU" sz="4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still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 сих пор, всё ещё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пока что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тех пор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протяжении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ever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когда-либо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never (</a:t>
            </a:r>
            <a:r>
              <a:rPr lang="ru-RU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никогда</a:t>
            </a:r>
            <a:r>
              <a:rPr lang="en-US" sz="4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72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сыграл.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89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915816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13995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18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915816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13995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4139952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364088" y="267802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03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915816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13995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987824" y="450912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139952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365224" y="2670439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211960" y="3753104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67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915816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13995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987824" y="450912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12468" y="666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818198" y="558924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139952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365224" y="2660078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211960" y="3739161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07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 сыграл.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31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0384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427984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4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0384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427984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4427984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652120" y="2660078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0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0384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427984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131840" y="450912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427984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652120" y="2660078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427984" y="3739161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847027" y="4534616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2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0384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427984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131840" y="458112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406382" y="558924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427984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652120" y="2660078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427984" y="3739161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4334374" y="666936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47027" y="4534616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87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smtClean="0">
                <a:latin typeface="Comic Sans MS" panose="030F0702030302020204" pitchFamily="66" charset="0"/>
              </a:rPr>
              <a:t>?</a:t>
            </a:r>
            <a:r>
              <a:rPr lang="en-US" sz="480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</a:t>
            </a:r>
            <a:r>
              <a:rPr lang="en-US" dirty="0" smtClean="0"/>
              <a:t>c</a:t>
            </a:r>
            <a:r>
              <a:rPr lang="ru-RU" dirty="0" smtClean="0"/>
              <a:t>ходил.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39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884427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139952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884427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1259632" y="328498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61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987824" y="4293096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139952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884427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1259632" y="328498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293096"/>
            <a:ext cx="1512168" cy="53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26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987824" y="4293096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139952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884427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1259632" y="3284984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563888" y="6453336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648269" y="5359226"/>
            <a:ext cx="14401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293096"/>
            <a:ext cx="1512168" cy="53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42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smtClean="0">
                <a:latin typeface="Comic Sans MS" panose="030F0702030302020204" pitchFamily="66" charset="0"/>
              </a:rPr>
              <a:t>?</a:t>
            </a:r>
            <a:r>
              <a:rPr lang="en-US" sz="480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Она </a:t>
            </a:r>
            <a:r>
              <a:rPr lang="en-US" dirty="0" smtClean="0"/>
              <a:t>c</a:t>
            </a:r>
            <a:r>
              <a:rPr lang="ru-RU" dirty="0" smtClean="0"/>
              <a:t>ходила.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04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419872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195736" y="220486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10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4684627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419872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195736" y="328498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195736" y="220486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45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460491" y="4293096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684627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419872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899592" y="436510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195736" y="328498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195736" y="220486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96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460491" y="4293096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684627" y="328498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419872" y="2204864"/>
            <a:ext cx="1543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4426090" y="6453336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899592" y="436510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195736" y="328498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195736" y="2204864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572000" y="5381282"/>
            <a:ext cx="10820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97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8356" y="1484784"/>
            <a:ext cx="8507288" cy="5256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I have = I’ve</a:t>
            </a: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He has = he’s</a:t>
            </a:r>
          </a:p>
          <a:p>
            <a:pPr marL="0" indent="0">
              <a:buNone/>
            </a:pPr>
            <a:endParaRPr lang="en-US" sz="72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have not = haven’t</a:t>
            </a: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has not = hasn’t</a:t>
            </a:r>
            <a:endParaRPr lang="en-US" sz="7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32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78698"/>
          </a:xfrm>
        </p:spPr>
        <p:txBody>
          <a:bodyPr>
            <a:noAutofit/>
          </a:bodyPr>
          <a:lstStyle/>
          <a:p>
            <a:r>
              <a:rPr lang="en-US" sz="9600" dirty="0" smtClean="0"/>
              <a:t>Present Perfect </a:t>
            </a:r>
            <a:br>
              <a:rPr lang="en-US" sz="9600" dirty="0" smtClean="0"/>
            </a:br>
            <a:r>
              <a:rPr lang="en-US" sz="9600" dirty="0" smtClean="0"/>
              <a:t>vs.</a:t>
            </a:r>
            <a:br>
              <a:rPr lang="en-US" sz="9600" dirty="0" smtClean="0"/>
            </a:br>
            <a:r>
              <a:rPr lang="en-US" sz="9600" dirty="0" smtClean="0"/>
              <a:t>Past Simple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139300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88640"/>
            <a:ext cx="892899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Мы используем </a:t>
            </a:r>
            <a:r>
              <a:rPr lang="en-US" sz="3200" b="1" dirty="0"/>
              <a:t>p</a:t>
            </a:r>
            <a:r>
              <a:rPr lang="ru-RU" sz="3200" b="1" dirty="0" err="1"/>
              <a:t>resent</a:t>
            </a:r>
            <a:r>
              <a:rPr lang="ru-RU" sz="3200" b="1" dirty="0"/>
              <a:t> </a:t>
            </a:r>
            <a:r>
              <a:rPr lang="ru-RU" sz="3200" b="1" dirty="0" err="1"/>
              <a:t>perfect</a:t>
            </a:r>
            <a:r>
              <a:rPr lang="ru-RU" sz="3200" dirty="0" smtClean="0"/>
              <a:t>, когда говорим о событии, которое произошло </a:t>
            </a:r>
            <a:r>
              <a:rPr lang="ru-RU" sz="3200" dirty="0"/>
              <a:t>в недавнем прошлом, но результат которого связан с настоящим моментом, например: </a:t>
            </a:r>
            <a:endParaRPr lang="ru-RU" sz="3200" dirty="0" smtClean="0"/>
          </a:p>
          <a:p>
            <a:endParaRPr lang="ru-RU" sz="3200" dirty="0"/>
          </a:p>
          <a:p>
            <a:pPr algn="ctr"/>
            <a:r>
              <a:rPr lang="ru-RU" sz="3200" dirty="0" err="1"/>
              <a:t>Mum</a:t>
            </a:r>
            <a:r>
              <a:rPr lang="ru-RU" sz="3200" dirty="0"/>
              <a:t> </a:t>
            </a:r>
            <a:r>
              <a:rPr lang="ru-RU" sz="3200" dirty="0" err="1"/>
              <a:t>has</a:t>
            </a:r>
            <a:r>
              <a:rPr lang="ru-RU" sz="3200" dirty="0"/>
              <a:t> </a:t>
            </a:r>
            <a:r>
              <a:rPr lang="ru-RU" sz="3200" dirty="0" err="1"/>
              <a:t>made</a:t>
            </a:r>
            <a:r>
              <a:rPr lang="ru-RU" sz="3200" dirty="0"/>
              <a:t> </a:t>
            </a:r>
            <a:r>
              <a:rPr lang="ru-RU" sz="3200" dirty="0" err="1"/>
              <a:t>some</a:t>
            </a:r>
            <a:r>
              <a:rPr lang="ru-RU" sz="3200" dirty="0"/>
              <a:t> </a:t>
            </a:r>
            <a:r>
              <a:rPr lang="ru-RU" sz="3200" dirty="0" err="1"/>
              <a:t>bread</a:t>
            </a:r>
            <a:r>
              <a:rPr lang="ru-RU" sz="3200" dirty="0" smtClean="0"/>
              <a:t>. (Хлеб у неё в руках, мы видим его, чувствуем аромат.)</a:t>
            </a:r>
          </a:p>
          <a:p>
            <a:pPr algn="ctr"/>
            <a:endParaRPr lang="ru-RU" sz="3200" dirty="0"/>
          </a:p>
          <a:p>
            <a:r>
              <a:rPr lang="ru-RU" sz="3200" dirty="0" smtClean="0"/>
              <a:t>Также, мы используем</a:t>
            </a:r>
            <a:r>
              <a:rPr lang="ru-RU" sz="3200" b="1" dirty="0"/>
              <a:t> </a:t>
            </a:r>
            <a:r>
              <a:rPr lang="en-US" sz="3200" b="1" dirty="0" smtClean="0"/>
              <a:t>p</a:t>
            </a:r>
            <a:r>
              <a:rPr lang="ru-RU" sz="3200" b="1" dirty="0" err="1" smtClean="0"/>
              <a:t>resent</a:t>
            </a:r>
            <a:r>
              <a:rPr lang="ru-RU" sz="3200" b="1" dirty="0" smtClean="0"/>
              <a:t> </a:t>
            </a:r>
            <a:r>
              <a:rPr lang="ru-RU" sz="3200" b="1" dirty="0" err="1" smtClean="0"/>
              <a:t>perfect</a:t>
            </a:r>
            <a:r>
              <a:rPr lang="ru-RU" sz="3200" b="1" dirty="0" smtClean="0"/>
              <a:t>, </a:t>
            </a:r>
            <a:r>
              <a:rPr lang="ru-RU" sz="3200" dirty="0" smtClean="0"/>
              <a:t>когда говорим о своем жизненном опыте, </a:t>
            </a:r>
            <a:r>
              <a:rPr lang="ru-RU" sz="3200" dirty="0"/>
              <a:t>например: </a:t>
            </a:r>
            <a:endParaRPr lang="ru-RU" sz="3200" dirty="0" smtClean="0"/>
          </a:p>
          <a:p>
            <a:endParaRPr lang="ru-RU" sz="3200" dirty="0"/>
          </a:p>
          <a:p>
            <a:pPr algn="ctr"/>
            <a:r>
              <a:rPr lang="ru-RU" sz="3200" dirty="0"/>
              <a:t>I </a:t>
            </a:r>
            <a:r>
              <a:rPr lang="ru-RU" sz="3200" dirty="0" err="1"/>
              <a:t>have</a:t>
            </a:r>
            <a:r>
              <a:rPr lang="ru-RU" sz="3200" dirty="0"/>
              <a:t> </a:t>
            </a:r>
            <a:r>
              <a:rPr lang="ru-RU" sz="3200" dirty="0" err="1"/>
              <a:t>flown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 a </a:t>
            </a:r>
            <a:r>
              <a:rPr lang="ru-RU" sz="3200" dirty="0" err="1"/>
              <a:t>balloon</a:t>
            </a:r>
            <a:r>
              <a:rPr lang="ru-RU" sz="3200" dirty="0" smtClean="0"/>
              <a:t>.</a:t>
            </a:r>
          </a:p>
          <a:p>
            <a:pPr algn="ctr"/>
            <a:r>
              <a:rPr lang="en-US" sz="3200" dirty="0" smtClean="0"/>
              <a:t>I have never been to Spain.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242524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75396"/>
            <a:ext cx="892899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В предложении в </a:t>
            </a:r>
            <a:r>
              <a:rPr lang="ru-RU" sz="3200" b="1" dirty="0" err="1"/>
              <a:t>present</a:t>
            </a:r>
            <a:r>
              <a:rPr lang="ru-RU" sz="3200" b="1" dirty="0"/>
              <a:t> </a:t>
            </a:r>
            <a:r>
              <a:rPr lang="ru-RU" sz="3200" b="1" dirty="0" err="1"/>
              <a:t>perfect</a:t>
            </a:r>
            <a:r>
              <a:rPr lang="ru-RU" sz="3200" b="1" dirty="0"/>
              <a:t> </a:t>
            </a:r>
            <a:r>
              <a:rPr lang="ru-RU" sz="3200" dirty="0"/>
              <a:t>не может быть указания на то, когда именно в прошлом произошло действие, например</a:t>
            </a:r>
            <a:r>
              <a:rPr lang="ru-RU" sz="3200" dirty="0" smtClean="0"/>
              <a:t>:</a:t>
            </a:r>
          </a:p>
          <a:p>
            <a:endParaRPr lang="ru-RU" sz="3200" dirty="0"/>
          </a:p>
          <a:p>
            <a:pPr algn="ctr"/>
            <a:r>
              <a:rPr lang="ru-RU" sz="3200" dirty="0" err="1"/>
              <a:t>Alice</a:t>
            </a:r>
            <a:r>
              <a:rPr lang="ru-RU" sz="3200" dirty="0"/>
              <a:t> </a:t>
            </a:r>
            <a:r>
              <a:rPr lang="ru-RU" sz="3200" dirty="0" err="1"/>
              <a:t>has</a:t>
            </a:r>
            <a:r>
              <a:rPr lang="ru-RU" sz="3200" dirty="0"/>
              <a:t> </a:t>
            </a:r>
            <a:r>
              <a:rPr lang="ru-RU" sz="3200" dirty="0" err="1"/>
              <a:t>been</a:t>
            </a:r>
            <a:r>
              <a:rPr lang="ru-RU" sz="3200" dirty="0"/>
              <a:t> </a:t>
            </a:r>
            <a:r>
              <a:rPr lang="ru-RU" sz="3200" dirty="0" err="1"/>
              <a:t>to</a:t>
            </a:r>
            <a:r>
              <a:rPr lang="ru-RU" sz="3200" dirty="0"/>
              <a:t> </a:t>
            </a:r>
            <a:r>
              <a:rPr lang="ru-RU" sz="3200" dirty="0" err="1"/>
              <a:t>Finland</a:t>
            </a:r>
            <a:r>
              <a:rPr lang="ru-RU" sz="3200" dirty="0"/>
              <a:t>. (Мы не знаем, когда именно Алиса была в Финляндии</a:t>
            </a:r>
            <a:r>
              <a:rPr lang="ru-RU" sz="3200" dirty="0" smtClean="0"/>
              <a:t>.)</a:t>
            </a:r>
          </a:p>
          <a:p>
            <a:endParaRPr lang="ru-RU" sz="3200" dirty="0"/>
          </a:p>
          <a:p>
            <a:r>
              <a:rPr lang="ru-RU" sz="3200" b="1" dirty="0" err="1"/>
              <a:t>Past</a:t>
            </a:r>
            <a:r>
              <a:rPr lang="ru-RU" sz="3200" b="1" dirty="0"/>
              <a:t> </a:t>
            </a:r>
            <a:r>
              <a:rPr lang="ru-RU" sz="3200" b="1" dirty="0" err="1"/>
              <a:t>simple</a:t>
            </a:r>
            <a:r>
              <a:rPr lang="ru-RU" sz="3200" b="1" dirty="0"/>
              <a:t> </a:t>
            </a:r>
            <a:r>
              <a:rPr lang="ru-RU" sz="3200" dirty="0"/>
              <a:t>выражает действие, которое началось и завершилось в прошлом. Чаще всего в предложении говорится о том, когда произошло действие, </a:t>
            </a:r>
            <a:r>
              <a:rPr lang="ru-RU" sz="3200" dirty="0" smtClean="0"/>
              <a:t>например</a:t>
            </a:r>
            <a:r>
              <a:rPr lang="ru-RU" sz="3200" dirty="0"/>
              <a:t>: </a:t>
            </a:r>
            <a:endParaRPr lang="ru-RU" sz="3200" dirty="0" smtClean="0"/>
          </a:p>
          <a:p>
            <a:endParaRPr lang="ru-RU" sz="3200" dirty="0"/>
          </a:p>
          <a:p>
            <a:pPr algn="ctr"/>
            <a:r>
              <a:rPr lang="ru-RU" sz="3200" dirty="0"/>
              <a:t>I </a:t>
            </a:r>
            <a:r>
              <a:rPr lang="ru-RU" sz="3200" dirty="0" err="1"/>
              <a:t>lived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Paris</a:t>
            </a:r>
            <a:r>
              <a:rPr lang="ru-RU" sz="3200" dirty="0"/>
              <a:t> </a:t>
            </a:r>
            <a:r>
              <a:rPr lang="ru-RU" sz="3200" dirty="0" err="1"/>
              <a:t>last</a:t>
            </a:r>
            <a:r>
              <a:rPr lang="ru-RU" sz="3200" dirty="0"/>
              <a:t> </a:t>
            </a:r>
            <a:r>
              <a:rPr lang="ru-RU" sz="3200" dirty="0" err="1"/>
              <a:t>year</a:t>
            </a:r>
            <a:r>
              <a:rPr lang="ru-R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494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3730752" y="754380"/>
            <a:ext cx="2043684" cy="84182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/>
              <a:t>№ 1</a:t>
            </a:r>
            <a:endParaRPr lang="ru-RU" sz="5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606"/>
            <a:ext cx="9134428" cy="415594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56012" y="1836113"/>
            <a:ext cx="26839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have not eaten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27584" y="2248060"/>
            <a:ext cx="2263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have bought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31612" y="2658422"/>
            <a:ext cx="2887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has not brushed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456012" y="3068784"/>
            <a:ext cx="1565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has sent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58436" y="3466181"/>
            <a:ext cx="2517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have not seen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139754" y="3908423"/>
            <a:ext cx="16914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has been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907704" y="4314473"/>
            <a:ext cx="19403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has visited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797982" y="4657254"/>
            <a:ext cx="19227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ha</a:t>
            </a:r>
            <a:r>
              <a:rPr lang="en-US" sz="3200" dirty="0" smtClean="0">
                <a:solidFill>
                  <a:srgbClr val="0070C0"/>
                </a:solidFill>
              </a:rPr>
              <a:t>ve</a:t>
            </a:r>
            <a:r>
              <a:rPr lang="ru-RU" sz="3200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done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115616" y="5066020"/>
            <a:ext cx="1898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has not had</a:t>
            </a:r>
            <a:endParaRPr lang="ru-RU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1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19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404664"/>
            <a:ext cx="885698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Present </a:t>
            </a:r>
            <a:r>
              <a:rPr lang="en-US" sz="6600" b="1" dirty="0" smtClean="0"/>
              <a:t>Perfect Continuous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endParaRPr lang="ru-RU" sz="6600" b="1" dirty="0" smtClean="0"/>
          </a:p>
          <a:p>
            <a:pPr algn="ctr"/>
            <a:r>
              <a:rPr lang="ru-RU" sz="6600" b="1" dirty="0" smtClean="0"/>
              <a:t>Настоящее</a:t>
            </a:r>
            <a:r>
              <a:rPr lang="en-US" sz="6600" b="1" dirty="0" smtClean="0"/>
              <a:t> </a:t>
            </a:r>
            <a:r>
              <a:rPr lang="ru-RU" sz="6600" b="1" dirty="0" smtClean="0"/>
              <a:t>совершенное длительное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51073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56" y="27464"/>
            <a:ext cx="8964488" cy="4514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present perfect continuous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, когда говорим о действии, которое </a:t>
            </a:r>
            <a:r>
              <a:rPr lang="ru-RU" sz="3600" dirty="0" smtClean="0"/>
              <a:t>началось </a:t>
            </a:r>
            <a:r>
              <a:rPr lang="ru-RU" sz="3600" dirty="0"/>
              <a:t>в прошлом, продолжалось в течение некоторого времени </a:t>
            </a:r>
            <a:r>
              <a:rPr lang="ru-RU" sz="3600" dirty="0" smtClean="0"/>
              <a:t>и</a:t>
            </a:r>
            <a:r>
              <a:rPr lang="en-US" sz="3600" dirty="0"/>
              <a:t>,</a:t>
            </a:r>
            <a:r>
              <a:rPr lang="ru-RU" sz="3600" dirty="0" smtClean="0"/>
              <a:t> </a:t>
            </a:r>
            <a:r>
              <a:rPr lang="ru-RU" sz="3600" dirty="0"/>
              <a:t>либо закончилось непосредственно перед </a:t>
            </a:r>
            <a:r>
              <a:rPr lang="ru-RU" sz="3600" dirty="0" smtClean="0"/>
              <a:t>разговором</a:t>
            </a:r>
            <a:r>
              <a:rPr lang="en-US" sz="3600" dirty="0" smtClean="0"/>
              <a:t>,</a:t>
            </a:r>
            <a:r>
              <a:rPr lang="ru-RU" sz="3600" dirty="0" smtClean="0"/>
              <a:t> </a:t>
            </a:r>
            <a:r>
              <a:rPr lang="ru-RU" sz="3600" dirty="0"/>
              <a:t>или все еще продолжается в момент разговора.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8060" y="4480227"/>
            <a:ext cx="8986184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Слова-указатели:</a:t>
            </a:r>
            <a:r>
              <a:rPr lang="ru-RU" sz="32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/>
              <a:t>for</a:t>
            </a:r>
            <a:r>
              <a:rPr lang="ru-RU" sz="3200" dirty="0"/>
              <a:t> (на протяжении, в течение), </a:t>
            </a:r>
            <a:r>
              <a:rPr lang="ru-RU" sz="3200" dirty="0" err="1"/>
              <a:t>since</a:t>
            </a:r>
            <a:r>
              <a:rPr lang="ru-RU" sz="3200" dirty="0"/>
              <a:t> (с какого-то времени), </a:t>
            </a:r>
            <a:r>
              <a:rPr lang="ru-RU" sz="3200" dirty="0" err="1"/>
              <a:t>all</a:t>
            </a:r>
            <a:r>
              <a:rPr lang="ru-RU" sz="3200" dirty="0"/>
              <a:t> </a:t>
            </a:r>
            <a:r>
              <a:rPr lang="ru-RU" sz="3200" dirty="0" err="1"/>
              <a:t>morning</a:t>
            </a:r>
            <a:r>
              <a:rPr lang="ru-RU" sz="3200" dirty="0"/>
              <a:t>/</a:t>
            </a:r>
            <a:r>
              <a:rPr lang="ru-RU" sz="3200" dirty="0" err="1"/>
              <a:t>day</a:t>
            </a:r>
            <a:r>
              <a:rPr lang="ru-RU" sz="3200" dirty="0"/>
              <a:t>/</a:t>
            </a:r>
            <a:r>
              <a:rPr lang="ru-RU" sz="3200" dirty="0" err="1"/>
              <a:t>week</a:t>
            </a:r>
            <a:r>
              <a:rPr lang="ru-RU" sz="3200" dirty="0"/>
              <a:t> (все утро / весь день / всю неделю), </a:t>
            </a:r>
            <a:r>
              <a:rPr lang="ru-RU" sz="3200" dirty="0" err="1"/>
              <a:t>lately</a:t>
            </a:r>
            <a:r>
              <a:rPr lang="ru-RU" sz="3200" dirty="0"/>
              <a:t> (в последнее время), </a:t>
            </a:r>
            <a:r>
              <a:rPr lang="ru-RU" sz="3200" dirty="0" err="1"/>
              <a:t>recently</a:t>
            </a:r>
            <a:r>
              <a:rPr lang="ru-RU" sz="3200" dirty="0"/>
              <a:t> (недавно, на днях).</a:t>
            </a:r>
            <a:endParaRPr lang="ru-RU" sz="3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7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807804" y="6151784"/>
            <a:ext cx="3600400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871700" y="5373216"/>
            <a:ext cx="5400600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181552"/>
            <a:ext cx="8856984" cy="5104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sz="4600" b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 </a:t>
            </a: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 Continuous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образуется с помощью глагола </a:t>
            </a:r>
            <a:r>
              <a:rPr lang="en-US" sz="46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или </a:t>
            </a:r>
            <a:r>
              <a:rPr lang="en-US" sz="46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глагола 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be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3 форме и смыслового глагола с окончанием –</a:t>
            </a:r>
            <a:r>
              <a:rPr lang="en-US" sz="46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28600" algn="ctr">
              <a:lnSpc>
                <a:spcPct val="115000"/>
              </a:lnSpc>
              <a:spcAft>
                <a:spcPts val="1000"/>
              </a:spcAft>
            </a:pP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have/has + been + </a:t>
            </a:r>
            <a:r>
              <a:rPr lang="en-US" sz="4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Ving</a:t>
            </a:r>
            <a:endParaRPr lang="ru-RU" sz="46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804248" y="4437112"/>
            <a:ext cx="792088" cy="799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03648" y="5215680"/>
            <a:ext cx="6408712" cy="1649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I, we, you, they + have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he, she, it + has</a:t>
            </a:r>
          </a:p>
        </p:txBody>
      </p:sp>
    </p:spTree>
    <p:extLst>
      <p:ext uri="{BB962C8B-B14F-4D97-AF65-F5344CB8AC3E}">
        <p14:creationId xmlns:p14="http://schemas.microsoft.com/office/powerpoint/2010/main" val="368848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9359"/>
            <a:ext cx="8928992" cy="6498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Правило написания</a:t>
            </a:r>
            <a:r>
              <a:rPr lang="ru-RU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Если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 оканчивается на –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то –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опускается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endParaRPr lang="ru-RU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making, take – taking, 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write-writing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endParaRPr lang="ru-RU" sz="2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  <a:buSzPts val="1200"/>
              <a:tabLst>
                <a:tab pos="495300" algn="l"/>
              </a:tabLst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Если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 оканчивается на одну согласную и в нём одна гласная, то конечная согласная удваивается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endParaRPr lang="en-US" sz="2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swim-swimming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run-running, sit-sitting</a:t>
            </a: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0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</a:t>
            </a:r>
            <a:r>
              <a:rPr lang="ru-RU" dirty="0"/>
              <a:t>и</a:t>
            </a:r>
            <a:r>
              <a:rPr lang="ru-RU" dirty="0" smtClean="0"/>
              <a:t>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146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64400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925862" y="1657994"/>
            <a:ext cx="878386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2958666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30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64400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925862" y="1657994"/>
            <a:ext cx="878386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5940152" y="350936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092280" y="2751502"/>
            <a:ext cx="1008112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2958666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4144516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1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64400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925862" y="1657994"/>
            <a:ext cx="878386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701726" y="4573112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940152" y="350936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092280" y="2751502"/>
            <a:ext cx="1008112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5940152" y="3740197"/>
            <a:ext cx="1008112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2958666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4144516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958666" y="4573112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7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644008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925862" y="1657994"/>
            <a:ext cx="878386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701726" y="4573112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12468" y="666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818198" y="558924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940152" y="3509360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1259632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2596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092280" y="2751502"/>
            <a:ext cx="1008112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5940152" y="3740197"/>
            <a:ext cx="1008112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2958666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4144516" y="350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958666" y="4573112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79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 играл.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12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932040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156176" y="1628788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131840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185678" y="2418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87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932040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156176" y="1628788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6156176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380312" y="2733055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131840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185678" y="2418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4466270" y="3504832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2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932040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156176" y="1628788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4932040" y="4534616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156176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380312" y="2733055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6156176" y="3780041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847027" y="4534616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131840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185678" y="2418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3185678" y="4534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4466270" y="3504832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7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932040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156176" y="1628788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4932040" y="4534616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406382" y="558924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156176" y="350100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380312" y="2733055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6156176" y="3780041"/>
            <a:ext cx="936104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4334374" y="666936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47027" y="4534616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918780" y="350100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918780" y="242088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131840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185678" y="2418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3185678" y="45346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4466270" y="3504832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8356" y="1484784"/>
            <a:ext cx="8507288" cy="5256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I have = I’ve</a:t>
            </a: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He has = he’s</a:t>
            </a:r>
          </a:p>
          <a:p>
            <a:pPr marL="0" indent="0">
              <a:buNone/>
            </a:pPr>
            <a:endParaRPr lang="en-US" sz="72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have not = haven’t</a:t>
            </a:r>
          </a:p>
          <a:p>
            <a:pPr marL="0" indent="0">
              <a:buNone/>
            </a:pPr>
            <a:r>
              <a:rPr lang="en-US" sz="7200" dirty="0" smtClean="0">
                <a:latin typeface="Comic Sans MS" panose="030F0702030302020204" pitchFamily="66" charset="0"/>
              </a:rPr>
              <a:t>has not = hasn’t</a:t>
            </a:r>
            <a:endParaRPr lang="en-US" sz="7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37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1752</TotalTime>
  <Words>2424</Words>
  <Application>Microsoft Office PowerPoint</Application>
  <PresentationFormat>Экран (4:3)</PresentationFormat>
  <Paragraphs>642</Paragraphs>
  <Slides>103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103</vt:i4>
      </vt:variant>
    </vt:vector>
  </HeadingPairs>
  <TitlesOfParts>
    <vt:vector size="109" baseType="lpstr">
      <vt:lpstr>Arial</vt:lpstr>
      <vt:lpstr>Calibri</vt:lpstr>
      <vt:lpstr>Comic Sans MS</vt:lpstr>
      <vt:lpstr>Corbel</vt:lpstr>
      <vt:lpstr>Times New Roman</vt:lpstr>
      <vt:lpstr>Тема Office</vt:lpstr>
      <vt:lpstr>Present Tenses</vt:lpstr>
      <vt:lpstr>Презентация PowerPoint</vt:lpstr>
      <vt:lpstr>Personal pronouns  Личные местоимения</vt:lpstr>
      <vt:lpstr>Глагол to be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Present Simple tense Простое настоящее время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Contractions Сокращения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Present Perfect  vs. Past Simple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Tenses</dc:title>
  <dc:creator>student</dc:creator>
  <cp:lastModifiedBy>July</cp:lastModifiedBy>
  <cp:revision>53</cp:revision>
  <dcterms:created xsi:type="dcterms:W3CDTF">2023-09-06T06:40:24Z</dcterms:created>
  <dcterms:modified xsi:type="dcterms:W3CDTF">2024-01-14T18:08:31Z</dcterms:modified>
</cp:coreProperties>
</file>