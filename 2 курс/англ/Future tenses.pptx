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325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9" r:id="rId15"/>
    <p:sldId id="376" r:id="rId16"/>
    <p:sldId id="377" r:id="rId17"/>
    <p:sldId id="378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29" r:id="rId30"/>
    <p:sldId id="364" r:id="rId31"/>
    <p:sldId id="392" r:id="rId32"/>
    <p:sldId id="393" r:id="rId33"/>
    <p:sldId id="394" r:id="rId34"/>
    <p:sldId id="395" r:id="rId35"/>
    <p:sldId id="396" r:id="rId36"/>
    <p:sldId id="397" r:id="rId37"/>
    <p:sldId id="398" r:id="rId38"/>
    <p:sldId id="414" r:id="rId39"/>
    <p:sldId id="362" r:id="rId40"/>
    <p:sldId id="330" r:id="rId41"/>
    <p:sldId id="399" r:id="rId42"/>
    <p:sldId id="402" r:id="rId43"/>
    <p:sldId id="403" r:id="rId44"/>
    <p:sldId id="404" r:id="rId45"/>
    <p:sldId id="405" r:id="rId46"/>
    <p:sldId id="406" r:id="rId47"/>
    <p:sldId id="415" r:id="rId48"/>
    <p:sldId id="391" r:id="rId49"/>
    <p:sldId id="363" r:id="rId50"/>
    <p:sldId id="407" r:id="rId51"/>
    <p:sldId id="409" r:id="rId52"/>
    <p:sldId id="410" r:id="rId53"/>
    <p:sldId id="411" r:id="rId54"/>
    <p:sldId id="413" r:id="rId55"/>
    <p:sldId id="412" r:id="rId56"/>
    <p:sldId id="416" r:id="rId5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1F8630B-1457-438E-8FCD-FC0EC46D680C}">
          <p14:sldIdLst>
            <p14:sldId id="256"/>
            <p14:sldId id="289"/>
          </p14:sldIdLst>
        </p14:section>
        <p14:section name="Future Simple" id="{2B3D3440-435A-486D-9ED9-C1578E2C522D}">
          <p14:sldIdLst>
            <p14:sldId id="325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9"/>
            <p14:sldId id="376"/>
            <p14:sldId id="377"/>
            <p14:sldId id="378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</p14:sldIdLst>
        </p14:section>
        <p14:section name="Future Continuous" id="{12716940-7B1D-43ED-A771-DFAD5D1663D3}">
          <p14:sldIdLst>
            <p14:sldId id="329"/>
            <p14:sldId id="364"/>
            <p14:sldId id="392"/>
            <p14:sldId id="393"/>
            <p14:sldId id="394"/>
            <p14:sldId id="395"/>
            <p14:sldId id="396"/>
            <p14:sldId id="397"/>
            <p14:sldId id="398"/>
            <p14:sldId id="414"/>
          </p14:sldIdLst>
        </p14:section>
        <p14:section name="Future Perfect" id="{FFC653D5-2C81-4B98-9FDE-A031C9472948}">
          <p14:sldIdLst>
            <p14:sldId id="362"/>
            <p14:sldId id="330"/>
            <p14:sldId id="399"/>
            <p14:sldId id="402"/>
            <p14:sldId id="403"/>
            <p14:sldId id="404"/>
            <p14:sldId id="405"/>
            <p14:sldId id="406"/>
            <p14:sldId id="415"/>
          </p14:sldIdLst>
        </p14:section>
        <p14:section name="Future Perfect C." id="{C362ED78-617B-48D8-B83D-43FA03192404}">
          <p14:sldIdLst>
            <p14:sldId id="391"/>
            <p14:sldId id="363"/>
            <p14:sldId id="407"/>
            <p14:sldId id="409"/>
            <p14:sldId id="410"/>
            <p14:sldId id="411"/>
            <p14:sldId id="413"/>
            <p14:sldId id="412"/>
            <p14:sldId id="416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66" autoAdjust="0"/>
    <p:restoredTop sz="94660"/>
  </p:normalViewPr>
  <p:slideViewPr>
    <p:cSldViewPr>
      <p:cViewPr varScale="1">
        <p:scale>
          <a:sx n="80" d="100"/>
          <a:sy n="80" d="100"/>
        </p:scale>
        <p:origin x="-171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09.11.2023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544615"/>
          </a:xfrm>
        </p:spPr>
        <p:txBody>
          <a:bodyPr>
            <a:noAutofit/>
          </a:bodyPr>
          <a:lstStyle/>
          <a:p>
            <a:r>
              <a:rPr lang="en-US" sz="13800" dirty="0" smtClean="0"/>
              <a:t>Future Tenses</a:t>
            </a:r>
            <a:endParaRPr lang="ru-RU" sz="13800" dirty="0"/>
          </a:p>
        </p:txBody>
      </p:sp>
    </p:spTree>
    <p:extLst>
      <p:ext uri="{BB962C8B-B14F-4D97-AF65-F5344CB8AC3E}">
        <p14:creationId xmlns:p14="http://schemas.microsoft.com/office/powerpoint/2010/main" val="9030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22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1268760"/>
            <a:ext cx="88569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/>
              <a:t>Future Simple</a:t>
            </a:r>
            <a:r>
              <a:rPr lang="ru-RU" sz="6600" b="1" dirty="0" smtClean="0"/>
              <a:t>. </a:t>
            </a:r>
            <a:endParaRPr lang="en-US" sz="6600" b="1" dirty="0" smtClean="0"/>
          </a:p>
          <a:p>
            <a:pPr algn="ctr"/>
            <a:r>
              <a:rPr lang="ru-RU" sz="6600" b="1" dirty="0"/>
              <a:t/>
            </a:r>
            <a:br>
              <a:rPr lang="ru-RU" sz="6600" b="1" dirty="0"/>
            </a:br>
            <a:r>
              <a:rPr lang="ru-RU" sz="6600" b="1" dirty="0" smtClean="0"/>
              <a:t>Будущее простое время</a:t>
            </a:r>
            <a:r>
              <a:rPr lang="ru-RU" sz="6600" b="1" dirty="0"/>
              <a:t>.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284144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116632"/>
            <a:ext cx="8928992" cy="6425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6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36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Will.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ea typeface="Calibri" panose="020F0502020204030204" pitchFamily="34" charset="0"/>
                <a:cs typeface="Times New Roman" panose="02020603050405020304" pitchFamily="18" charset="0"/>
              </a:rPr>
              <a:t>Мы используем простое будущее время для того, чтобы говорить о действиях, которые произойдут в будущем. </a:t>
            </a:r>
            <a:endParaRPr lang="ru-RU" sz="36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ru-RU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Verb</a:t>
            </a:r>
            <a:r>
              <a:rPr lang="ru-RU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 (смысловой глагол</a:t>
            </a:r>
            <a:r>
              <a:rPr lang="ru-RU" sz="36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ru-RU" sz="36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b="1" dirty="0">
                <a:ea typeface="Calibri" panose="020F0502020204030204" pitchFamily="34" charset="0"/>
                <a:cs typeface="Times New Roman" panose="02020603050405020304" pitchFamily="18" charset="0"/>
              </a:rPr>
              <a:t>Слова-указатели: </a:t>
            </a: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tomorrow</a:t>
            </a:r>
            <a:r>
              <a:rPr lang="ru-RU" sz="3600" dirty="0">
                <a:ea typeface="Calibri" panose="020F0502020204030204" pitchFamily="34" charset="0"/>
                <a:cs typeface="Times New Roman" panose="02020603050405020304" pitchFamily="18" charset="0"/>
              </a:rPr>
              <a:t> – завтра, </a:t>
            </a: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next week</a:t>
            </a:r>
            <a:r>
              <a:rPr lang="ru-RU" sz="3600" dirty="0"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month</a:t>
            </a:r>
            <a:r>
              <a:rPr lang="ru-RU" sz="3600" dirty="0">
                <a:ea typeface="Calibri" panose="020F0502020204030204" pitchFamily="34" charset="0"/>
                <a:cs typeface="Times New Roman" panose="02020603050405020304" pitchFamily="18" charset="0"/>
              </a:rPr>
              <a:t>…– на следующей неделе, месяце…, </a:t>
            </a: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soon</a:t>
            </a:r>
            <a:r>
              <a:rPr lang="ru-RU" sz="3600" dirty="0">
                <a:ea typeface="Calibri" panose="020F0502020204030204" pitchFamily="34" charset="0"/>
                <a:cs typeface="Times New Roman" panose="02020603050405020304" pitchFamily="18" charset="0"/>
              </a:rPr>
              <a:t> – вскоре и т.д</a:t>
            </a:r>
            <a:r>
              <a:rPr lang="ru-RU" sz="36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90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7504" y="30559"/>
            <a:ext cx="8928992" cy="6854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Мы 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используем глагол </a:t>
            </a:r>
            <a:r>
              <a:rPr lang="en-US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 для: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1) </a:t>
            </a:r>
            <a:r>
              <a:rPr lang="ru-RU" sz="3200" b="1" dirty="0">
                <a:ea typeface="Calibri" panose="020F0502020204030204" pitchFamily="34" charset="0"/>
                <a:cs typeface="Times New Roman" panose="02020603050405020304" pitchFamily="18" charset="0"/>
              </a:rPr>
              <a:t>предположений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I think it will rain. </a:t>
            </a:r>
            <a:r>
              <a:rPr lang="ru-RU" sz="3200" dirty="0">
                <a:ea typeface="Calibri" panose="020F0502020204030204" pitchFamily="34" charset="0"/>
                <a:cs typeface="Times New Roman" panose="02020603050405020304" pitchFamily="18" charset="0"/>
              </a:rPr>
              <a:t>Я думаю, пойдет дождь. (Но это не точно, это лишь предположение</a:t>
            </a: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2) </a:t>
            </a:r>
            <a:r>
              <a:rPr lang="ru-RU" sz="32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обещаний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I will clean my room. </a:t>
            </a: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Я уберусь в комнате</a:t>
            </a:r>
            <a:r>
              <a:rPr lang="en-US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32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3) </a:t>
            </a:r>
            <a:r>
              <a:rPr lang="ru-RU" sz="32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просьб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Will you clean my room, please? </a:t>
            </a: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Ты не мог бы убраться в моей комнате?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4) неожиданно принятых решений (решение принято в момент речи)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I’m tired. I will go to bed. </a:t>
            </a:r>
            <a:r>
              <a:rPr lang="ru-RU" sz="32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Я устал, пойду посплю.</a:t>
            </a:r>
            <a:endParaRPr lang="ru-RU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15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пойду.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82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82047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go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endParaRPr lang="en-US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8712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843808" y="2420888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03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82047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go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go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8712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756487" y="3354720"/>
            <a:ext cx="8712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843808" y="2420888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923928" y="3354720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04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82047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go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go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go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8712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756487" y="3354720"/>
            <a:ext cx="8712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259632" y="4209296"/>
            <a:ext cx="1137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843808" y="2420888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923928" y="3354720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167844" y="4209296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23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82047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go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go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go</a:t>
            </a:r>
            <a:r>
              <a:rPr lang="en-US" sz="4800" dirty="0" smtClean="0">
                <a:latin typeface="Comic Sans MS" panose="030F0702030302020204" pitchFamily="66" charset="0"/>
              </a:rPr>
              <a:t>?</a:t>
            </a:r>
            <a:endParaRPr lang="ru-RU" sz="48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  Yes,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. No, </a:t>
            </a:r>
            <a:r>
              <a:rPr lang="en-US" sz="4800" u="sng" dirty="0" smtClean="0">
                <a:latin typeface="Comic Sans MS" panose="030F0702030302020204" pitchFamily="66" charset="0"/>
              </a:rPr>
              <a:t>I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u="sng" dirty="0" smtClean="0">
                <a:latin typeface="Comic Sans MS" panose="030F0702030302020204" pitchFamily="66" charset="0"/>
              </a:rPr>
              <a:t>will</a:t>
            </a:r>
            <a:r>
              <a:rPr lang="en-US" sz="4800" dirty="0" smtClean="0">
                <a:latin typeface="Comic Sans MS" panose="030F0702030302020204" pitchFamily="66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4800" dirty="0" smtClean="0">
                <a:latin typeface="Comic Sans MS" panose="030F0702030302020204" pitchFamily="66" charset="0"/>
              </a:rPr>
              <a:t>.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1763688" y="2420888"/>
            <a:ext cx="8712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1756487" y="3354720"/>
            <a:ext cx="8712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1259632" y="4209296"/>
            <a:ext cx="11377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84324" y="5117544"/>
            <a:ext cx="8712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6797047" y="5100032"/>
            <a:ext cx="87129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2843808" y="2420888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923928" y="3354720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167844" y="4209296"/>
            <a:ext cx="6480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2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0324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>
                <a:latin typeface="Comic Sans MS" panose="030F0702030302020204" pitchFamily="66" charset="0"/>
              </a:rPr>
              <a:t>I will = I’ll</a:t>
            </a:r>
            <a:endParaRPr lang="ru-RU" sz="9600" dirty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en-US" sz="9600" dirty="0">
                <a:latin typeface="Comic Sans MS" panose="030F0702030302020204" pitchFamily="66" charset="0"/>
              </a:rPr>
              <a:t>w</a:t>
            </a:r>
            <a:r>
              <a:rPr lang="en-US" sz="9600" dirty="0" smtClean="0">
                <a:latin typeface="Comic Sans MS" panose="030F0702030302020204" pitchFamily="66" charset="0"/>
              </a:rPr>
              <a:t>ill </a:t>
            </a:r>
            <a:r>
              <a:rPr lang="en-US" sz="9600" dirty="0">
                <a:latin typeface="Comic Sans MS" panose="030F0702030302020204" pitchFamily="66" charset="0"/>
              </a:rPr>
              <a:t>not = won’t</a:t>
            </a:r>
            <a:endParaRPr lang="ru-RU" sz="9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28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771800" y="6265849"/>
            <a:ext cx="3600400" cy="4850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275856" y="5608264"/>
            <a:ext cx="2664296" cy="485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995936" y="5013176"/>
            <a:ext cx="1152128" cy="36004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0"/>
            <a:ext cx="8928992" cy="6923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3600" b="1" dirty="0" smtClean="0">
                <a:ea typeface="SimSun" panose="02010600030101010101" pitchFamily="2" charset="-122"/>
              </a:rPr>
              <a:t>2. Be </a:t>
            </a:r>
            <a:r>
              <a:rPr lang="en-US" sz="3600" b="1" dirty="0">
                <a:ea typeface="SimSun" panose="02010600030101010101" pitchFamily="2" charset="-122"/>
              </a:rPr>
              <a:t>going to</a:t>
            </a:r>
            <a:r>
              <a:rPr lang="ru-RU" sz="3600" b="1" dirty="0">
                <a:ea typeface="SimSun" panose="02010600030101010101" pitchFamily="2" charset="-122"/>
              </a:rPr>
              <a:t> – собираться, намереваться</a:t>
            </a:r>
            <a:endParaRPr lang="ru-RU" sz="3600" dirty="0">
              <a:ea typeface="SimSun" panose="02010600030101010101" pitchFamily="2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US" sz="400" dirty="0" smtClean="0">
              <a:ea typeface="SimSun" panose="02010600030101010101" pitchFamily="2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 smtClean="0">
                <a:ea typeface="SimSun" panose="02010600030101010101" pitchFamily="2" charset="-122"/>
              </a:rPr>
              <a:t>Мы </a:t>
            </a:r>
            <a:r>
              <a:rPr lang="ru-RU" sz="3600" dirty="0">
                <a:ea typeface="SimSun" panose="02010600030101010101" pitchFamily="2" charset="-122"/>
              </a:rPr>
              <a:t>используем конструкцию «</a:t>
            </a:r>
            <a:r>
              <a:rPr lang="en-US" sz="3600">
                <a:ea typeface="SimSun" panose="02010600030101010101" pitchFamily="2" charset="-122"/>
              </a:rPr>
              <a:t>be going to</a:t>
            </a:r>
            <a:r>
              <a:rPr lang="ru-RU" sz="3600">
                <a:ea typeface="SimSun" panose="02010600030101010101" pitchFamily="2" charset="-122"/>
              </a:rPr>
              <a:t>», когда говорим о планах на ближайшее будущее.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3600" b="1">
                <a:ea typeface="SimSun" panose="02010600030101010101" pitchFamily="2" charset="-122"/>
              </a:rPr>
              <a:t>«to be» + going </a:t>
            </a:r>
            <a:r>
              <a:rPr lang="en-US" sz="3600" b="1" smtClean="0">
                <a:ea typeface="SimSun" panose="02010600030101010101" pitchFamily="2" charset="-122"/>
              </a:rPr>
              <a:t>to + V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ru-RU" sz="800">
              <a:ea typeface="SimSun" panose="02010600030101010101" pitchFamily="2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600">
                <a:ea typeface="SimSun" panose="02010600030101010101" pitchFamily="2" charset="-122"/>
              </a:rPr>
              <a:t>«to be» - </a:t>
            </a:r>
            <a:r>
              <a:rPr lang="ru-RU" sz="3600">
                <a:ea typeface="SimSun" panose="02010600030101010101" pitchFamily="2" charset="-122"/>
              </a:rPr>
              <a:t>это глаголы</a:t>
            </a:r>
            <a:r>
              <a:rPr lang="en-US" sz="3600">
                <a:ea typeface="SimSun" panose="02010600030101010101" pitchFamily="2" charset="-122"/>
              </a:rPr>
              <a:t> am, is </a:t>
            </a:r>
            <a:r>
              <a:rPr lang="ru-RU" sz="3600">
                <a:ea typeface="SimSun" panose="02010600030101010101" pitchFamily="2" charset="-122"/>
              </a:rPr>
              <a:t>или</a:t>
            </a:r>
            <a:r>
              <a:rPr lang="en-US" sz="3600">
                <a:ea typeface="SimSun" panose="02010600030101010101" pitchFamily="2" charset="-122"/>
              </a:rPr>
              <a:t> are. </a:t>
            </a:r>
            <a:endParaRPr lang="en-US" sz="3600" smtClean="0">
              <a:ea typeface="SimSun" panose="02010600030101010101" pitchFamily="2" charset="-122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smtClean="0">
                <a:ea typeface="SimSun" panose="02010600030101010101" pitchFamily="2" charset="-122"/>
              </a:rPr>
              <a:t>Мы </a:t>
            </a:r>
            <a:r>
              <a:rPr lang="ru-RU" sz="3600">
                <a:ea typeface="SimSun" panose="02010600030101010101" pitchFamily="2" charset="-122"/>
              </a:rPr>
              <a:t>используем их с этими местоимениями: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US" sz="1100" smtClean="0">
              <a:ea typeface="SimSun" panose="02010600030101010101" pitchFamily="2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3600" dirty="0" smtClean="0">
                <a:ea typeface="SimSun" panose="02010600030101010101" pitchFamily="2" charset="-122"/>
              </a:rPr>
              <a:t>I </a:t>
            </a:r>
            <a:r>
              <a:rPr lang="en-US" sz="3600" dirty="0">
                <a:ea typeface="SimSun" panose="02010600030101010101" pitchFamily="2" charset="-122"/>
              </a:rPr>
              <a:t>+ am      </a:t>
            </a:r>
            <a:endParaRPr lang="en-US" sz="3600" dirty="0" smtClean="0">
              <a:ea typeface="SimSun" panose="02010600030101010101" pitchFamily="2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3600" dirty="0" smtClean="0">
                <a:ea typeface="SimSun" panose="02010600030101010101" pitchFamily="2" charset="-122"/>
              </a:rPr>
              <a:t>He</a:t>
            </a:r>
            <a:r>
              <a:rPr lang="en-US" sz="3600" dirty="0">
                <a:ea typeface="SimSun" panose="02010600030101010101" pitchFamily="2" charset="-122"/>
              </a:rPr>
              <a:t>, she, it + is      </a:t>
            </a:r>
            <a:endParaRPr lang="en-US" sz="3600" dirty="0" smtClean="0">
              <a:ea typeface="SimSun" panose="02010600030101010101" pitchFamily="2" charset="-122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3600" dirty="0" smtClean="0">
                <a:ea typeface="SimSun" panose="02010600030101010101" pitchFamily="2" charset="-122"/>
              </a:rPr>
              <a:t>You</a:t>
            </a:r>
            <a:r>
              <a:rPr lang="en-US" sz="3600" dirty="0">
                <a:ea typeface="SimSun" panose="02010600030101010101" pitchFamily="2" charset="-122"/>
              </a:rPr>
              <a:t>, we, they + are</a:t>
            </a:r>
            <a:endParaRPr lang="ru-RU" sz="3600">
              <a:effectLst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474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собираюсь поплавать.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263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25156" y="1628800"/>
            <a:ext cx="6345007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>
                <a:latin typeface="Comic Sans MS" panose="030F0702030302020204" pitchFamily="66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am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  <a:p>
            <a:r>
              <a:rPr lang="en-US" sz="5400" dirty="0" smtClean="0">
                <a:latin typeface="Comic Sans MS" panose="030F0702030302020204" pitchFamily="66" charset="0"/>
              </a:rPr>
              <a:t>    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1691680" y="2564904"/>
            <a:ext cx="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771800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511377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51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25156" y="1628800"/>
            <a:ext cx="7604967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>
                <a:latin typeface="Comic Sans MS" panose="030F0702030302020204" pitchFamily="66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am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  <a:p>
            <a:r>
              <a:rPr lang="en-US" sz="5400" u="sng" dirty="0">
                <a:latin typeface="Comic Sans MS" panose="030F0702030302020204" pitchFamily="66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</a:rPr>
              <a:t> </a:t>
            </a:r>
            <a:r>
              <a:rPr lang="en-US" sz="5400" u="sng" dirty="0">
                <a:latin typeface="Comic Sans MS" panose="030F0702030302020204" pitchFamily="66" charset="0"/>
              </a:rPr>
              <a:t>am</a:t>
            </a:r>
            <a:r>
              <a:rPr lang="en-US" sz="5400" dirty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>
                <a:latin typeface="Comic Sans MS" panose="030F0702030302020204" pitchFamily="66" charset="0"/>
              </a:rPr>
              <a:t>to </a:t>
            </a:r>
            <a:r>
              <a:rPr lang="en-US" sz="5400" u="sng" dirty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1691680" y="2564904"/>
            <a:ext cx="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1691680" y="3356992"/>
            <a:ext cx="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771800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015760" y="3356992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511377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6804248" y="3356992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044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25156" y="1628800"/>
            <a:ext cx="7604967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>
                <a:latin typeface="Comic Sans MS" panose="030F0702030302020204" pitchFamily="66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am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  <a:p>
            <a:r>
              <a:rPr lang="en-US" sz="5400" u="sng" dirty="0">
                <a:latin typeface="Comic Sans MS" panose="030F0702030302020204" pitchFamily="66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</a:rPr>
              <a:t> </a:t>
            </a:r>
            <a:r>
              <a:rPr lang="en-US" sz="5400" u="sng" dirty="0">
                <a:latin typeface="Comic Sans MS" panose="030F0702030302020204" pitchFamily="66" charset="0"/>
              </a:rPr>
              <a:t>am</a:t>
            </a:r>
            <a:r>
              <a:rPr lang="en-US" sz="5400" dirty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>
                <a:latin typeface="Comic Sans MS" panose="030F0702030302020204" pitchFamily="66" charset="0"/>
              </a:rPr>
              <a:t>to </a:t>
            </a:r>
            <a:r>
              <a:rPr lang="en-US" sz="5400" u="sng" dirty="0">
                <a:latin typeface="Comic Sans MS" panose="030F0702030302020204" pitchFamily="66" charset="0"/>
              </a:rPr>
              <a:t>swim</a:t>
            </a:r>
            <a:r>
              <a:rPr lang="en-US" sz="5400" dirty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Am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?</a:t>
            </a:r>
          </a:p>
          <a:p>
            <a:r>
              <a:rPr lang="en-US" sz="5400" dirty="0" smtClean="0">
                <a:latin typeface="Comic Sans MS" panose="030F0702030302020204" pitchFamily="66" charset="0"/>
              </a:rPr>
              <a:t>    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1691680" y="2564904"/>
            <a:ext cx="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1691680" y="3356992"/>
            <a:ext cx="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1112640" y="4221088"/>
            <a:ext cx="9745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771800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015760" y="3356992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2915816" y="422108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511377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6804248" y="3356992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5671944" y="4221088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68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25156" y="1628800"/>
            <a:ext cx="7604967" cy="42473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>
                <a:latin typeface="Comic Sans MS" panose="030F0702030302020204" pitchFamily="66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am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  <a:p>
            <a:r>
              <a:rPr lang="en-US" sz="5400" u="sng" dirty="0">
                <a:latin typeface="Comic Sans MS" panose="030F0702030302020204" pitchFamily="66" charset="0"/>
              </a:rPr>
              <a:t>I</a:t>
            </a:r>
            <a:r>
              <a:rPr lang="en-US" sz="5400" dirty="0">
                <a:latin typeface="Comic Sans MS" panose="030F0702030302020204" pitchFamily="66" charset="0"/>
              </a:rPr>
              <a:t> </a:t>
            </a:r>
            <a:r>
              <a:rPr lang="en-US" sz="5400" u="sng" dirty="0">
                <a:latin typeface="Comic Sans MS" panose="030F0702030302020204" pitchFamily="66" charset="0"/>
              </a:rPr>
              <a:t>am</a:t>
            </a:r>
            <a:r>
              <a:rPr lang="en-US" sz="5400" dirty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>
                <a:latin typeface="Comic Sans MS" panose="030F0702030302020204" pitchFamily="66" charset="0"/>
              </a:rPr>
              <a:t>to </a:t>
            </a:r>
            <a:r>
              <a:rPr lang="en-US" sz="5400" u="sng" dirty="0">
                <a:latin typeface="Comic Sans MS" panose="030F0702030302020204" pitchFamily="66" charset="0"/>
              </a:rPr>
              <a:t>swim</a:t>
            </a:r>
            <a:r>
              <a:rPr lang="en-US" sz="5400" dirty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Am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?</a:t>
            </a:r>
          </a:p>
          <a:p>
            <a:r>
              <a:rPr lang="en-US" sz="5400" dirty="0" smtClean="0">
                <a:latin typeface="Comic Sans MS" panose="030F0702030302020204" pitchFamily="66" charset="0"/>
              </a:rPr>
              <a:t>    Yes, </a:t>
            </a:r>
            <a:r>
              <a:rPr lang="en-US" sz="5400" u="sng" dirty="0" smtClean="0">
                <a:latin typeface="Comic Sans MS" panose="030F0702030302020204" pitchFamily="66" charset="0"/>
              </a:rPr>
              <a:t>I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am</a:t>
            </a:r>
            <a:r>
              <a:rPr lang="en-US" sz="5400" dirty="0" smtClean="0">
                <a:latin typeface="Comic Sans MS" panose="030F0702030302020204" pitchFamily="66" charset="0"/>
              </a:rPr>
              <a:t>. </a:t>
            </a:r>
          </a:p>
          <a:p>
            <a:r>
              <a:rPr lang="en-US" sz="5400" dirty="0" smtClean="0">
                <a:latin typeface="Comic Sans MS" panose="030F0702030302020204" pitchFamily="66" charset="0"/>
              </a:rPr>
              <a:t>    No, </a:t>
            </a:r>
            <a:r>
              <a:rPr lang="en-US" sz="5400" u="sng" dirty="0" smtClean="0">
                <a:latin typeface="Comic Sans MS" panose="030F0702030302020204" pitchFamily="66" charset="0"/>
              </a:rPr>
              <a:t>I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am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1691680" y="2564904"/>
            <a:ext cx="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1691680" y="3356992"/>
            <a:ext cx="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1112640" y="4221088"/>
            <a:ext cx="9745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067944" y="5013176"/>
            <a:ext cx="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779912" y="5805264"/>
            <a:ext cx="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771800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015760" y="3356992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2915816" y="422108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511377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6804248" y="3356992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5671944" y="4221088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83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Он собирается поплавать.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2698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25156" y="1628800"/>
            <a:ext cx="651652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208438" y="2542056"/>
            <a:ext cx="5365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915816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730674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730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25156" y="1628800"/>
            <a:ext cx="777648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>
                <a:latin typeface="Comic Sans MS" panose="030F0702030302020204" pitchFamily="66" charset="0"/>
              </a:rPr>
              <a:t>to </a:t>
            </a:r>
            <a:r>
              <a:rPr lang="en-US" sz="5400" u="sng" dirty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208438" y="2542056"/>
            <a:ext cx="5365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2195736" y="3356992"/>
            <a:ext cx="5040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915816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211960" y="3356992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730674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6954810" y="3356992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4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25156" y="1628800"/>
            <a:ext cx="7776488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>
                <a:latin typeface="Comic Sans MS" panose="030F0702030302020204" pitchFamily="66" charset="0"/>
              </a:rPr>
              <a:t>to </a:t>
            </a:r>
            <a:r>
              <a:rPr lang="en-US" sz="5400" u="sng" dirty="0">
                <a:latin typeface="Comic Sans MS" panose="030F0702030302020204" pitchFamily="66" charset="0"/>
              </a:rPr>
              <a:t>swim</a:t>
            </a:r>
            <a:r>
              <a:rPr lang="en-US" sz="5400" dirty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?</a:t>
            </a:r>
          </a:p>
          <a:p>
            <a:r>
              <a:rPr lang="en-US" sz="5400" dirty="0" smtClean="0">
                <a:latin typeface="Comic Sans MS" panose="030F0702030302020204" pitchFamily="66" charset="0"/>
              </a:rPr>
              <a:t>    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208438" y="2542056"/>
            <a:ext cx="5365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2195736" y="3356992"/>
            <a:ext cx="5040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1112640" y="4221088"/>
            <a:ext cx="7230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915816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211960" y="3356992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2987824" y="422108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730674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6954810" y="3356992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5730674" y="4221088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62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1025156" y="1628800"/>
            <a:ext cx="7776488" cy="42473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>
                <a:latin typeface="Comic Sans MS" panose="030F0702030302020204" pitchFamily="66" charset="0"/>
              </a:rPr>
              <a:t>to </a:t>
            </a:r>
            <a:r>
              <a:rPr lang="en-US" sz="5400" u="sng" dirty="0">
                <a:latin typeface="Comic Sans MS" panose="030F0702030302020204" pitchFamily="66" charset="0"/>
              </a:rPr>
              <a:t>swim</a:t>
            </a:r>
            <a:r>
              <a:rPr lang="en-US" sz="5400" dirty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?</a:t>
            </a:r>
          </a:p>
          <a:p>
            <a:r>
              <a:rPr lang="en-US" sz="5400" dirty="0" smtClean="0">
                <a:latin typeface="Comic Sans MS" panose="030F0702030302020204" pitchFamily="66" charset="0"/>
              </a:rPr>
              <a:t>    Yes, </a:t>
            </a:r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. </a:t>
            </a:r>
          </a:p>
          <a:p>
            <a:r>
              <a:rPr lang="en-US" sz="5400" dirty="0" smtClean="0">
                <a:latin typeface="Comic Sans MS" panose="030F0702030302020204" pitchFamily="66" charset="0"/>
              </a:rPr>
              <a:t>    No, </a:t>
            </a:r>
            <a:r>
              <a:rPr lang="en-US" sz="5400" u="sng" dirty="0" smtClean="0">
                <a:latin typeface="Comic Sans MS" panose="030F0702030302020204" pitchFamily="66" charset="0"/>
              </a:rPr>
              <a:t>he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is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208438" y="2542056"/>
            <a:ext cx="5365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2195736" y="3356992"/>
            <a:ext cx="5040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1112640" y="4221088"/>
            <a:ext cx="7230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427984" y="5013176"/>
            <a:ext cx="5040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398270" y="5805264"/>
            <a:ext cx="47525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915816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211960" y="3356992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2987824" y="422108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5730674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6954810" y="3356992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5730674" y="4221088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19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Ты собираешься поплавать.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013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87355" y="1628800"/>
            <a:ext cx="730520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58291" y="2542056"/>
            <a:ext cx="1045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419872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6162722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54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87355" y="1628800"/>
            <a:ext cx="856516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>
                <a:latin typeface="Comic Sans MS" panose="030F0702030302020204" pitchFamily="66" charset="0"/>
              </a:rPr>
              <a:t>to </a:t>
            </a:r>
            <a:r>
              <a:rPr lang="en-US" sz="5400" u="sng" dirty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58291" y="2542056"/>
            <a:ext cx="1045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419872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644008" y="3356992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6162722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7380312" y="3356992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2158291" y="3356992"/>
            <a:ext cx="1045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22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87355" y="1628800"/>
            <a:ext cx="8565165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>
                <a:latin typeface="Comic Sans MS" panose="030F0702030302020204" pitchFamily="66" charset="0"/>
              </a:rPr>
              <a:t>to </a:t>
            </a:r>
            <a:r>
              <a:rPr lang="en-US" sz="5400" u="sng" dirty="0">
                <a:latin typeface="Comic Sans MS" panose="030F0702030302020204" pitchFamily="66" charset="0"/>
              </a:rPr>
              <a:t>swim</a:t>
            </a:r>
            <a:r>
              <a:rPr lang="en-US" sz="5400" dirty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?</a:t>
            </a:r>
          </a:p>
          <a:p>
            <a:r>
              <a:rPr lang="en-US" sz="5400" dirty="0" smtClean="0">
                <a:latin typeface="Comic Sans MS" panose="030F0702030302020204" pitchFamily="66" charset="0"/>
              </a:rPr>
              <a:t>     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58291" y="2542056"/>
            <a:ext cx="1045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419872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644008" y="3356992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491880" y="422108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6162722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7380312" y="3356992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6234730" y="4221088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2158291" y="3356992"/>
            <a:ext cx="1045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829599" y="4199776"/>
            <a:ext cx="115011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68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687355" y="1628800"/>
            <a:ext cx="8565165" cy="42473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>
                <a:latin typeface="Comic Sans MS" panose="030F0702030302020204" pitchFamily="66" charset="0"/>
              </a:rPr>
              <a:t>to </a:t>
            </a:r>
            <a:r>
              <a:rPr lang="en-US" sz="5400" u="sng" dirty="0">
                <a:latin typeface="Comic Sans MS" panose="030F0702030302020204" pitchFamily="66" charset="0"/>
              </a:rPr>
              <a:t>swim</a:t>
            </a:r>
            <a:r>
              <a:rPr lang="en-US" sz="5400" dirty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  <a:p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going</a:t>
            </a:r>
            <a:r>
              <a:rPr lang="en-US" sz="5400" dirty="0" smtClean="0">
                <a:latin typeface="Comic Sans MS" panose="030F0702030302020204" pitchFamily="66" charset="0"/>
              </a:rPr>
              <a:t> to </a:t>
            </a:r>
            <a:r>
              <a:rPr lang="en-US" sz="5400" u="sng" dirty="0" smtClean="0">
                <a:latin typeface="Comic Sans MS" panose="030F0702030302020204" pitchFamily="66" charset="0"/>
              </a:rPr>
              <a:t>swim</a:t>
            </a:r>
            <a:r>
              <a:rPr lang="en-US" sz="5400" dirty="0" smtClean="0">
                <a:latin typeface="Comic Sans MS" panose="030F0702030302020204" pitchFamily="66" charset="0"/>
              </a:rPr>
              <a:t>?</a:t>
            </a:r>
          </a:p>
          <a:p>
            <a:r>
              <a:rPr lang="en-US" sz="5400" dirty="0" smtClean="0">
                <a:latin typeface="Comic Sans MS" panose="030F0702030302020204" pitchFamily="66" charset="0"/>
              </a:rPr>
              <a:t>     Yes, </a:t>
            </a:r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. </a:t>
            </a:r>
          </a:p>
          <a:p>
            <a:r>
              <a:rPr lang="en-US" sz="5400" dirty="0" smtClean="0">
                <a:latin typeface="Comic Sans MS" panose="030F0702030302020204" pitchFamily="66" charset="0"/>
              </a:rPr>
              <a:t>     No, </a:t>
            </a:r>
            <a:r>
              <a:rPr lang="en-US" sz="5400" u="sng" dirty="0" smtClean="0">
                <a:latin typeface="Comic Sans MS" panose="030F0702030302020204" pitchFamily="66" charset="0"/>
              </a:rPr>
              <a:t>you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u="sng" dirty="0" smtClean="0">
                <a:latin typeface="Comic Sans MS" panose="030F0702030302020204" pitchFamily="66" charset="0"/>
              </a:rPr>
              <a:t>are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not</a:t>
            </a:r>
            <a:r>
              <a:rPr lang="en-US" sz="5400" dirty="0" smtClean="0">
                <a:latin typeface="Comic Sans MS" panose="030F0702030302020204" pitchFamily="66" charset="0"/>
              </a:rPr>
              <a:t>.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158291" y="2542056"/>
            <a:ext cx="1045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3419872" y="2564904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4644008" y="3356992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491880" y="4221088"/>
            <a:ext cx="16561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6162722" y="2564904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7380312" y="3356992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6234730" y="4221088"/>
            <a:ext cx="15056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2158291" y="3356992"/>
            <a:ext cx="1045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829599" y="4199776"/>
            <a:ext cx="115011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625285" y="4982720"/>
            <a:ext cx="1045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4390539" y="5805264"/>
            <a:ext cx="10455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23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2708920"/>
            <a:ext cx="8507288" cy="417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I am = I’m            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He is = He’s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We are = we’re</a:t>
            </a:r>
          </a:p>
          <a:p>
            <a:pPr marL="0" indent="0">
              <a:buNone/>
            </a:pPr>
            <a:endParaRPr lang="en-US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I am not = I’m not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He is not = he isn’t</a:t>
            </a:r>
          </a:p>
          <a:p>
            <a:pPr marL="0" indent="0">
              <a:buNone/>
            </a:pPr>
            <a:r>
              <a:rPr lang="en-US" dirty="0" smtClean="0">
                <a:latin typeface="Comic Sans MS" panose="030F0702030302020204" pitchFamily="66" charset="0"/>
              </a:rPr>
              <a:t>We are not = we aren’t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707460" y="2708920"/>
            <a:ext cx="42673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latin typeface="Comic Sans MS" panose="030F0702030302020204" pitchFamily="66" charset="0"/>
              </a:rPr>
              <a:t>Утвердительный краткий ответ не сокращается!</a:t>
            </a:r>
            <a:endParaRPr lang="en-US" sz="3600" dirty="0">
              <a:latin typeface="Comic Sans MS" panose="030F0702030302020204" pitchFamily="66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55576" y="1556792"/>
            <a:ext cx="80023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latin typeface="Comic Sans MS" panose="030F0702030302020204" pitchFamily="66" charset="0"/>
              </a:rPr>
              <a:t>Сокращается только глагол </a:t>
            </a:r>
            <a:r>
              <a:rPr lang="en-US" sz="3600" dirty="0" smtClean="0">
                <a:latin typeface="Comic Sans MS" panose="030F0702030302020204" pitchFamily="66" charset="0"/>
              </a:rPr>
              <a:t>to be</a:t>
            </a:r>
            <a:r>
              <a:rPr lang="ru-RU" sz="3600" dirty="0" smtClean="0">
                <a:latin typeface="Comic Sans MS" panose="030F0702030302020204" pitchFamily="66" charset="0"/>
              </a:rPr>
              <a:t> !</a:t>
            </a:r>
            <a:endParaRPr lang="en-US" sz="3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66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88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1268760"/>
            <a:ext cx="88569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/>
              <a:t>Future </a:t>
            </a:r>
            <a:r>
              <a:rPr lang="en-US" sz="6600" b="1" dirty="0"/>
              <a:t>Continuous</a:t>
            </a:r>
            <a:r>
              <a:rPr lang="ru-RU" sz="6600" b="1" dirty="0"/>
              <a:t>. </a:t>
            </a:r>
            <a:endParaRPr lang="en-US" sz="6600" b="1" dirty="0" smtClean="0"/>
          </a:p>
          <a:p>
            <a:pPr algn="ctr"/>
            <a:r>
              <a:rPr lang="ru-RU" sz="6600" b="1" dirty="0"/>
              <a:t/>
            </a:r>
            <a:br>
              <a:rPr lang="ru-RU" sz="6600" b="1" dirty="0"/>
            </a:br>
            <a:r>
              <a:rPr lang="ru-RU" sz="6600" b="1" dirty="0" smtClean="0"/>
              <a:t>Будущее </a:t>
            </a:r>
            <a:r>
              <a:rPr lang="ru-RU" sz="6600" b="1" dirty="0"/>
              <a:t>длительное время.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84970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116632"/>
            <a:ext cx="8964488" cy="582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 время </a:t>
            </a:r>
            <a:r>
              <a:rPr lang="en-US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ru-RU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, когда говорим о действии, которое </a:t>
            </a:r>
            <a:r>
              <a:rPr lang="ru-RU" sz="3600" dirty="0" smtClean="0"/>
              <a:t> </a:t>
            </a:r>
            <a:r>
              <a:rPr lang="ru-RU" sz="3600" dirty="0"/>
              <a:t>будет длиться в определенный момент в будущем</a:t>
            </a:r>
            <a:r>
              <a:rPr lang="ru-RU" sz="36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continuous </a:t>
            </a: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образуется 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 помощью </a:t>
            </a:r>
            <a:r>
              <a:rPr lang="ru-RU" sz="3600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вспомогательного глагола </a:t>
            </a:r>
            <a:r>
              <a:rPr lang="en-US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en-US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глагола </a:t>
            </a:r>
            <a:r>
              <a:rPr lang="en-US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начальной форме и </a:t>
            </a:r>
            <a:r>
              <a:rPr lang="ru-RU" sz="3600" dirty="0">
                <a:solidFill>
                  <a:srgbClr val="0070C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смыслового глагола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 которому добавляется окончание –</a:t>
            </a:r>
            <a:r>
              <a:rPr lang="en-US" sz="3600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ru-RU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63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260648"/>
            <a:ext cx="8784976" cy="6037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5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will + be </a:t>
            </a:r>
            <a:r>
              <a:rPr lang="en-US" sz="5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5400" b="1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5400" b="1" dirty="0" err="1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endParaRPr lang="en-US" sz="5400" b="1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ru-RU" sz="5400" dirty="0" smtClean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ru-RU" sz="5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Слова-указатели:</a:t>
            </a:r>
            <a:r>
              <a:rPr lang="ru-RU" sz="40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dirty="0"/>
              <a:t>at 3 o'clock (</a:t>
            </a:r>
            <a:r>
              <a:rPr lang="ru-RU" sz="4000" dirty="0"/>
              <a:t>в три часа</a:t>
            </a:r>
            <a:r>
              <a:rPr lang="ru-RU" sz="4000" dirty="0" smtClean="0"/>
              <a:t>)</a:t>
            </a:r>
            <a:r>
              <a:rPr lang="en-US" sz="4000" dirty="0" smtClean="0"/>
              <a:t>, </a:t>
            </a:r>
            <a:r>
              <a:rPr lang="en-GB" sz="4000" dirty="0" smtClean="0"/>
              <a:t>this </a:t>
            </a:r>
            <a:r>
              <a:rPr lang="en-GB" sz="4000" dirty="0"/>
              <a:t>time tomorrow (</a:t>
            </a:r>
            <a:r>
              <a:rPr lang="ru-RU" sz="4000" dirty="0"/>
              <a:t>завтра в это же время</a:t>
            </a:r>
            <a:r>
              <a:rPr lang="ru-RU" sz="4000" dirty="0" smtClean="0"/>
              <a:t>)</a:t>
            </a:r>
            <a:r>
              <a:rPr lang="en-US" sz="4000" dirty="0" smtClean="0"/>
              <a:t>, </a:t>
            </a:r>
            <a:r>
              <a:rPr lang="en-GB" sz="4000" dirty="0" smtClean="0"/>
              <a:t>at </a:t>
            </a:r>
            <a:r>
              <a:rPr lang="en-GB" sz="4000" dirty="0"/>
              <a:t>that moment (</a:t>
            </a:r>
            <a:r>
              <a:rPr lang="ru-RU" sz="4000" dirty="0"/>
              <a:t>в тот момент</a:t>
            </a:r>
            <a:r>
              <a:rPr lang="ru-RU" sz="4000" dirty="0" smtClean="0"/>
              <a:t>)</a:t>
            </a:r>
            <a:r>
              <a:rPr lang="en-US" sz="4000" dirty="0" smtClean="0"/>
              <a:t>,</a:t>
            </a:r>
            <a:r>
              <a:rPr lang="ru-RU" sz="4000" dirty="0" smtClean="0"/>
              <a:t> </a:t>
            </a:r>
            <a:r>
              <a:rPr lang="en-GB" sz="4000" dirty="0" smtClean="0"/>
              <a:t>from</a:t>
            </a:r>
            <a:r>
              <a:rPr lang="en-GB" sz="4000" dirty="0"/>
              <a:t>... till… / from...to…. (</a:t>
            </a:r>
            <a:r>
              <a:rPr lang="ru-RU" sz="4000" dirty="0"/>
              <a:t>с...до</a:t>
            </a:r>
            <a:r>
              <a:rPr lang="ru-RU" sz="4000" dirty="0" smtClean="0"/>
              <a:t>...)</a:t>
            </a:r>
            <a:r>
              <a:rPr lang="en-US" sz="4000" dirty="0" smtClean="0"/>
              <a:t>, </a:t>
            </a:r>
            <a:r>
              <a:rPr lang="en-GB" sz="4000" dirty="0" smtClean="0"/>
              <a:t>during … </a:t>
            </a:r>
            <a:r>
              <a:rPr lang="en-GB" sz="4000" dirty="0"/>
              <a:t>(</a:t>
            </a:r>
            <a:r>
              <a:rPr lang="ru-RU" sz="4000" dirty="0"/>
              <a:t>в течение </a:t>
            </a:r>
            <a:r>
              <a:rPr lang="en-US" sz="4000" dirty="0" smtClean="0"/>
              <a:t>…</a:t>
            </a:r>
            <a:r>
              <a:rPr lang="ru-RU" sz="4000" dirty="0" smtClean="0"/>
              <a:t>)</a:t>
            </a:r>
            <a:r>
              <a:rPr lang="en-US" sz="4000" dirty="0" smtClean="0"/>
              <a:t> </a:t>
            </a:r>
            <a:r>
              <a:rPr lang="ru-RU" sz="4000" dirty="0" smtClean="0"/>
              <a:t>и т.д.</a:t>
            </a:r>
            <a:endParaRPr lang="ru-RU" sz="4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940152" y="399753"/>
            <a:ext cx="936104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779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буду играть.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788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515282" y="245093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716016" y="1696943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259632" y="2446193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2593538" y="2447890"/>
            <a:ext cx="63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60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515282" y="245093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716016" y="1696943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187624" y="3501008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34142" y="3521546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59632" y="2446193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940152" y="2708920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593538" y="2447890"/>
            <a:ext cx="63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653243" y="3521546"/>
            <a:ext cx="8510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27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515282" y="245093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716016" y="1696943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187624" y="3501008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34142" y="3521546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930613" y="4509120"/>
            <a:ext cx="11211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631699" y="4534600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59632" y="2446193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940152" y="2708920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4860032" y="3789040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593538" y="2447890"/>
            <a:ext cx="63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653243" y="3521546"/>
            <a:ext cx="8510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2627784" y="4581128"/>
            <a:ext cx="773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62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3515282" y="2450938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716016" y="1696943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187624" y="3501008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34142" y="3521546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930613" y="4509120"/>
            <a:ext cx="11211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631699" y="4534600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850841" y="5589240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727347" y="6669360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59632" y="2446193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5940152" y="2708920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4860032" y="3789040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593538" y="2447890"/>
            <a:ext cx="63937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3653243" y="3521546"/>
            <a:ext cx="8510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2627784" y="4581128"/>
            <a:ext cx="7736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58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0324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>
                <a:latin typeface="Comic Sans MS" panose="030F0702030302020204" pitchFamily="66" charset="0"/>
              </a:rPr>
              <a:t>I will = I’ll</a:t>
            </a:r>
            <a:endParaRPr lang="ru-RU" sz="9600" dirty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en-US" sz="9600" dirty="0">
                <a:latin typeface="Comic Sans MS" panose="030F0702030302020204" pitchFamily="66" charset="0"/>
              </a:rPr>
              <a:t>w</a:t>
            </a:r>
            <a:r>
              <a:rPr lang="en-US" sz="9600" dirty="0" smtClean="0">
                <a:latin typeface="Comic Sans MS" panose="030F0702030302020204" pitchFamily="66" charset="0"/>
              </a:rPr>
              <a:t>ill </a:t>
            </a:r>
            <a:r>
              <a:rPr lang="en-US" sz="9600" dirty="0">
                <a:latin typeface="Comic Sans MS" panose="030F0702030302020204" pitchFamily="66" charset="0"/>
              </a:rPr>
              <a:t>not = won’t</a:t>
            </a:r>
            <a:endParaRPr lang="ru-RU" sz="9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64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19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1268760"/>
            <a:ext cx="88569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/>
              <a:t>Future Perfect</a:t>
            </a:r>
            <a:r>
              <a:rPr lang="ru-RU" sz="6600" b="1" dirty="0" smtClean="0"/>
              <a:t>. </a:t>
            </a:r>
            <a:endParaRPr lang="en-US" sz="6600" b="1" dirty="0" smtClean="0"/>
          </a:p>
          <a:p>
            <a:pPr algn="ctr"/>
            <a:r>
              <a:rPr lang="ru-RU" sz="6600" b="1" dirty="0"/>
              <a:t/>
            </a:r>
            <a:br>
              <a:rPr lang="ru-RU" sz="6600" b="1" dirty="0"/>
            </a:br>
            <a:r>
              <a:rPr lang="ru-RU" sz="6600" b="1" dirty="0" smtClean="0"/>
              <a:t>Будущее</a:t>
            </a:r>
            <a:r>
              <a:rPr lang="en-US" sz="6600" b="1" dirty="0" smtClean="0"/>
              <a:t> </a:t>
            </a:r>
            <a:r>
              <a:rPr lang="ru-RU" sz="6600" b="1" dirty="0" smtClean="0"/>
              <a:t>совершенное время.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4099336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44624"/>
            <a:ext cx="8964488" cy="660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 время </a:t>
            </a:r>
            <a:r>
              <a:rPr lang="en-US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future perfect</a:t>
            </a:r>
            <a:r>
              <a:rPr lang="ru-RU" sz="36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когда говорим о </a:t>
            </a:r>
            <a:r>
              <a:rPr lang="ru-RU" sz="36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действии, которое</a:t>
            </a:r>
            <a:r>
              <a:rPr lang="ru-RU" sz="3600" dirty="0" smtClean="0"/>
              <a:t> </a:t>
            </a:r>
            <a:r>
              <a:rPr lang="ru-RU" sz="3600" dirty="0"/>
              <a:t>закончится </a:t>
            </a:r>
            <a:r>
              <a:rPr lang="ru-RU" sz="3600" dirty="0" smtClean="0"/>
              <a:t>до </a:t>
            </a:r>
            <a:r>
              <a:rPr lang="ru-RU" sz="3600" dirty="0"/>
              <a:t>определенного </a:t>
            </a:r>
            <a:r>
              <a:rPr lang="ru-RU" sz="3600" dirty="0" smtClean="0"/>
              <a:t>момента в будущем.</a:t>
            </a:r>
            <a:endParaRPr lang="en-US" sz="3600" dirty="0" smtClean="0"/>
          </a:p>
          <a:p>
            <a:pPr algn="ctr">
              <a:lnSpc>
                <a:spcPct val="115000"/>
              </a:lnSpc>
            </a:pPr>
            <a:endParaRPr lang="en-US" sz="1600" b="1" dirty="0" smtClea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</a:pPr>
            <a:r>
              <a:rPr lang="en-US" sz="40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sz="40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+ have + V</a:t>
            </a:r>
            <a:r>
              <a:rPr lang="en-US" sz="40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₃</a:t>
            </a:r>
          </a:p>
          <a:p>
            <a:pPr algn="ctr">
              <a:lnSpc>
                <a:spcPct val="115000"/>
              </a:lnSpc>
            </a:pPr>
            <a:endParaRPr lang="ru-RU" sz="2400" dirty="0" smtClean="0"/>
          </a:p>
          <a:p>
            <a:pPr>
              <a:lnSpc>
                <a:spcPct val="115000"/>
              </a:lnSpc>
            </a:pPr>
            <a:r>
              <a:rPr lang="ru-RU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Слова-указатели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err="1"/>
              <a:t>by</a:t>
            </a:r>
            <a:r>
              <a:rPr lang="ru-RU" sz="3600" dirty="0"/>
              <a:t> (к какому-то моменту), </a:t>
            </a:r>
            <a:r>
              <a:rPr lang="ru-RU" sz="3600" dirty="0" err="1"/>
              <a:t>by</a:t>
            </a:r>
            <a:r>
              <a:rPr lang="ru-RU" sz="3600" dirty="0"/>
              <a:t> </a:t>
            </a:r>
            <a:r>
              <a:rPr lang="ru-RU" sz="3600" dirty="0" err="1"/>
              <a:t>then</a:t>
            </a:r>
            <a:r>
              <a:rPr lang="ru-RU" sz="3600" dirty="0"/>
              <a:t> (к тому времени), </a:t>
            </a:r>
            <a:r>
              <a:rPr lang="ru-RU" sz="3600" dirty="0" err="1"/>
              <a:t>by</a:t>
            </a:r>
            <a:r>
              <a:rPr lang="ru-RU" sz="3600" dirty="0"/>
              <a:t> </a:t>
            </a:r>
            <a:r>
              <a:rPr lang="ru-RU" sz="3600" dirty="0" err="1"/>
              <a:t>the</a:t>
            </a:r>
            <a:r>
              <a:rPr lang="ru-RU" sz="3600" dirty="0"/>
              <a:t> </a:t>
            </a:r>
            <a:r>
              <a:rPr lang="ru-RU" sz="3600" dirty="0" err="1"/>
              <a:t>time</a:t>
            </a:r>
            <a:r>
              <a:rPr lang="ru-RU" sz="3600" dirty="0"/>
              <a:t> (к тому времени как), </a:t>
            </a:r>
            <a:r>
              <a:rPr lang="ru-RU" sz="3600" dirty="0" err="1"/>
              <a:t>before</a:t>
            </a:r>
            <a:r>
              <a:rPr lang="ru-RU" sz="3600" dirty="0"/>
              <a:t> (перед тем как), </a:t>
            </a:r>
            <a:r>
              <a:rPr lang="ru-RU" sz="3600" dirty="0" err="1"/>
              <a:t>until</a:t>
            </a:r>
            <a:r>
              <a:rPr lang="ru-RU" sz="3600" dirty="0"/>
              <a:t>/</a:t>
            </a:r>
            <a:r>
              <a:rPr lang="ru-RU" sz="3600" dirty="0" err="1"/>
              <a:t>till</a:t>
            </a:r>
            <a:r>
              <a:rPr lang="ru-RU" sz="3600" dirty="0"/>
              <a:t> (до того как), </a:t>
            </a:r>
            <a:r>
              <a:rPr lang="ru-RU" sz="3600" dirty="0" err="1"/>
              <a:t>for</a:t>
            </a:r>
            <a:r>
              <a:rPr lang="ru-RU" sz="3600" dirty="0"/>
              <a:t> (в течение, на </a:t>
            </a:r>
            <a:r>
              <a:rPr lang="ru-RU" sz="3600" dirty="0" smtClean="0"/>
              <a:t>протяжении)</a:t>
            </a:r>
            <a:endParaRPr lang="ru-RU" sz="3600" dirty="0" smtClean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0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сыгра</a:t>
            </a:r>
            <a:r>
              <a:rPr lang="ru-RU" dirty="0"/>
              <a:t>ю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085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139952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436096" y="1624622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24883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1259632" y="2492896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57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139952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436096" y="1624622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5431520" y="3508216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640460" y="350821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24883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6655656" y="2676422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1259632" y="2492896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259632" y="3508216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44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139952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436096" y="1624622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2627784" y="4581128"/>
            <a:ext cx="1512168" cy="49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357112" y="458112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5431520" y="3508216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692669" y="350821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24883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6655656" y="2676422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5581248" y="3732989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1259632" y="2492896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259632" y="3508216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971600" y="4581128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02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570368" y="1417638"/>
            <a:ext cx="8363272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played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No,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4139952" y="242088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5436096" y="1624622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2627784" y="4581128"/>
            <a:ext cx="1512168" cy="49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4357112" y="4581128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712468" y="6669360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5431520" y="3508216"/>
            <a:ext cx="2016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3712468" y="350821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2488332" y="2420888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6655656" y="2676422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5581248" y="3732989"/>
            <a:ext cx="792088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3856484" y="5589240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1259632" y="2492896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1259632" y="3508216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971600" y="4581128"/>
            <a:ext cx="107555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03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0324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>
                <a:latin typeface="Comic Sans MS" panose="030F0702030302020204" pitchFamily="66" charset="0"/>
              </a:rPr>
              <a:t>I will = I’ll</a:t>
            </a:r>
            <a:endParaRPr lang="ru-RU" sz="9600" dirty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en-US" sz="9600" dirty="0">
                <a:latin typeface="Comic Sans MS" panose="030F0702030302020204" pitchFamily="66" charset="0"/>
              </a:rPr>
              <a:t>w</a:t>
            </a:r>
            <a:r>
              <a:rPr lang="en-US" sz="9600" dirty="0" smtClean="0">
                <a:latin typeface="Comic Sans MS" panose="030F0702030302020204" pitchFamily="66" charset="0"/>
              </a:rPr>
              <a:t>ill </a:t>
            </a:r>
            <a:r>
              <a:rPr lang="en-US" sz="9600" dirty="0">
                <a:latin typeface="Comic Sans MS" panose="030F0702030302020204" pitchFamily="66" charset="0"/>
              </a:rPr>
              <a:t>not = won’t</a:t>
            </a:r>
            <a:endParaRPr lang="ru-RU" sz="9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587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kysmart Таблица английских време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3718"/>
            <a:ext cx="9144000" cy="631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031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3508" y="404664"/>
            <a:ext cx="885698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/>
              <a:t>Future Perfect Continuous</a:t>
            </a:r>
            <a:r>
              <a:rPr lang="ru-RU" sz="6600" b="1" dirty="0" smtClean="0"/>
              <a:t>. </a:t>
            </a:r>
            <a:endParaRPr lang="en-US" sz="6600" b="1" dirty="0" smtClean="0"/>
          </a:p>
          <a:p>
            <a:pPr algn="ctr"/>
            <a:endParaRPr lang="ru-RU" sz="6600" b="1" dirty="0" smtClean="0"/>
          </a:p>
          <a:p>
            <a:pPr algn="ctr"/>
            <a:r>
              <a:rPr lang="ru-RU" sz="6600" b="1" dirty="0" smtClean="0"/>
              <a:t>Будущее</a:t>
            </a:r>
            <a:r>
              <a:rPr lang="en-US" sz="6600" b="1" dirty="0" smtClean="0"/>
              <a:t> </a:t>
            </a:r>
            <a:r>
              <a:rPr lang="ru-RU" sz="6600" b="1" dirty="0" smtClean="0"/>
              <a:t>совершенное длительное время.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51073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44624"/>
            <a:ext cx="8964488" cy="695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Мы используем время </a:t>
            </a:r>
            <a:r>
              <a:rPr lang="en-US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future perfect continuous</a:t>
            </a:r>
            <a:r>
              <a:rPr lang="ru-RU" sz="36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когда говорим о </a:t>
            </a:r>
            <a:r>
              <a:rPr lang="ru-RU" sz="36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действии, которое</a:t>
            </a:r>
            <a:r>
              <a:rPr lang="ru-RU" sz="3600" dirty="0" smtClean="0"/>
              <a:t> </a:t>
            </a:r>
            <a:r>
              <a:rPr lang="ru-RU" sz="3600" dirty="0"/>
              <a:t>закончится </a:t>
            </a:r>
            <a:r>
              <a:rPr lang="ru-RU" sz="3600" dirty="0" smtClean="0"/>
              <a:t>до </a:t>
            </a:r>
            <a:r>
              <a:rPr lang="ru-RU" sz="3600" dirty="0"/>
              <a:t>определенного </a:t>
            </a:r>
            <a:r>
              <a:rPr lang="ru-RU" sz="3600" dirty="0" smtClean="0"/>
              <a:t>момента в будущем.</a:t>
            </a:r>
            <a:endParaRPr lang="en-US" sz="3600" dirty="0" smtClean="0"/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US" sz="2400" dirty="0" smtClean="0"/>
          </a:p>
          <a:p>
            <a:pPr algn="ctr">
              <a:lnSpc>
                <a:spcPct val="115000"/>
              </a:lnSpc>
            </a:pPr>
            <a:r>
              <a:rPr lang="en-US" sz="44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will + have + been + </a:t>
            </a:r>
            <a:r>
              <a:rPr lang="en-US" sz="4400" b="1" dirty="0" err="1" smtClean="0">
                <a:ea typeface="Times New Roman" panose="02020603050405020304" pitchFamily="18" charset="0"/>
                <a:cs typeface="Times New Roman" panose="02020603050405020304" pitchFamily="18" charset="0"/>
              </a:rPr>
              <a:t>Ving</a:t>
            </a:r>
            <a:endParaRPr lang="en-US" sz="4400" b="1" dirty="0" smtClea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</a:pPr>
            <a:endParaRPr lang="ru-RU" sz="2000" dirty="0" smtClean="0"/>
          </a:p>
          <a:p>
            <a:pPr>
              <a:lnSpc>
                <a:spcPct val="115000"/>
              </a:lnSpc>
            </a:pPr>
            <a:r>
              <a:rPr lang="ru-RU" sz="36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Слова-указатели</a:t>
            </a:r>
            <a:r>
              <a:rPr lang="ru-RU" sz="36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360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/>
              <a:t>предлог </a:t>
            </a:r>
            <a:r>
              <a:rPr lang="ru-RU" sz="3600" dirty="0" err="1"/>
              <a:t>by</a:t>
            </a:r>
            <a:r>
              <a:rPr lang="ru-RU" sz="3600" dirty="0"/>
              <a:t> (к определенному моменту): </a:t>
            </a:r>
            <a:r>
              <a:rPr lang="ru-RU" sz="3600" dirty="0" err="1"/>
              <a:t>by</a:t>
            </a:r>
            <a:r>
              <a:rPr lang="ru-RU" sz="3600" dirty="0"/>
              <a:t> </a:t>
            </a:r>
            <a:r>
              <a:rPr lang="ru-RU" sz="3600" dirty="0" err="1"/>
              <a:t>the</a:t>
            </a:r>
            <a:r>
              <a:rPr lang="ru-RU" sz="3600" dirty="0"/>
              <a:t> </a:t>
            </a:r>
            <a:r>
              <a:rPr lang="ru-RU" sz="3600" dirty="0" err="1"/>
              <a:t>time</a:t>
            </a:r>
            <a:r>
              <a:rPr lang="ru-RU" sz="3600" dirty="0"/>
              <a:t> (к тому времени как), </a:t>
            </a:r>
            <a:r>
              <a:rPr lang="ru-RU" sz="3600" dirty="0" err="1"/>
              <a:t>by</a:t>
            </a:r>
            <a:r>
              <a:rPr lang="ru-RU" sz="3600" dirty="0"/>
              <a:t> </a:t>
            </a:r>
            <a:r>
              <a:rPr lang="ru-RU" sz="3600" dirty="0" err="1"/>
              <a:t>the</a:t>
            </a:r>
            <a:r>
              <a:rPr lang="ru-RU" sz="3600" dirty="0"/>
              <a:t> </a:t>
            </a:r>
            <a:r>
              <a:rPr lang="ru-RU" sz="3600" dirty="0" err="1"/>
              <a:t>end</a:t>
            </a:r>
            <a:r>
              <a:rPr lang="ru-RU" sz="3600" dirty="0"/>
              <a:t> </a:t>
            </a:r>
            <a:r>
              <a:rPr lang="ru-RU" sz="3600" dirty="0" err="1"/>
              <a:t>of</a:t>
            </a:r>
            <a:r>
              <a:rPr lang="ru-RU" sz="3600" dirty="0"/>
              <a:t> </a:t>
            </a:r>
            <a:r>
              <a:rPr lang="ru-RU" sz="3600" dirty="0" err="1"/>
              <a:t>the</a:t>
            </a:r>
            <a:r>
              <a:rPr lang="ru-RU" sz="3600" dirty="0"/>
              <a:t> </a:t>
            </a:r>
            <a:r>
              <a:rPr lang="ru-RU" sz="3600" dirty="0" err="1"/>
              <a:t>day</a:t>
            </a:r>
            <a:r>
              <a:rPr lang="ru-RU" sz="3600" dirty="0"/>
              <a:t> (к концу дня) и т. д.</a:t>
            </a:r>
            <a:endParaRPr lang="ru-RU" sz="3600" dirty="0" smtClean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804248" y="3046487"/>
            <a:ext cx="936104" cy="792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23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+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-</a:t>
            </a:r>
          </a:p>
          <a:p>
            <a:pPr marL="0" indent="0">
              <a:buNone/>
            </a:pPr>
            <a:r>
              <a:rPr lang="ru-RU" sz="4800" dirty="0" smtClean="0">
                <a:latin typeface="Comic Sans MS" panose="030F0702030302020204" pitchFamily="66" charset="0"/>
              </a:rPr>
              <a:t>?</a:t>
            </a:r>
            <a:r>
              <a:rPr lang="en-US" sz="4800" dirty="0" smtClean="0">
                <a:latin typeface="Comic Sans MS" panose="030F0702030302020204" pitchFamily="66" charset="0"/>
              </a:rPr>
              <a:t>   </a:t>
            </a:r>
            <a:endParaRPr lang="en-US" sz="4800" u="sng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800" dirty="0" smtClean="0">
                <a:latin typeface="Comic Sans MS" panose="030F0702030302020204" pitchFamily="66" charset="0"/>
              </a:rPr>
              <a:t>Y/N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84482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780928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356992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286624" y="4293096"/>
            <a:ext cx="1477064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831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Я буду играть.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669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57201" y="1417638"/>
            <a:ext cx="8699282" cy="109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818998" y="2447890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7015751" y="1662869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187624" y="2447890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2422540" y="2469534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111693" y="247223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94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57201" y="1417638"/>
            <a:ext cx="8699282" cy="214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56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56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818998" y="2447890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7015751" y="1662869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95093" y="351125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6513024" y="345753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187624" y="2447890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723231" y="2646390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422540" y="2469534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5033661" y="3511258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111693" y="247223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3426418" y="3511258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62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57201" y="1417638"/>
            <a:ext cx="8699282" cy="4268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56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56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818998" y="2447890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7015751" y="1662869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95093" y="351125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6513024" y="345753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876355" y="4491960"/>
            <a:ext cx="11211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5931434" y="4509120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187624" y="2447890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723231" y="2646390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7141641" y="3714946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422540" y="2469534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5033661" y="3511258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4205018" y="452852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111693" y="247223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3426418" y="3511258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2555776" y="4509120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78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строить предложения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+</a:t>
            </a:r>
            <a:r>
              <a:rPr lang="en-US" sz="5400" dirty="0" smtClean="0">
                <a:latin typeface="Comic Sans MS" panose="030F0702030302020204" pitchFamily="66" charset="0"/>
              </a:rPr>
              <a:t>   </a:t>
            </a:r>
            <a:endParaRPr lang="ru-RU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-</a:t>
            </a:r>
            <a:endParaRPr lang="en-US" sz="5400" dirty="0" smtClean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sz="5400" dirty="0" smtClean="0">
                <a:latin typeface="Comic Sans MS" panose="030F0702030302020204" pitchFamily="66" charset="0"/>
              </a:rPr>
              <a:t>?</a:t>
            </a:r>
            <a:r>
              <a:rPr lang="en-US" sz="5400" dirty="0" smtClean="0">
                <a:latin typeface="Comic Sans MS" panose="030F0702030302020204" pitchFamily="66" charset="0"/>
              </a:rPr>
              <a:t> </a:t>
            </a:r>
          </a:p>
          <a:p>
            <a:pPr marL="0" indent="0">
              <a:buNone/>
            </a:pPr>
            <a:r>
              <a:rPr lang="en-US" sz="5400" dirty="0" smtClean="0">
                <a:latin typeface="Comic Sans MS" panose="030F0702030302020204" pitchFamily="66" charset="0"/>
              </a:rPr>
              <a:t>Y/N</a:t>
            </a:r>
            <a:endParaRPr lang="ru-RU" sz="5400" dirty="0">
              <a:latin typeface="Comic Sans MS" panose="030F0702030302020204" pitchFamily="66" charset="0"/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323528" y="1916832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323528" y="2924944"/>
            <a:ext cx="432048" cy="3600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23528" y="3645024"/>
            <a:ext cx="432048" cy="720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31533" y="4581128"/>
            <a:ext cx="1787247" cy="8712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57201" y="1417638"/>
            <a:ext cx="8699282" cy="5330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56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</a:t>
            </a:r>
            <a:r>
              <a:rPr lang="en-US" sz="56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6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5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been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playing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ru-RU" sz="5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sz="6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0"/>
              </a:spcAft>
            </a:pPr>
            <a:r>
              <a:rPr lang="ru-RU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</a:t>
            </a:r>
            <a:r>
              <a:rPr lang="ru-RU" sz="6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6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60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6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5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818998" y="2447890"/>
            <a:ext cx="21591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7015751" y="1662869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95093" y="3511258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6513024" y="3457538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876355" y="4491960"/>
            <a:ext cx="11211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5931434" y="4509120"/>
            <a:ext cx="21686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3674157" y="5517232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563888" y="6597352"/>
            <a:ext cx="11326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187624" y="2447890"/>
            <a:ext cx="10297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7723231" y="2646390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7141641" y="3714946"/>
            <a:ext cx="958427" cy="6766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2422540" y="2469534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5033661" y="3511258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4205018" y="4528520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4111693" y="2472236"/>
            <a:ext cx="15076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3426418" y="3511258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2555776" y="4509120"/>
            <a:ext cx="1370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25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568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Contractions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/>
            </a:r>
            <a:b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Сокращения</a:t>
            </a:r>
            <a:endParaRPr lang="ru-RU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0324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>
                <a:latin typeface="Comic Sans MS" panose="030F0702030302020204" pitchFamily="66" charset="0"/>
              </a:rPr>
              <a:t>I will = I’ll</a:t>
            </a:r>
            <a:endParaRPr lang="ru-RU" sz="9600" dirty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en-US" sz="9600" dirty="0">
                <a:latin typeface="Comic Sans MS" panose="030F0702030302020204" pitchFamily="66" charset="0"/>
              </a:rPr>
              <a:t>w</a:t>
            </a:r>
            <a:r>
              <a:rPr lang="en-US" sz="9600" dirty="0" smtClean="0">
                <a:latin typeface="Comic Sans MS" panose="030F0702030302020204" pitchFamily="66" charset="0"/>
              </a:rPr>
              <a:t>ill </a:t>
            </a:r>
            <a:r>
              <a:rPr lang="en-US" sz="9600" dirty="0">
                <a:latin typeface="Comic Sans MS" panose="030F0702030302020204" pitchFamily="66" charset="0"/>
              </a:rPr>
              <a:t>not = won’t</a:t>
            </a:r>
            <a:endParaRPr lang="ru-RU" sz="96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66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1279</Words>
  <Application>Microsoft Office PowerPoint</Application>
  <PresentationFormat>Экран (4:3)</PresentationFormat>
  <Paragraphs>330</Paragraphs>
  <Slides>56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57" baseType="lpstr">
      <vt:lpstr>Тема Office</vt:lpstr>
      <vt:lpstr>Future Tenses</vt:lpstr>
      <vt:lpstr>Презентация PowerPoint</vt:lpstr>
      <vt:lpstr>Презентация PowerPoint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  <vt:lpstr>Презентация PowerPoint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  <vt:lpstr>Презентация PowerPoint</vt:lpstr>
      <vt:lpstr>Презентация PowerPoint</vt:lpstr>
      <vt:lpstr>Презентация PowerPoint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Как строить предложения</vt:lpstr>
      <vt:lpstr>Contractions Сокращения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Tenses</dc:title>
  <dc:creator>student</dc:creator>
  <cp:lastModifiedBy>Student ZO</cp:lastModifiedBy>
  <cp:revision>52</cp:revision>
  <dcterms:created xsi:type="dcterms:W3CDTF">2023-09-06T06:40:24Z</dcterms:created>
  <dcterms:modified xsi:type="dcterms:W3CDTF">2023-11-09T08:29:07Z</dcterms:modified>
</cp:coreProperties>
</file>