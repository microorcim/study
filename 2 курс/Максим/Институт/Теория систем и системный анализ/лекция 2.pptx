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3"/>
    <p:sldId id="258" r:id="rId4"/>
    <p:sldId id="268" r:id="rId5"/>
    <p:sldId id="265" r:id="rId6"/>
    <p:sldId id="260" r:id="rId7"/>
    <p:sldId id="266" r:id="rId8"/>
    <p:sldId id="267" r:id="rId9"/>
    <p:sldId id="269" r:id="rId10"/>
    <p:sldId id="270" r:id="rId11"/>
    <p:sldId id="285" r:id="rId12"/>
    <p:sldId id="286" r:id="rId13"/>
    <p:sldId id="287" r:id="rId14"/>
    <p:sldId id="262" r:id="rId15"/>
    <p:sldId id="288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6DB7"/>
    <a:srgbClr val="01B5EE"/>
    <a:srgbClr val="FFFFFF"/>
    <a:srgbClr val="086DB8"/>
    <a:srgbClr val="0297D8"/>
    <a:srgbClr val="0183C8"/>
    <a:srgbClr val="51C7F3"/>
    <a:srgbClr val="084B9D"/>
    <a:srgbClr val="164A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838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F941C-CFB0-4F11-B733-C4BE955A35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95965-4D93-4CF5-B6EA-EEBE68E5FA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0" y="0"/>
            <a:ext cx="4610735" cy="5810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flipV="1">
            <a:off x="9203690" y="635"/>
            <a:ext cx="2924175" cy="3686175"/>
          </a:xfrm>
          <a:custGeom>
            <a:avLst/>
            <a:gdLst>
              <a:gd name="connsiteX0" fmla="*/ 0 w 4829764"/>
              <a:gd name="connsiteY0" fmla="*/ 6085967 h 6085967"/>
              <a:gd name="connsiteX1" fmla="*/ 4829764 w 4829764"/>
              <a:gd name="connsiteY1" fmla="*/ 6085967 h 6085967"/>
              <a:gd name="connsiteX2" fmla="*/ 4829764 w 4829764"/>
              <a:gd name="connsiteY2" fmla="*/ 0 h 6085967"/>
              <a:gd name="connsiteX3" fmla="*/ 2274590 w 4829764"/>
              <a:gd name="connsiteY3" fmla="*/ 0 h 6085967"/>
              <a:gd name="connsiteX4" fmla="*/ 2414882 w 4829764"/>
              <a:gd name="connsiteY4" fmla="*/ 117230 h 6085967"/>
              <a:gd name="connsiteX5" fmla="*/ 1216730 w 4829764"/>
              <a:gd name="connsiteY5" fmla="*/ 1551084 h 6085967"/>
              <a:gd name="connsiteX6" fmla="*/ 0 w 4829764"/>
              <a:gd name="connsiteY6" fmla="*/ 534364 h 6085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29764" h="6085967">
                <a:moveTo>
                  <a:pt x="0" y="6085967"/>
                </a:moveTo>
                <a:lnTo>
                  <a:pt x="4829764" y="6085967"/>
                </a:lnTo>
                <a:lnTo>
                  <a:pt x="4829764" y="0"/>
                </a:lnTo>
                <a:lnTo>
                  <a:pt x="2274590" y="0"/>
                </a:lnTo>
                <a:lnTo>
                  <a:pt x="2414882" y="117230"/>
                </a:lnTo>
                <a:lnTo>
                  <a:pt x="1216730" y="1551084"/>
                </a:lnTo>
                <a:lnTo>
                  <a:pt x="0" y="534364"/>
                </a:lnTo>
                <a:close/>
              </a:path>
            </a:pathLst>
          </a:custGeom>
        </p:spPr>
      </p:pic>
      <p:sp>
        <p:nvSpPr>
          <p:cNvPr id="5" name="文本框 4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3616960" y="3088640"/>
            <a:ext cx="68008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2. Лекция: Описания, базовые структуры и этапы</a:t>
            </a:r>
            <a:endParaRPr lang="en-US" altLang="zh-CN" sz="36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36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анализа систем</a:t>
            </a:r>
            <a:endParaRPr lang="en-US" altLang="zh-CN" sz="36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6" name="文本框 5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202315" y="6182528"/>
            <a:ext cx="56366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 b="1" dirty="0" smtClean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方正兰亭超细黑简体" panose="02000000000000000000" pitchFamily="2" charset="-122"/>
                <a:cs typeface="Arial" panose="020B0604020202020204" pitchFamily="34" charset="0"/>
              </a:rPr>
              <a:t>Ветютнев Даниил Андреевич</a:t>
            </a:r>
            <a:endParaRPr lang="ru-RU" altLang="en-US" sz="24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方正兰亭超细黑简体" panose="02000000000000000000" pitchFamily="2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45749" y="1136528"/>
            <a:ext cx="1752533" cy="1332805"/>
            <a:chOff x="4315637" y="2408725"/>
            <a:chExt cx="5250521" cy="3993035"/>
          </a:xfrm>
          <a:gradFill>
            <a:gsLst>
              <a:gs pos="0">
                <a:srgbClr val="51C7F3"/>
              </a:gs>
              <a:gs pos="100000">
                <a:srgbClr val="084B9D"/>
              </a:gs>
            </a:gsLst>
            <a:lin ang="5400000" scaled="1"/>
          </a:gradFill>
          <a:effectLst/>
        </p:grpSpPr>
        <p:sp>
          <p:nvSpPr>
            <p:cNvPr id="9" name="圆角矩形 8"/>
            <p:cNvSpPr/>
            <p:nvPr/>
          </p:nvSpPr>
          <p:spPr>
            <a:xfrm rot="19980000">
              <a:off x="5083085" y="2415286"/>
              <a:ext cx="531731" cy="397568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 rot="19980000">
              <a:off x="6673794" y="2408725"/>
              <a:ext cx="531731" cy="3975688"/>
            </a:xfrm>
            <a:custGeom>
              <a:avLst/>
              <a:gdLst>
                <a:gd name="connsiteX0" fmla="*/ 570188 w 570188"/>
                <a:gd name="connsiteY0" fmla="*/ 2413647 h 4263224"/>
                <a:gd name="connsiteX1" fmla="*/ 570188 w 570188"/>
                <a:gd name="connsiteY1" fmla="*/ 3978129 h 4263224"/>
                <a:gd name="connsiteX2" fmla="*/ 285094 w 570188"/>
                <a:gd name="connsiteY2" fmla="*/ 4263224 h 4263224"/>
                <a:gd name="connsiteX3" fmla="*/ 0 w 570188"/>
                <a:gd name="connsiteY3" fmla="*/ 3978129 h 4263224"/>
                <a:gd name="connsiteX4" fmla="*/ 0 w 570188"/>
                <a:gd name="connsiteY4" fmla="*/ 2827912 h 4263224"/>
                <a:gd name="connsiteX5" fmla="*/ 396065 w 570188"/>
                <a:gd name="connsiteY5" fmla="*/ 22404 h 4263224"/>
                <a:gd name="connsiteX6" fmla="*/ 570188 w 570188"/>
                <a:gd name="connsiteY6" fmla="*/ 285094 h 4263224"/>
                <a:gd name="connsiteX7" fmla="*/ 570188 w 570188"/>
                <a:gd name="connsiteY7" fmla="*/ 1355778 h 4263224"/>
                <a:gd name="connsiteX8" fmla="*/ 0 w 570188"/>
                <a:gd name="connsiteY8" fmla="*/ 1770044 h 4263224"/>
                <a:gd name="connsiteX9" fmla="*/ 0 w 570188"/>
                <a:gd name="connsiteY9" fmla="*/ 285094 h 4263224"/>
                <a:gd name="connsiteX10" fmla="*/ 285094 w 570188"/>
                <a:gd name="connsiteY10" fmla="*/ 0 h 4263224"/>
                <a:gd name="connsiteX11" fmla="*/ 396065 w 570188"/>
                <a:gd name="connsiteY11" fmla="*/ 22404 h 426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0188" h="4263224">
                  <a:moveTo>
                    <a:pt x="570188" y="2413647"/>
                  </a:moveTo>
                  <a:lnTo>
                    <a:pt x="570188" y="3978129"/>
                  </a:lnTo>
                  <a:cubicBezTo>
                    <a:pt x="570188" y="4135582"/>
                    <a:pt x="442547" y="4263223"/>
                    <a:pt x="285094" y="4263224"/>
                  </a:cubicBezTo>
                  <a:cubicBezTo>
                    <a:pt x="127641" y="4263223"/>
                    <a:pt x="0" y="4135582"/>
                    <a:pt x="0" y="3978129"/>
                  </a:cubicBezTo>
                  <a:lnTo>
                    <a:pt x="0" y="2827912"/>
                  </a:lnTo>
                  <a:close/>
                  <a:moveTo>
                    <a:pt x="396065" y="22404"/>
                  </a:moveTo>
                  <a:cubicBezTo>
                    <a:pt x="498390" y="65684"/>
                    <a:pt x="570188" y="167004"/>
                    <a:pt x="570188" y="285094"/>
                  </a:cubicBezTo>
                  <a:lnTo>
                    <a:pt x="570188" y="1355778"/>
                  </a:lnTo>
                  <a:lnTo>
                    <a:pt x="0" y="1770044"/>
                  </a:lnTo>
                  <a:lnTo>
                    <a:pt x="0" y="285094"/>
                  </a:lnTo>
                  <a:cubicBezTo>
                    <a:pt x="0" y="127641"/>
                    <a:pt x="127641" y="0"/>
                    <a:pt x="285094" y="0"/>
                  </a:cubicBezTo>
                  <a:cubicBezTo>
                    <a:pt x="324457" y="0"/>
                    <a:pt x="361957" y="7978"/>
                    <a:pt x="396065" y="224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 rot="5400000" flipH="1">
              <a:off x="5098906" y="1809898"/>
              <a:ext cx="531731" cy="20982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 rot="1620000" flipH="1">
              <a:off x="8252911" y="2418564"/>
              <a:ext cx="531731" cy="397568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 rot="16200000">
              <a:off x="8251157" y="1813177"/>
              <a:ext cx="531731" cy="20982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620000" flipH="1">
              <a:off x="6662201" y="2426073"/>
              <a:ext cx="531731" cy="397568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6831221" y="2901611"/>
            <a:ext cx="540000" cy="0"/>
          </a:xfrm>
          <a:prstGeom prst="line">
            <a:avLst/>
          </a:prstGeom>
          <a:noFill/>
          <a:ln w="38100">
            <a:solidFill>
              <a:srgbClr val="026DB7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0" y="0"/>
            <a:ext cx="5329555" cy="59543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99" t="54744" r="55383" b="34274"/>
          <a:stretch>
            <a:fillRect/>
          </a:stretch>
        </p:blipFill>
        <p:spPr>
          <a:xfrm>
            <a:off x="5482234" y="3128493"/>
            <a:ext cx="846752" cy="846752"/>
          </a:xfrm>
          <a:custGeom>
            <a:avLst/>
            <a:gdLst>
              <a:gd name="connsiteX0" fmla="*/ 479588 w 959176"/>
              <a:gd name="connsiteY0" fmla="*/ 0 h 959176"/>
              <a:gd name="connsiteX1" fmla="*/ 959176 w 959176"/>
              <a:gd name="connsiteY1" fmla="*/ 479588 h 959176"/>
              <a:gd name="connsiteX2" fmla="*/ 479588 w 959176"/>
              <a:gd name="connsiteY2" fmla="*/ 959176 h 959176"/>
              <a:gd name="connsiteX3" fmla="*/ 0 w 959176"/>
              <a:gd name="connsiteY3" fmla="*/ 479588 h 959176"/>
              <a:gd name="connsiteX4" fmla="*/ 479588 w 959176"/>
              <a:gd name="connsiteY4" fmla="*/ 0 h 95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9176" h="959176">
                <a:moveTo>
                  <a:pt x="479588" y="0"/>
                </a:moveTo>
                <a:cubicBezTo>
                  <a:pt x="744457" y="0"/>
                  <a:pt x="959176" y="214719"/>
                  <a:pt x="959176" y="479588"/>
                </a:cubicBezTo>
                <a:cubicBezTo>
                  <a:pt x="959176" y="744457"/>
                  <a:pt x="744457" y="959176"/>
                  <a:pt x="479588" y="959176"/>
                </a:cubicBezTo>
                <a:cubicBezTo>
                  <a:pt x="214719" y="959176"/>
                  <a:pt x="0" y="744457"/>
                  <a:pt x="0" y="479588"/>
                </a:cubicBezTo>
                <a:cubicBezTo>
                  <a:pt x="0" y="214719"/>
                  <a:pt x="214719" y="0"/>
                  <a:pt x="479588" y="0"/>
                </a:cubicBezTo>
                <a:close/>
              </a:path>
            </a:pathLst>
          </a:cu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40" t="40370" r="55541" b="48648"/>
          <a:stretch>
            <a:fillRect/>
          </a:stretch>
        </p:blipFill>
        <p:spPr>
          <a:xfrm>
            <a:off x="5481599" y="1323060"/>
            <a:ext cx="846752" cy="846752"/>
          </a:xfrm>
          <a:custGeom>
            <a:avLst/>
            <a:gdLst>
              <a:gd name="connsiteX0" fmla="*/ 479588 w 959176"/>
              <a:gd name="connsiteY0" fmla="*/ 0 h 959176"/>
              <a:gd name="connsiteX1" fmla="*/ 959176 w 959176"/>
              <a:gd name="connsiteY1" fmla="*/ 479588 h 959176"/>
              <a:gd name="connsiteX2" fmla="*/ 479588 w 959176"/>
              <a:gd name="connsiteY2" fmla="*/ 959176 h 959176"/>
              <a:gd name="connsiteX3" fmla="*/ 0 w 959176"/>
              <a:gd name="connsiteY3" fmla="*/ 479588 h 959176"/>
              <a:gd name="connsiteX4" fmla="*/ 479588 w 959176"/>
              <a:gd name="connsiteY4" fmla="*/ 0 h 959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9176" h="959176">
                <a:moveTo>
                  <a:pt x="479588" y="0"/>
                </a:moveTo>
                <a:cubicBezTo>
                  <a:pt x="744457" y="0"/>
                  <a:pt x="959176" y="214719"/>
                  <a:pt x="959176" y="479588"/>
                </a:cubicBezTo>
                <a:cubicBezTo>
                  <a:pt x="959176" y="744457"/>
                  <a:pt x="744457" y="959176"/>
                  <a:pt x="479588" y="959176"/>
                </a:cubicBezTo>
                <a:cubicBezTo>
                  <a:pt x="214719" y="959176"/>
                  <a:pt x="0" y="744457"/>
                  <a:pt x="0" y="479588"/>
                </a:cubicBezTo>
                <a:cubicBezTo>
                  <a:pt x="0" y="214719"/>
                  <a:pt x="214719" y="0"/>
                  <a:pt x="479588" y="0"/>
                </a:cubicBezTo>
                <a:close/>
              </a:path>
            </a:pathLst>
          </a:custGeom>
        </p:spPr>
      </p:pic>
      <p:sp>
        <p:nvSpPr>
          <p:cNvPr id="20" name="文本框 19"/>
          <p:cNvSpPr txBox="1"/>
          <p:nvPr/>
        </p:nvSpPr>
        <p:spPr>
          <a:xfrm>
            <a:off x="6478905" y="1323340"/>
            <a:ext cx="55911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Система</a:t>
            </a:r>
            <a:r>
              <a:rPr lang="ru-RU" altLang="en-US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- объект или процесс, в котором элементы-участники связаны</a:t>
            </a:r>
            <a:endParaRPr lang="ru-RU" altLang="en-US" sz="2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некоторыми связями и отношениями. </a:t>
            </a:r>
            <a:endParaRPr lang="en-US" altLang="zh-CN" sz="2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70588" y="1423270"/>
            <a:ext cx="668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FFFFFF"/>
                </a:soli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01</a:t>
            </a:r>
            <a:endParaRPr lang="en-US" altLang="zh-CN" sz="3600" b="1" dirty="0" smtClean="0">
              <a:solidFill>
                <a:srgbClr val="FFFFFF"/>
              </a:soli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571223" y="3202630"/>
            <a:ext cx="668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FFFFFF"/>
                </a:soli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02</a:t>
            </a:r>
            <a:endParaRPr lang="en-US" altLang="zh-CN" sz="3600" b="1" dirty="0" smtClean="0">
              <a:solidFill>
                <a:srgbClr val="FFFFFF"/>
              </a:soli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81445" y="3128645"/>
            <a:ext cx="576326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Подсистема</a:t>
            </a:r>
            <a:r>
              <a:rPr lang="ru-RU" altLang="en-US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-</a:t>
            </a:r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часть системы с некоторыми связями и отношениями.</a:t>
            </a:r>
            <a:endParaRPr lang="en-US" altLang="zh-CN" sz="2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Любая система состоит из подсистем, подсистема любой системы может быть</a:t>
            </a:r>
            <a:endParaRPr lang="en-US" altLang="zh-CN" sz="2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сама рассмотрена как система. Границы рассматриваемой системы определяются</a:t>
            </a:r>
            <a:endParaRPr lang="en-US" altLang="zh-CN" sz="2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  <a:p>
            <a:pPr algn="l"/>
            <a:r>
              <a:rPr lang="en-US" altLang="zh-CN" sz="20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доступными ресурсами и окружением.</a:t>
            </a:r>
            <a:endParaRPr lang="en-US" altLang="zh-CN" sz="2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9295897" y="-1678942"/>
            <a:ext cx="4160057" cy="46476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611177" y="-159312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68383" y="-159312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188668" y="2871969"/>
            <a:ext cx="1200042" cy="3416869"/>
            <a:chOff x="1188668" y="2871969"/>
            <a:chExt cx="1200042" cy="3416869"/>
          </a:xfrm>
          <a:solidFill>
            <a:srgbClr val="01B5EE"/>
          </a:solidFill>
        </p:grpSpPr>
        <p:sp>
          <p:nvSpPr>
            <p:cNvPr id="9" name="Freeform 1218"/>
            <p:cNvSpPr/>
            <p:nvPr/>
          </p:nvSpPr>
          <p:spPr bwMode="auto">
            <a:xfrm>
              <a:off x="1791079" y="3485253"/>
              <a:ext cx="129090" cy="9254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3" y="0"/>
                </a:cxn>
                <a:cxn ang="0">
                  <a:pos x="9" y="7"/>
                </a:cxn>
                <a:cxn ang="0">
                  <a:pos x="13" y="16"/>
                </a:cxn>
                <a:cxn ang="0">
                  <a:pos x="0" y="148"/>
                </a:cxn>
                <a:cxn ang="0">
                  <a:pos x="13" y="161"/>
                </a:cxn>
                <a:cxn ang="0">
                  <a:pos x="26" y="149"/>
                </a:cxn>
                <a:cxn ang="0">
                  <a:pos x="13" y="16"/>
                </a:cxn>
                <a:cxn ang="0">
                  <a:pos x="17" y="6"/>
                </a:cxn>
                <a:cxn ang="0">
                  <a:pos x="13" y="0"/>
                </a:cxn>
              </a:cxnLst>
              <a:rect l="0" t="0" r="r" b="b"/>
              <a:pathLst>
                <a:path w="26" h="161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9" y="4"/>
                    <a:pt x="9" y="7"/>
                  </a:cubicBezTo>
                  <a:cubicBezTo>
                    <a:pt x="9" y="8"/>
                    <a:pt x="12" y="14"/>
                    <a:pt x="13" y="16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13" y="161"/>
                    <a:pt x="13" y="161"/>
                    <a:pt x="13" y="161"/>
                  </a:cubicBezTo>
                  <a:cubicBezTo>
                    <a:pt x="26" y="149"/>
                    <a:pt x="26" y="149"/>
                    <a:pt x="26" y="14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5" y="14"/>
                    <a:pt x="17" y="8"/>
                    <a:pt x="17" y="6"/>
                  </a:cubicBezTo>
                  <a:cubicBezTo>
                    <a:pt x="17" y="4"/>
                    <a:pt x="15" y="0"/>
                    <a:pt x="13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1219"/>
            <p:cNvSpPr>
              <a:spLocks noChangeArrowheads="1"/>
            </p:cNvSpPr>
            <p:nvPr/>
          </p:nvSpPr>
          <p:spPr bwMode="auto">
            <a:xfrm>
              <a:off x="1652427" y="2871969"/>
              <a:ext cx="401607" cy="454489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 1220"/>
            <p:cNvSpPr>
              <a:spLocks noEditPoints="1"/>
            </p:cNvSpPr>
            <p:nvPr/>
          </p:nvSpPr>
          <p:spPr bwMode="auto">
            <a:xfrm>
              <a:off x="1188668" y="3468824"/>
              <a:ext cx="1200042" cy="2820014"/>
            </a:xfrm>
            <a:custGeom>
              <a:avLst/>
              <a:gdLst/>
              <a:ahLst/>
              <a:cxnLst>
                <a:cxn ang="0">
                  <a:pos x="58" y="134"/>
                </a:cxn>
                <a:cxn ang="0">
                  <a:pos x="41" y="81"/>
                </a:cxn>
                <a:cxn ang="0">
                  <a:pos x="47" y="58"/>
                </a:cxn>
                <a:cxn ang="0">
                  <a:pos x="58" y="134"/>
                </a:cxn>
                <a:cxn ang="0">
                  <a:pos x="94" y="0"/>
                </a:cxn>
                <a:cxn ang="0">
                  <a:pos x="41" y="19"/>
                </a:cxn>
                <a:cxn ang="0">
                  <a:pos x="1" y="81"/>
                </a:cxn>
                <a:cxn ang="0">
                  <a:pos x="65" y="183"/>
                </a:cxn>
                <a:cxn ang="0">
                  <a:pos x="67" y="200"/>
                </a:cxn>
                <a:cxn ang="0">
                  <a:pos x="80" y="491"/>
                </a:cxn>
                <a:cxn ang="0">
                  <a:pos x="107" y="491"/>
                </a:cxn>
                <a:cxn ang="0">
                  <a:pos x="120" y="285"/>
                </a:cxn>
                <a:cxn ang="0">
                  <a:pos x="134" y="253"/>
                </a:cxn>
                <a:cxn ang="0">
                  <a:pos x="150" y="284"/>
                </a:cxn>
                <a:cxn ang="0">
                  <a:pos x="173" y="491"/>
                </a:cxn>
                <a:cxn ang="0">
                  <a:pos x="194" y="491"/>
                </a:cxn>
                <a:cxn ang="0">
                  <a:pos x="194" y="199"/>
                </a:cxn>
                <a:cxn ang="0">
                  <a:pos x="201" y="169"/>
                </a:cxn>
                <a:cxn ang="0">
                  <a:pos x="240" y="133"/>
                </a:cxn>
                <a:cxn ang="0">
                  <a:pos x="225" y="109"/>
                </a:cxn>
                <a:cxn ang="0">
                  <a:pos x="209" y="129"/>
                </a:cxn>
                <a:cxn ang="0">
                  <a:pos x="214" y="93"/>
                </a:cxn>
                <a:cxn ang="0">
                  <a:pos x="179" y="30"/>
                </a:cxn>
                <a:cxn ang="0">
                  <a:pos x="187" y="4"/>
                </a:cxn>
                <a:cxn ang="0">
                  <a:pos x="170" y="1"/>
                </a:cxn>
                <a:cxn ang="0">
                  <a:pos x="164" y="3"/>
                </a:cxn>
                <a:cxn ang="0">
                  <a:pos x="149" y="178"/>
                </a:cxn>
                <a:cxn ang="0">
                  <a:pos x="121" y="179"/>
                </a:cxn>
                <a:cxn ang="0">
                  <a:pos x="102" y="3"/>
                </a:cxn>
                <a:cxn ang="0">
                  <a:pos x="94" y="0"/>
                </a:cxn>
              </a:cxnLst>
              <a:rect l="0" t="0" r="r" b="b"/>
              <a:pathLst>
                <a:path w="240" h="491">
                  <a:moveTo>
                    <a:pt x="58" y="134"/>
                  </a:moveTo>
                  <a:cubicBezTo>
                    <a:pt x="50" y="113"/>
                    <a:pt x="41" y="86"/>
                    <a:pt x="41" y="81"/>
                  </a:cubicBezTo>
                  <a:cubicBezTo>
                    <a:pt x="41" y="76"/>
                    <a:pt x="44" y="67"/>
                    <a:pt x="47" y="58"/>
                  </a:cubicBezTo>
                  <a:cubicBezTo>
                    <a:pt x="58" y="134"/>
                    <a:pt x="58" y="134"/>
                    <a:pt x="58" y="134"/>
                  </a:cubicBezTo>
                  <a:moveTo>
                    <a:pt x="94" y="0"/>
                  </a:moveTo>
                  <a:cubicBezTo>
                    <a:pt x="80" y="0"/>
                    <a:pt x="52" y="12"/>
                    <a:pt x="41" y="19"/>
                  </a:cubicBezTo>
                  <a:cubicBezTo>
                    <a:pt x="28" y="29"/>
                    <a:pt x="0" y="71"/>
                    <a:pt x="1" y="81"/>
                  </a:cubicBezTo>
                  <a:cubicBezTo>
                    <a:pt x="2" y="90"/>
                    <a:pt x="53" y="165"/>
                    <a:pt x="65" y="183"/>
                  </a:cubicBezTo>
                  <a:cubicBezTo>
                    <a:pt x="67" y="200"/>
                    <a:pt x="67" y="200"/>
                    <a:pt x="67" y="200"/>
                  </a:cubicBezTo>
                  <a:cubicBezTo>
                    <a:pt x="80" y="491"/>
                    <a:pt x="80" y="491"/>
                    <a:pt x="80" y="491"/>
                  </a:cubicBezTo>
                  <a:cubicBezTo>
                    <a:pt x="107" y="491"/>
                    <a:pt x="107" y="491"/>
                    <a:pt x="107" y="491"/>
                  </a:cubicBezTo>
                  <a:cubicBezTo>
                    <a:pt x="107" y="491"/>
                    <a:pt x="117" y="329"/>
                    <a:pt x="120" y="285"/>
                  </a:cubicBezTo>
                  <a:cubicBezTo>
                    <a:pt x="121" y="263"/>
                    <a:pt x="127" y="253"/>
                    <a:pt x="134" y="253"/>
                  </a:cubicBezTo>
                  <a:cubicBezTo>
                    <a:pt x="140" y="253"/>
                    <a:pt x="148" y="264"/>
                    <a:pt x="150" y="284"/>
                  </a:cubicBezTo>
                  <a:cubicBezTo>
                    <a:pt x="154" y="324"/>
                    <a:pt x="173" y="491"/>
                    <a:pt x="173" y="491"/>
                  </a:cubicBezTo>
                  <a:cubicBezTo>
                    <a:pt x="194" y="491"/>
                    <a:pt x="194" y="491"/>
                    <a:pt x="194" y="491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201" y="169"/>
                    <a:pt x="201" y="169"/>
                    <a:pt x="201" y="169"/>
                  </a:cubicBezTo>
                  <a:cubicBezTo>
                    <a:pt x="201" y="169"/>
                    <a:pt x="222" y="150"/>
                    <a:pt x="240" y="133"/>
                  </a:cubicBezTo>
                  <a:cubicBezTo>
                    <a:pt x="234" y="125"/>
                    <a:pt x="229" y="117"/>
                    <a:pt x="225" y="109"/>
                  </a:cubicBezTo>
                  <a:cubicBezTo>
                    <a:pt x="221" y="117"/>
                    <a:pt x="209" y="129"/>
                    <a:pt x="209" y="129"/>
                  </a:cubicBezTo>
                  <a:cubicBezTo>
                    <a:pt x="214" y="93"/>
                    <a:pt x="214" y="93"/>
                    <a:pt x="214" y="93"/>
                  </a:cubicBezTo>
                  <a:cubicBezTo>
                    <a:pt x="181" y="41"/>
                    <a:pt x="180" y="35"/>
                    <a:pt x="179" y="30"/>
                  </a:cubicBezTo>
                  <a:cubicBezTo>
                    <a:pt x="179" y="23"/>
                    <a:pt x="182" y="14"/>
                    <a:pt x="187" y="4"/>
                  </a:cubicBezTo>
                  <a:cubicBezTo>
                    <a:pt x="180" y="2"/>
                    <a:pt x="175" y="1"/>
                    <a:pt x="170" y="1"/>
                  </a:cubicBezTo>
                  <a:cubicBezTo>
                    <a:pt x="167" y="1"/>
                    <a:pt x="165" y="1"/>
                    <a:pt x="164" y="3"/>
                  </a:cubicBezTo>
                  <a:cubicBezTo>
                    <a:pt x="160" y="12"/>
                    <a:pt x="158" y="178"/>
                    <a:pt x="149" y="178"/>
                  </a:cubicBezTo>
                  <a:cubicBezTo>
                    <a:pt x="139" y="178"/>
                    <a:pt x="136" y="179"/>
                    <a:pt x="121" y="179"/>
                  </a:cubicBezTo>
                  <a:cubicBezTo>
                    <a:pt x="106" y="179"/>
                    <a:pt x="106" y="13"/>
                    <a:pt x="102" y="3"/>
                  </a:cubicBezTo>
                  <a:cubicBezTo>
                    <a:pt x="101" y="1"/>
                    <a:pt x="98" y="0"/>
                    <a:pt x="94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450098" y="2871969"/>
            <a:ext cx="1185697" cy="3416870"/>
            <a:chOff x="3450098" y="2871969"/>
            <a:chExt cx="1185697" cy="3416870"/>
          </a:xfrm>
          <a:solidFill>
            <a:srgbClr val="01B5EE"/>
          </a:solidFill>
        </p:grpSpPr>
        <p:sp>
          <p:nvSpPr>
            <p:cNvPr id="14" name="Freeform 1221"/>
            <p:cNvSpPr/>
            <p:nvPr/>
          </p:nvSpPr>
          <p:spPr bwMode="auto">
            <a:xfrm>
              <a:off x="3894736" y="3479776"/>
              <a:ext cx="133869" cy="930878"/>
            </a:xfrm>
            <a:custGeom>
              <a:avLst/>
              <a:gdLst/>
              <a:ahLst/>
              <a:cxnLst>
                <a:cxn ang="0">
                  <a:pos x="13" y="162"/>
                </a:cxn>
                <a:cxn ang="0">
                  <a:pos x="27" y="150"/>
                </a:cxn>
                <a:cxn ang="0">
                  <a:pos x="14" y="17"/>
                </a:cxn>
                <a:cxn ang="0">
                  <a:pos x="18" y="7"/>
                </a:cxn>
                <a:cxn ang="0">
                  <a:pos x="14" y="1"/>
                </a:cxn>
                <a:cxn ang="0">
                  <a:pos x="9" y="8"/>
                </a:cxn>
                <a:cxn ang="0">
                  <a:pos x="13" y="17"/>
                </a:cxn>
                <a:cxn ang="0">
                  <a:pos x="0" y="149"/>
                </a:cxn>
                <a:cxn ang="0">
                  <a:pos x="13" y="162"/>
                </a:cxn>
              </a:cxnLst>
              <a:rect l="0" t="0" r="r" b="b"/>
              <a:pathLst>
                <a:path w="27" h="162">
                  <a:moveTo>
                    <a:pt x="13" y="162"/>
                  </a:moveTo>
                  <a:cubicBezTo>
                    <a:pt x="27" y="150"/>
                    <a:pt x="27" y="150"/>
                    <a:pt x="27" y="150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5" y="15"/>
                    <a:pt x="18" y="9"/>
                    <a:pt x="18" y="7"/>
                  </a:cubicBezTo>
                  <a:cubicBezTo>
                    <a:pt x="18" y="5"/>
                    <a:pt x="15" y="0"/>
                    <a:pt x="14" y="1"/>
                  </a:cubicBezTo>
                  <a:cubicBezTo>
                    <a:pt x="12" y="1"/>
                    <a:pt x="9" y="5"/>
                    <a:pt x="9" y="8"/>
                  </a:cubicBezTo>
                  <a:cubicBezTo>
                    <a:pt x="9" y="9"/>
                    <a:pt x="12" y="15"/>
                    <a:pt x="13" y="17"/>
                  </a:cubicBezTo>
                  <a:cubicBezTo>
                    <a:pt x="0" y="149"/>
                    <a:pt x="0" y="149"/>
                    <a:pt x="0" y="149"/>
                  </a:cubicBezTo>
                  <a:lnTo>
                    <a:pt x="13" y="16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222"/>
            <p:cNvSpPr>
              <a:spLocks noChangeArrowheads="1"/>
            </p:cNvSpPr>
            <p:nvPr/>
          </p:nvSpPr>
          <p:spPr bwMode="auto">
            <a:xfrm>
              <a:off x="3765646" y="2871969"/>
              <a:ext cx="392045" cy="454489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23"/>
            <p:cNvSpPr>
              <a:spLocks noEditPoints="1"/>
            </p:cNvSpPr>
            <p:nvPr/>
          </p:nvSpPr>
          <p:spPr bwMode="auto">
            <a:xfrm>
              <a:off x="3450098" y="3435970"/>
              <a:ext cx="1185697" cy="2852869"/>
            </a:xfrm>
            <a:custGeom>
              <a:avLst/>
              <a:gdLst/>
              <a:ahLst/>
              <a:cxnLst>
                <a:cxn ang="0">
                  <a:pos x="194" y="26"/>
                </a:cxn>
                <a:cxn ang="0">
                  <a:pos x="134" y="9"/>
                </a:cxn>
                <a:cxn ang="0">
                  <a:pos x="118" y="184"/>
                </a:cxn>
                <a:cxn ang="0">
                  <a:pos x="90" y="185"/>
                </a:cxn>
                <a:cxn ang="0">
                  <a:pos x="71" y="9"/>
                </a:cxn>
                <a:cxn ang="0">
                  <a:pos x="50" y="9"/>
                </a:cxn>
                <a:cxn ang="0">
                  <a:pos x="64" y="70"/>
                </a:cxn>
                <a:cxn ang="0">
                  <a:pos x="24" y="116"/>
                </a:cxn>
                <a:cxn ang="0">
                  <a:pos x="27" y="140"/>
                </a:cxn>
                <a:cxn ang="0">
                  <a:pos x="20" y="120"/>
                </a:cxn>
                <a:cxn ang="0">
                  <a:pos x="0" y="138"/>
                </a:cxn>
                <a:cxn ang="0">
                  <a:pos x="34" y="189"/>
                </a:cxn>
                <a:cxn ang="0">
                  <a:pos x="37" y="206"/>
                </a:cxn>
                <a:cxn ang="0">
                  <a:pos x="50" y="497"/>
                </a:cxn>
                <a:cxn ang="0">
                  <a:pos x="76" y="497"/>
                </a:cxn>
                <a:cxn ang="0">
                  <a:pos x="89" y="291"/>
                </a:cxn>
                <a:cxn ang="0">
                  <a:pos x="119" y="290"/>
                </a:cxn>
                <a:cxn ang="0">
                  <a:pos x="142" y="497"/>
                </a:cxn>
                <a:cxn ang="0">
                  <a:pos x="163" y="497"/>
                </a:cxn>
                <a:cxn ang="0">
                  <a:pos x="163" y="205"/>
                </a:cxn>
                <a:cxn ang="0">
                  <a:pos x="170" y="175"/>
                </a:cxn>
                <a:cxn ang="0">
                  <a:pos x="233" y="113"/>
                </a:cxn>
                <a:cxn ang="0">
                  <a:pos x="194" y="26"/>
                </a:cxn>
                <a:cxn ang="0">
                  <a:pos x="195" y="113"/>
                </a:cxn>
                <a:cxn ang="0">
                  <a:pos x="178" y="135"/>
                </a:cxn>
                <a:cxn ang="0">
                  <a:pos x="185" y="85"/>
                </a:cxn>
                <a:cxn ang="0">
                  <a:pos x="195" y="113"/>
                </a:cxn>
              </a:cxnLst>
              <a:rect l="0" t="0" r="r" b="b"/>
              <a:pathLst>
                <a:path w="237" h="497">
                  <a:moveTo>
                    <a:pt x="194" y="26"/>
                  </a:moveTo>
                  <a:cubicBezTo>
                    <a:pt x="183" y="18"/>
                    <a:pt x="138" y="0"/>
                    <a:pt x="134" y="9"/>
                  </a:cubicBezTo>
                  <a:cubicBezTo>
                    <a:pt x="130" y="18"/>
                    <a:pt x="128" y="184"/>
                    <a:pt x="118" y="184"/>
                  </a:cubicBezTo>
                  <a:cubicBezTo>
                    <a:pt x="109" y="184"/>
                    <a:pt x="105" y="185"/>
                    <a:pt x="90" y="185"/>
                  </a:cubicBezTo>
                  <a:cubicBezTo>
                    <a:pt x="75" y="185"/>
                    <a:pt x="75" y="19"/>
                    <a:pt x="71" y="9"/>
                  </a:cubicBezTo>
                  <a:cubicBezTo>
                    <a:pt x="69" y="5"/>
                    <a:pt x="60" y="6"/>
                    <a:pt x="50" y="9"/>
                  </a:cubicBezTo>
                  <a:cubicBezTo>
                    <a:pt x="69" y="54"/>
                    <a:pt x="66" y="65"/>
                    <a:pt x="64" y="70"/>
                  </a:cubicBezTo>
                  <a:cubicBezTo>
                    <a:pt x="61" y="80"/>
                    <a:pt x="43" y="99"/>
                    <a:pt x="24" y="116"/>
                  </a:cubicBezTo>
                  <a:cubicBezTo>
                    <a:pt x="27" y="140"/>
                    <a:pt x="27" y="140"/>
                    <a:pt x="27" y="140"/>
                  </a:cubicBezTo>
                  <a:cubicBezTo>
                    <a:pt x="25" y="134"/>
                    <a:pt x="22" y="127"/>
                    <a:pt x="20" y="120"/>
                  </a:cubicBezTo>
                  <a:cubicBezTo>
                    <a:pt x="13" y="126"/>
                    <a:pt x="6" y="132"/>
                    <a:pt x="0" y="138"/>
                  </a:cubicBezTo>
                  <a:cubicBezTo>
                    <a:pt x="14" y="159"/>
                    <a:pt x="29" y="180"/>
                    <a:pt x="34" y="189"/>
                  </a:cubicBezTo>
                  <a:cubicBezTo>
                    <a:pt x="37" y="206"/>
                    <a:pt x="37" y="206"/>
                    <a:pt x="37" y="206"/>
                  </a:cubicBezTo>
                  <a:cubicBezTo>
                    <a:pt x="50" y="497"/>
                    <a:pt x="50" y="497"/>
                    <a:pt x="50" y="497"/>
                  </a:cubicBezTo>
                  <a:cubicBezTo>
                    <a:pt x="76" y="497"/>
                    <a:pt x="76" y="497"/>
                    <a:pt x="76" y="497"/>
                  </a:cubicBezTo>
                  <a:cubicBezTo>
                    <a:pt x="76" y="497"/>
                    <a:pt x="86" y="335"/>
                    <a:pt x="89" y="291"/>
                  </a:cubicBezTo>
                  <a:cubicBezTo>
                    <a:pt x="92" y="247"/>
                    <a:pt x="115" y="251"/>
                    <a:pt x="119" y="290"/>
                  </a:cubicBezTo>
                  <a:cubicBezTo>
                    <a:pt x="123" y="330"/>
                    <a:pt x="142" y="497"/>
                    <a:pt x="142" y="497"/>
                  </a:cubicBezTo>
                  <a:cubicBezTo>
                    <a:pt x="163" y="497"/>
                    <a:pt x="163" y="497"/>
                    <a:pt x="163" y="497"/>
                  </a:cubicBezTo>
                  <a:cubicBezTo>
                    <a:pt x="163" y="205"/>
                    <a:pt x="163" y="205"/>
                    <a:pt x="163" y="205"/>
                  </a:cubicBezTo>
                  <a:cubicBezTo>
                    <a:pt x="170" y="175"/>
                    <a:pt x="170" y="175"/>
                    <a:pt x="170" y="175"/>
                  </a:cubicBezTo>
                  <a:cubicBezTo>
                    <a:pt x="170" y="175"/>
                    <a:pt x="229" y="124"/>
                    <a:pt x="233" y="113"/>
                  </a:cubicBezTo>
                  <a:cubicBezTo>
                    <a:pt x="237" y="102"/>
                    <a:pt x="206" y="33"/>
                    <a:pt x="194" y="26"/>
                  </a:cubicBezTo>
                  <a:close/>
                  <a:moveTo>
                    <a:pt x="195" y="113"/>
                  </a:moveTo>
                  <a:cubicBezTo>
                    <a:pt x="193" y="121"/>
                    <a:pt x="178" y="135"/>
                    <a:pt x="178" y="135"/>
                  </a:cubicBezTo>
                  <a:cubicBezTo>
                    <a:pt x="185" y="85"/>
                    <a:pt x="185" y="85"/>
                    <a:pt x="185" y="85"/>
                  </a:cubicBezTo>
                  <a:cubicBezTo>
                    <a:pt x="185" y="85"/>
                    <a:pt x="196" y="106"/>
                    <a:pt x="195" y="113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178341" y="2428431"/>
            <a:ext cx="1515591" cy="3871359"/>
            <a:chOff x="2178341" y="2428431"/>
            <a:chExt cx="1515591" cy="3871359"/>
          </a:xfrm>
          <a:solidFill>
            <a:srgbClr val="086DB8"/>
          </a:solidFill>
        </p:grpSpPr>
        <p:sp>
          <p:nvSpPr>
            <p:cNvPr id="20" name="Freeform 1224"/>
            <p:cNvSpPr/>
            <p:nvPr/>
          </p:nvSpPr>
          <p:spPr bwMode="auto">
            <a:xfrm>
              <a:off x="2857249" y="3200514"/>
              <a:ext cx="148214" cy="969210"/>
            </a:xfrm>
            <a:custGeom>
              <a:avLst/>
              <a:gdLst/>
              <a:ahLst/>
              <a:cxnLst>
                <a:cxn ang="0">
                  <a:pos x="0" y="161"/>
                </a:cxn>
                <a:cxn ang="0">
                  <a:pos x="16" y="177"/>
                </a:cxn>
                <a:cxn ang="0">
                  <a:pos x="31" y="162"/>
                </a:cxn>
                <a:cxn ang="0">
                  <a:pos x="16" y="0"/>
                </a:cxn>
                <a:cxn ang="0">
                  <a:pos x="0" y="161"/>
                </a:cxn>
              </a:cxnLst>
              <a:rect l="0" t="0" r="r" b="b"/>
              <a:pathLst>
                <a:path w="31" h="177">
                  <a:moveTo>
                    <a:pt x="0" y="161"/>
                  </a:moveTo>
                  <a:lnTo>
                    <a:pt x="16" y="177"/>
                  </a:lnTo>
                  <a:lnTo>
                    <a:pt x="31" y="162"/>
                  </a:lnTo>
                  <a:lnTo>
                    <a:pt x="16" y="0"/>
                  </a:lnTo>
                  <a:lnTo>
                    <a:pt x="0" y="16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225"/>
            <p:cNvSpPr/>
            <p:nvPr/>
          </p:nvSpPr>
          <p:spPr bwMode="auto">
            <a:xfrm>
              <a:off x="2909842" y="3118376"/>
              <a:ext cx="47810" cy="114993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0"/>
                </a:cxn>
                <a:cxn ang="0">
                  <a:pos x="9" y="8"/>
                </a:cxn>
                <a:cxn ang="0">
                  <a:pos x="5" y="1"/>
                </a:cxn>
                <a:cxn ang="0">
                  <a:pos x="0" y="8"/>
                </a:cxn>
              </a:cxnLst>
              <a:rect l="0" t="0" r="r" b="b"/>
              <a:pathLst>
                <a:path w="9" h="20">
                  <a:moveTo>
                    <a:pt x="0" y="8"/>
                  </a:moveTo>
                  <a:cubicBezTo>
                    <a:pt x="0" y="11"/>
                    <a:pt x="4" y="20"/>
                    <a:pt x="4" y="20"/>
                  </a:cubicBezTo>
                  <a:cubicBezTo>
                    <a:pt x="4" y="20"/>
                    <a:pt x="9" y="11"/>
                    <a:pt x="9" y="8"/>
                  </a:cubicBezTo>
                  <a:cubicBezTo>
                    <a:pt x="9" y="5"/>
                    <a:pt x="6" y="0"/>
                    <a:pt x="5" y="1"/>
                  </a:cubicBezTo>
                  <a:cubicBezTo>
                    <a:pt x="3" y="1"/>
                    <a:pt x="0" y="6"/>
                    <a:pt x="0" y="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226"/>
            <p:cNvSpPr>
              <a:spLocks noEditPoints="1"/>
            </p:cNvSpPr>
            <p:nvPr/>
          </p:nvSpPr>
          <p:spPr bwMode="auto">
            <a:xfrm>
              <a:off x="2178341" y="3063618"/>
              <a:ext cx="1515591" cy="3236172"/>
            </a:xfrm>
            <a:custGeom>
              <a:avLst/>
              <a:gdLst/>
              <a:ahLst/>
              <a:cxnLst>
                <a:cxn ang="0">
                  <a:pos x="254" y="30"/>
                </a:cxn>
                <a:cxn ang="0">
                  <a:pos x="186" y="11"/>
                </a:cxn>
                <a:cxn ang="0">
                  <a:pos x="168" y="209"/>
                </a:cxn>
                <a:cxn ang="0">
                  <a:pos x="136" y="210"/>
                </a:cxn>
                <a:cxn ang="0">
                  <a:pos x="115" y="12"/>
                </a:cxn>
                <a:cxn ang="0">
                  <a:pos x="47" y="30"/>
                </a:cxn>
                <a:cxn ang="0">
                  <a:pos x="1" y="99"/>
                </a:cxn>
                <a:cxn ang="0">
                  <a:pos x="73" y="214"/>
                </a:cxn>
                <a:cxn ang="0">
                  <a:pos x="76" y="235"/>
                </a:cxn>
                <a:cxn ang="0">
                  <a:pos x="91" y="564"/>
                </a:cxn>
                <a:cxn ang="0">
                  <a:pos x="121" y="564"/>
                </a:cxn>
                <a:cxn ang="0">
                  <a:pos x="135" y="330"/>
                </a:cxn>
                <a:cxn ang="0">
                  <a:pos x="169" y="330"/>
                </a:cxn>
                <a:cxn ang="0">
                  <a:pos x="195" y="564"/>
                </a:cxn>
                <a:cxn ang="0">
                  <a:pos x="220" y="564"/>
                </a:cxn>
                <a:cxn ang="0">
                  <a:pos x="220" y="233"/>
                </a:cxn>
                <a:cxn ang="0">
                  <a:pos x="227" y="198"/>
                </a:cxn>
                <a:cxn ang="0">
                  <a:pos x="298" y="129"/>
                </a:cxn>
                <a:cxn ang="0">
                  <a:pos x="254" y="30"/>
                </a:cxn>
                <a:cxn ang="0">
                  <a:pos x="46" y="99"/>
                </a:cxn>
                <a:cxn ang="0">
                  <a:pos x="53" y="73"/>
                </a:cxn>
                <a:cxn ang="0">
                  <a:pos x="65" y="159"/>
                </a:cxn>
                <a:cxn ang="0">
                  <a:pos x="46" y="99"/>
                </a:cxn>
                <a:cxn ang="0">
                  <a:pos x="255" y="129"/>
                </a:cxn>
                <a:cxn ang="0">
                  <a:pos x="236" y="153"/>
                </a:cxn>
                <a:cxn ang="0">
                  <a:pos x="244" y="97"/>
                </a:cxn>
                <a:cxn ang="0">
                  <a:pos x="255" y="129"/>
                </a:cxn>
              </a:cxnLst>
              <a:rect l="0" t="0" r="r" b="b"/>
              <a:pathLst>
                <a:path w="302" h="564">
                  <a:moveTo>
                    <a:pt x="254" y="30"/>
                  </a:moveTo>
                  <a:cubicBezTo>
                    <a:pt x="241" y="22"/>
                    <a:pt x="190" y="1"/>
                    <a:pt x="186" y="11"/>
                  </a:cubicBezTo>
                  <a:cubicBezTo>
                    <a:pt x="181" y="21"/>
                    <a:pt x="179" y="209"/>
                    <a:pt x="168" y="209"/>
                  </a:cubicBezTo>
                  <a:cubicBezTo>
                    <a:pt x="157" y="209"/>
                    <a:pt x="153" y="210"/>
                    <a:pt x="136" y="210"/>
                  </a:cubicBezTo>
                  <a:cubicBezTo>
                    <a:pt x="120" y="210"/>
                    <a:pt x="119" y="23"/>
                    <a:pt x="115" y="12"/>
                  </a:cubicBezTo>
                  <a:cubicBezTo>
                    <a:pt x="111" y="0"/>
                    <a:pt x="62" y="19"/>
                    <a:pt x="47" y="30"/>
                  </a:cubicBezTo>
                  <a:cubicBezTo>
                    <a:pt x="32" y="40"/>
                    <a:pt x="0" y="88"/>
                    <a:pt x="1" y="99"/>
                  </a:cubicBezTo>
                  <a:cubicBezTo>
                    <a:pt x="2" y="109"/>
                    <a:pt x="60" y="194"/>
                    <a:pt x="73" y="214"/>
                  </a:cubicBezTo>
                  <a:cubicBezTo>
                    <a:pt x="76" y="235"/>
                    <a:pt x="76" y="235"/>
                    <a:pt x="76" y="235"/>
                  </a:cubicBezTo>
                  <a:cubicBezTo>
                    <a:pt x="91" y="564"/>
                    <a:pt x="91" y="564"/>
                    <a:pt x="91" y="564"/>
                  </a:cubicBezTo>
                  <a:cubicBezTo>
                    <a:pt x="121" y="564"/>
                    <a:pt x="121" y="564"/>
                    <a:pt x="121" y="564"/>
                  </a:cubicBezTo>
                  <a:cubicBezTo>
                    <a:pt x="121" y="564"/>
                    <a:pt x="132" y="380"/>
                    <a:pt x="135" y="330"/>
                  </a:cubicBezTo>
                  <a:cubicBezTo>
                    <a:pt x="138" y="280"/>
                    <a:pt x="164" y="285"/>
                    <a:pt x="169" y="330"/>
                  </a:cubicBezTo>
                  <a:cubicBezTo>
                    <a:pt x="174" y="375"/>
                    <a:pt x="195" y="564"/>
                    <a:pt x="195" y="564"/>
                  </a:cubicBezTo>
                  <a:cubicBezTo>
                    <a:pt x="220" y="564"/>
                    <a:pt x="220" y="564"/>
                    <a:pt x="220" y="564"/>
                  </a:cubicBezTo>
                  <a:cubicBezTo>
                    <a:pt x="220" y="233"/>
                    <a:pt x="220" y="233"/>
                    <a:pt x="220" y="233"/>
                  </a:cubicBezTo>
                  <a:cubicBezTo>
                    <a:pt x="227" y="198"/>
                    <a:pt x="227" y="198"/>
                    <a:pt x="227" y="198"/>
                  </a:cubicBezTo>
                  <a:cubicBezTo>
                    <a:pt x="227" y="198"/>
                    <a:pt x="294" y="141"/>
                    <a:pt x="298" y="129"/>
                  </a:cubicBezTo>
                  <a:cubicBezTo>
                    <a:pt x="302" y="116"/>
                    <a:pt x="267" y="39"/>
                    <a:pt x="254" y="30"/>
                  </a:cubicBezTo>
                  <a:close/>
                  <a:moveTo>
                    <a:pt x="46" y="99"/>
                  </a:moveTo>
                  <a:cubicBezTo>
                    <a:pt x="46" y="94"/>
                    <a:pt x="49" y="83"/>
                    <a:pt x="53" y="73"/>
                  </a:cubicBezTo>
                  <a:cubicBezTo>
                    <a:pt x="65" y="159"/>
                    <a:pt x="65" y="159"/>
                    <a:pt x="65" y="159"/>
                  </a:cubicBezTo>
                  <a:cubicBezTo>
                    <a:pt x="57" y="136"/>
                    <a:pt x="46" y="105"/>
                    <a:pt x="46" y="99"/>
                  </a:cubicBezTo>
                  <a:close/>
                  <a:moveTo>
                    <a:pt x="255" y="129"/>
                  </a:moveTo>
                  <a:cubicBezTo>
                    <a:pt x="253" y="137"/>
                    <a:pt x="236" y="153"/>
                    <a:pt x="236" y="153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56" y="120"/>
                    <a:pt x="255" y="12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1227"/>
            <p:cNvSpPr>
              <a:spLocks noChangeArrowheads="1"/>
            </p:cNvSpPr>
            <p:nvPr/>
          </p:nvSpPr>
          <p:spPr bwMode="auto">
            <a:xfrm>
              <a:off x="2713818" y="2428431"/>
              <a:ext cx="444638" cy="520198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Oval 10"/>
          <p:cNvSpPr/>
          <p:nvPr/>
        </p:nvSpPr>
        <p:spPr>
          <a:xfrm>
            <a:off x="5739488" y="1327705"/>
            <a:ext cx="562678" cy="562677"/>
          </a:xfrm>
          <a:prstGeom prst="ellipse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val 10"/>
          <p:cNvSpPr/>
          <p:nvPr/>
        </p:nvSpPr>
        <p:spPr>
          <a:xfrm>
            <a:off x="5739488" y="2407392"/>
            <a:ext cx="562678" cy="562677"/>
          </a:xfrm>
          <a:prstGeom prst="ellipse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val 10"/>
          <p:cNvSpPr/>
          <p:nvPr/>
        </p:nvSpPr>
        <p:spPr>
          <a:xfrm>
            <a:off x="5739517" y="3487079"/>
            <a:ext cx="562678" cy="562677"/>
          </a:xfrm>
          <a:prstGeom prst="ellipse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04025" y="1497965"/>
            <a:ext cx="2399030" cy="3092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Состояние системы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04025" y="2534920"/>
            <a:ext cx="2399030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528570" y="116205"/>
            <a:ext cx="60540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40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Основные понятия в системах</a:t>
            </a:r>
            <a:endParaRPr lang="ru-RU" altLang="en-US" sz="4000" b="1" dirty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2" name="文本框 30"/>
          <p:cNvSpPr txBox="1"/>
          <p:nvPr/>
        </p:nvSpPr>
        <p:spPr>
          <a:xfrm>
            <a:off x="6804025" y="3599815"/>
            <a:ext cx="2399030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Задача 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10"/>
          <p:cNvSpPr/>
          <p:nvPr/>
        </p:nvSpPr>
        <p:spPr>
          <a:xfrm>
            <a:off x="5730598" y="4542897"/>
            <a:ext cx="562678" cy="562677"/>
          </a:xfrm>
          <a:prstGeom prst="ellipse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30"/>
          <p:cNvSpPr txBox="1"/>
          <p:nvPr/>
        </p:nvSpPr>
        <p:spPr>
          <a:xfrm>
            <a:off x="6714490" y="4719320"/>
            <a:ext cx="2399030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Проблема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0"/>
          <p:cNvSpPr txBox="1"/>
          <p:nvPr/>
        </p:nvSpPr>
        <p:spPr>
          <a:xfrm>
            <a:off x="6804025" y="5533390"/>
            <a:ext cx="239903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(спецификация) системы 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val 10"/>
          <p:cNvSpPr/>
          <p:nvPr/>
        </p:nvSpPr>
        <p:spPr>
          <a:xfrm>
            <a:off x="5721737" y="5598454"/>
            <a:ext cx="562678" cy="562677"/>
          </a:xfrm>
          <a:prstGeom prst="ellipse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5" grpId="0" bldLvl="0" animBg="1"/>
      <p:bldP spid="26" grpId="0" bldLvl="0" animBg="1"/>
      <p:bldP spid="36" grpId="0"/>
      <p:bldP spid="4" grpId="0" bldLvl="0" animBg="1"/>
      <p:bldP spid="4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9919467" y="-2623187"/>
            <a:ext cx="4160057" cy="46476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61" y="2433221"/>
            <a:ext cx="5099558" cy="372694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483690" y="2433221"/>
            <a:ext cx="4873424" cy="1163619"/>
          </a:xfrm>
          <a:prstGeom prst="rect">
            <a:avLst/>
          </a:prstGeom>
          <a:gradFill>
            <a:gsLst>
              <a:gs pos="0">
                <a:srgbClr val="01B5EE"/>
              </a:gs>
              <a:gs pos="100000">
                <a:srgbClr val="086DB8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22650" y="2661088"/>
            <a:ext cx="470276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</a:t>
            </a:r>
            <a:endParaRPr lang="en-US" altLang="zh-CN"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64935" y="4070985"/>
            <a:ext cx="4314825" cy="10737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14000"/>
              </a:lnSpc>
            </a:pPr>
            <a:r>
              <a:rPr lang="en-US" altLang="zh-CN" sz="1400">
                <a:solidFill>
                  <a:srgbClr val="2126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Структура - все то, что вносит порядок во множество объектов, т.е. совокупность</a:t>
            </a:r>
            <a:endParaRPr lang="en-US" altLang="zh-CN" sz="1400">
              <a:solidFill>
                <a:srgbClr val="21262C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1400">
                <a:solidFill>
                  <a:srgbClr val="21262C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связей и отношений между частями целого, необходимых для достижения цели.</a:t>
            </a:r>
            <a:endParaRPr lang="en-US" altLang="zh-CN" sz="1400">
              <a:solidFill>
                <a:srgbClr val="21262C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91757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9919467" y="-2623187"/>
            <a:ext cx="4160057" cy="46476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18740" y="713105"/>
            <a:ext cx="7891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Базовые топологии структур</a:t>
            </a:r>
            <a:endParaRPr lang="en-US" altLang="zh-CN" sz="3600" b="1" dirty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rcRect l="490" t="3778" r="-2579" b="74"/>
          <a:stretch>
            <a:fillRect/>
          </a:stretch>
        </p:blipFill>
        <p:spPr>
          <a:xfrm>
            <a:off x="1590675" y="2234565"/>
            <a:ext cx="3568700" cy="412115"/>
          </a:xfrm>
          <a:prstGeom prst="rect">
            <a:avLst/>
          </a:prstGeom>
        </p:spPr>
      </p:pic>
      <p:sp>
        <p:nvSpPr>
          <p:cNvPr id="5" name="文本框 23"/>
          <p:cNvSpPr txBox="1"/>
          <p:nvPr/>
        </p:nvSpPr>
        <p:spPr>
          <a:xfrm>
            <a:off x="2042065" y="1543084"/>
            <a:ext cx="239887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линейного типа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rcRect l="6667" t="10584" r="6653"/>
          <a:stretch>
            <a:fillRect/>
          </a:stretch>
        </p:blipFill>
        <p:spPr>
          <a:xfrm>
            <a:off x="7219950" y="2419985"/>
            <a:ext cx="3289935" cy="1783715"/>
          </a:xfrm>
          <a:prstGeom prst="rect">
            <a:avLst/>
          </a:prstGeom>
        </p:spPr>
      </p:pic>
      <p:sp>
        <p:nvSpPr>
          <p:cNvPr id="26" name="文本框 23"/>
          <p:cNvSpPr txBox="1"/>
          <p:nvPr/>
        </p:nvSpPr>
        <p:spPr>
          <a:xfrm>
            <a:off x="6892290" y="1651000"/>
            <a:ext cx="379222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иерархического типа (первая цифра - номер уровня)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Изображение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535" y="3615055"/>
            <a:ext cx="4077335" cy="2977515"/>
          </a:xfrm>
          <a:prstGeom prst="rect">
            <a:avLst/>
          </a:prstGeom>
        </p:spPr>
      </p:pic>
      <p:sp>
        <p:nvSpPr>
          <p:cNvPr id="28" name="文本框 23"/>
          <p:cNvSpPr txBox="1"/>
          <p:nvPr/>
        </p:nvSpPr>
        <p:spPr>
          <a:xfrm>
            <a:off x="1590675" y="2954655"/>
            <a:ext cx="3406775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матричного типа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3"/>
          <p:cNvSpPr txBox="1"/>
          <p:nvPr/>
        </p:nvSpPr>
        <p:spPr>
          <a:xfrm>
            <a:off x="7670070" y="4389154"/>
            <a:ext cx="2398875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ctr"/>
            <a:r>
              <a: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Структура сетевого типа (вторая цифра - номер в пути)</a:t>
            </a:r>
            <a:endParaRPr lang="en-US" altLang="zh-CN" sz="1600" b="1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Изображение 29"/>
          <p:cNvPicPr>
            <a:picLocks noChangeAspect="1"/>
          </p:cNvPicPr>
          <p:nvPr/>
        </p:nvPicPr>
        <p:blipFill>
          <a:blip r:embed="rId5"/>
          <a:srcRect t="1137" b="3379"/>
          <a:stretch>
            <a:fillRect/>
          </a:stretch>
        </p:blipFill>
        <p:spPr>
          <a:xfrm>
            <a:off x="7087235" y="4973320"/>
            <a:ext cx="3564890" cy="1784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9919467" y="-2623187"/>
            <a:ext cx="4160057" cy="46476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681671" y="713366"/>
            <a:ext cx="51212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0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Структура системы</a:t>
            </a:r>
            <a:endParaRPr lang="en-US" altLang="zh-CN" sz="4000" b="1" dirty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2" name="Image 6" descr="Структура системы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5335" y="1903095"/>
            <a:ext cx="6568440" cy="4352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9919467" y="-2623187"/>
            <a:ext cx="4160057" cy="46476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644005" y="2186940"/>
            <a:ext cx="4192905" cy="3752850"/>
            <a:chOff x="1626835" y="2349127"/>
            <a:chExt cx="2492110" cy="580608"/>
          </a:xfrm>
        </p:grpSpPr>
        <p:sp>
          <p:nvSpPr>
            <p:cNvPr id="22" name="文本框 21"/>
            <p:cNvSpPr txBox="1"/>
            <p:nvPr/>
          </p:nvSpPr>
          <p:spPr>
            <a:xfrm>
              <a:off x="1806000" y="2349127"/>
              <a:ext cx="2133781" cy="52166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Конструктивный подход</a:t>
              </a:r>
              <a:endPara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626835" y="2483473"/>
              <a:ext cx="2492110" cy="446262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171450" indent="-171450" algn="ctr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ставится цель, которую должна обеспечивать система;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  <a:p>
              <a:pPr marL="171450" indent="-171450" algn="ctr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определяется функция (или функции), обеспечивающая(ие) достижение этой цели;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  <a:p>
              <a:pPr marL="171450" indent="-171450" algn="ctr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подыскивается или создается структура, обеспечивающая выполнение функции.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5310" y="2186940"/>
            <a:ext cx="5189220" cy="3752850"/>
            <a:chOff x="1044498" y="2349127"/>
            <a:chExt cx="4615771" cy="2664291"/>
          </a:xfrm>
        </p:grpSpPr>
        <p:sp>
          <p:nvSpPr>
            <p:cNvPr id="28" name="文本框 27"/>
            <p:cNvSpPr txBox="1"/>
            <p:nvPr/>
          </p:nvSpPr>
          <p:spPr>
            <a:xfrm>
              <a:off x="2285539" y="2349127"/>
              <a:ext cx="2133781" cy="41429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6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Дескриптивный подход</a:t>
              </a:r>
              <a:endParaRPr lang="en-US" altLang="zh-CN" sz="1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44498" y="2928075"/>
              <a:ext cx="4615771" cy="2085343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171450" indent="-171450" algn="ctr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выделение элементов, имеющих некоторую пространственно-временную определенность;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  <a:p>
              <a:pPr marL="171450" indent="-171450" algn="ctr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определение связей между элементами;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  <a:p>
              <a:pPr marL="171450" indent="-171450" algn="ctr">
                <a:lnSpc>
                  <a:spcPct val="114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определение системообразующих свойств, связей и отношений; определение структур, т.е. законов композиции; анализ функций системы.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2618740" y="713105"/>
            <a:ext cx="5807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Дескриптивный и конструктивный подходы к определению системы</a:t>
            </a:r>
            <a:endParaRPr lang="en-US" altLang="zh-CN" sz="2400" b="1" dirty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9919467" y="-2623187"/>
            <a:ext cx="4160057" cy="464766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542540" y="1494155"/>
            <a:ext cx="8009890" cy="38696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Закономерности целостности и аддитивност</a:t>
            </a:r>
            <a:r>
              <a:rPr lang="ru-RU" altLang="en-US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и</a:t>
            </a:r>
            <a:endParaRPr lang="ru-RU" altLang="en-US" sz="2000" smtClean="0">
              <a:solidFill>
                <a:srgbClr val="01B5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ru-RU" altLang="en-US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Закономерности целеобразования</a:t>
            </a:r>
            <a:endParaRPr lang="en-US" altLang="zh-CN" sz="2000" smtClean="0">
              <a:solidFill>
                <a:srgbClr val="01B5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Закономерности иерархической упорядоченности</a:t>
            </a:r>
            <a:endParaRPr lang="en-US" altLang="zh-CN" sz="2000" smtClean="0">
              <a:solidFill>
                <a:srgbClr val="01B5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Закономерности осуществимости систем</a:t>
            </a:r>
            <a:endParaRPr lang="en-US" altLang="zh-CN" sz="2000" smtClean="0">
              <a:solidFill>
                <a:srgbClr val="01B5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altLang="zh-CN" sz="2000" smtClean="0">
                <a:solidFill>
                  <a:srgbClr val="01B5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Закономерности развития систем</a:t>
            </a:r>
            <a:endParaRPr lang="en-US" altLang="zh-CN" sz="2000" smtClean="0">
              <a:solidFill>
                <a:srgbClr val="01B5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  <a:p>
            <a:pPr marL="457200" indent="-457200" algn="l">
              <a:lnSpc>
                <a:spcPct val="150000"/>
              </a:lnSpc>
              <a:buAutoNum type="arabicPeriod"/>
            </a:pPr>
            <a:endParaRPr lang="en-US" altLang="zh-CN" sz="2000" smtClean="0">
              <a:solidFill>
                <a:srgbClr val="01B5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29990" y="713105"/>
            <a:ext cx="5239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Закономерности</a:t>
            </a:r>
            <a:r>
              <a:rPr lang="ru-RU" altLang="en-US" sz="32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 систем</a:t>
            </a:r>
            <a:endParaRPr lang="ru-RU" altLang="en-US" sz="3200" b="1" dirty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79663" y="2386090"/>
            <a:ext cx="2912641" cy="1805592"/>
          </a:xfrm>
          <a:prstGeom prst="rect">
            <a:avLst/>
          </a:prstGeom>
          <a:blipFill>
            <a:blip r:embed="rId1"/>
            <a:srcRect/>
            <a:stretch>
              <a:fillRect l="-12429" r="-1233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39679" y="2386090"/>
            <a:ext cx="2912641" cy="1805592"/>
          </a:xfrm>
          <a:prstGeom prst="rect">
            <a:avLst/>
          </a:prstGeom>
          <a:blipFill>
            <a:blip r:embed="rId2"/>
            <a:srcRect/>
            <a:stretch>
              <a:fillRect t="-3773" b="-372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799695" y="2386090"/>
            <a:ext cx="2912641" cy="3833748"/>
          </a:xfrm>
          <a:prstGeom prst="rect">
            <a:avLst/>
          </a:prstGeom>
          <a:blipFill>
            <a:blip r:embed="rId3"/>
            <a:srcRect/>
            <a:stretch>
              <a:fillRect l="-52185" r="-517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479663" y="4414246"/>
            <a:ext cx="2912641" cy="1805592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39679" y="4414246"/>
            <a:ext cx="2912641" cy="1805592"/>
          </a:xfrm>
          <a:prstGeom prst="rect">
            <a:avLst/>
          </a:prstGeom>
          <a:blipFill>
            <a:blip r:embed="rId4"/>
            <a:srcRect/>
            <a:stretch>
              <a:fillRect l="-5124" r="-508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562335" y="4747237"/>
            <a:ext cx="2747295" cy="1139609"/>
            <a:chOff x="1872722" y="2523128"/>
            <a:chExt cx="2443698" cy="1013673"/>
          </a:xfrm>
        </p:grpSpPr>
        <p:sp>
          <p:nvSpPr>
            <p:cNvPr id="17" name="文本框 16"/>
            <p:cNvSpPr txBox="1"/>
            <p:nvPr/>
          </p:nvSpPr>
          <p:spPr>
            <a:xfrm>
              <a:off x="2027679" y="2523128"/>
              <a:ext cx="2133781" cy="32851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Title text addition</a:t>
              </a:r>
              <a:endParaRPr lang="zh-CN" altLang="en-US" b="1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872722" y="2892939"/>
              <a:ext cx="2443698" cy="64386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14000"/>
                </a:lnSpc>
              </a:pPr>
              <a:r>
                <a:rPr lang="en-US" altLang="zh-CN" sz="1200" dirty="0">
                  <a:solidFill>
                    <a:srgbClr val="FFFFFF"/>
                  </a:solidFill>
                  <a:latin typeface="Century Gothic" panose="020B0502020202020204" pitchFamily="34" charset="0"/>
                  <a:ea typeface="+mj-ea"/>
                </a:rPr>
                <a:t>The user can demonstrate on a projector or computer, or print the presentation and make it </a:t>
              </a:r>
              <a:r>
                <a:rPr lang="en-US" altLang="zh-CN" sz="1200" dirty="0" smtClean="0">
                  <a:solidFill>
                    <a:srgbClr val="FFFFFF"/>
                  </a:solidFill>
                  <a:latin typeface="Century Gothic" panose="020B0502020202020204" pitchFamily="34" charset="0"/>
                  <a:ea typeface="+mj-ea"/>
                </a:rPr>
                <a:t>film</a:t>
              </a:r>
              <a:endParaRPr lang="en-US" altLang="zh-CN" sz="1200" dirty="0">
                <a:solidFill>
                  <a:srgbClr val="FFFFFF"/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</p:grpSp>
      <p:pic>
        <p:nvPicPr>
          <p:cNvPr id="100" name="Изображение 99"/>
          <p:cNvPicPr/>
          <p:nvPr/>
        </p:nvPicPr>
        <p:blipFill>
          <a:blip r:embed="rId5"/>
          <a:stretch>
            <a:fillRect/>
          </a:stretch>
        </p:blipFill>
        <p:spPr>
          <a:xfrm>
            <a:off x="1029335" y="0"/>
            <a:ext cx="11163300" cy="65728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11029950" y="-2313305"/>
            <a:ext cx="3300730" cy="3688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082842" y="-1753740"/>
            <a:ext cx="3441031" cy="3844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729990" y="713105"/>
            <a:ext cx="5239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Закономерности</a:t>
            </a:r>
            <a:r>
              <a:rPr lang="ru-RU" altLang="en-US" sz="32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 систем</a:t>
            </a:r>
            <a:endParaRPr lang="ru-RU" altLang="en-US" sz="3200" b="1" dirty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101" name="Изображение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190625" y="796290"/>
            <a:ext cx="9213850" cy="61455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57052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10636885" y="-2611755"/>
            <a:ext cx="3962400" cy="4427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Изображение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1431290" y="432435"/>
            <a:ext cx="9149715" cy="6202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57052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10636885" y="-2611755"/>
            <a:ext cx="3962400" cy="4427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431472" y="-2198914"/>
            <a:ext cx="1246414" cy="1839686"/>
          </a:xfrm>
          <a:prstGeom prst="rect">
            <a:avLst/>
          </a:prstGeom>
          <a:solidFill>
            <a:srgbClr val="01B5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868383" y="-2198914"/>
            <a:ext cx="1246414" cy="1839686"/>
          </a:xfrm>
          <a:prstGeom prst="rect">
            <a:avLst/>
          </a:prstGeom>
          <a:solidFill>
            <a:srgbClr val="086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57052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10636885" y="-2611755"/>
            <a:ext cx="3962400" cy="4427220"/>
          </a:xfrm>
          <a:prstGeom prst="rect">
            <a:avLst/>
          </a:prstGeom>
        </p:spPr>
      </p:pic>
      <p:pic>
        <p:nvPicPr>
          <p:cNvPr id="103" name="Изображение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1735455" y="443865"/>
            <a:ext cx="8669020" cy="61906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20916" y="4486976"/>
            <a:ext cx="7361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b="1" dirty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张海山锐线体2.0" panose="02000000000000000000" pitchFamily="2" charset="-122"/>
                <a:ea typeface="张海山锐线体2.0" panose="02000000000000000000" pitchFamily="2" charset="-122"/>
              </a:rPr>
              <a:t>The teaching process</a:t>
            </a:r>
            <a:endParaRPr lang="zh-CN" altLang="en-US" sz="60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张海山锐线体2.0" panose="02000000000000000000" pitchFamily="2" charset="-122"/>
              <a:ea typeface="张海山锐线体2.0" panose="02000000000000000000" pitchFamily="2" charset="-122"/>
            </a:endParaRPr>
          </a:p>
        </p:txBody>
      </p:sp>
      <p:sp>
        <p:nvSpPr>
          <p:cNvPr id="10" name="文本框 9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4253865" y="262255"/>
            <a:ext cx="4192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gradFill>
                  <a:gsLst>
                    <a:gs pos="0">
                      <a:srgbClr val="51C7F3"/>
                    </a:gs>
                    <a:gs pos="100000">
                      <a:srgbClr val="026DB7"/>
                    </a:gs>
                  </a:gsLst>
                  <a:lin ang="5400000" scaled="1"/>
                </a:gradFill>
                <a:latin typeface="Arial" panose="020B0604020202020204" pitchFamily="34" charset="0"/>
                <a:ea typeface="方正兰亭超细黑简体" panose="02000000000000000000" pitchFamily="2" charset="-122"/>
                <a:cs typeface="Arial" panose="020B0604020202020204" pitchFamily="34" charset="0"/>
              </a:rPr>
              <a:t>Управление</a:t>
            </a:r>
            <a:endParaRPr lang="en-US" altLang="zh-CN" sz="2800" b="1" dirty="0" smtClean="0">
              <a:gradFill>
                <a:gsLst>
                  <a:gs pos="0">
                    <a:srgbClr val="51C7F3"/>
                  </a:gs>
                  <a:gs pos="100000">
                    <a:srgbClr val="026DB7"/>
                  </a:gs>
                </a:gsLst>
                <a:lin ang="5400000" scaled="1"/>
              </a:gradFill>
              <a:latin typeface="Arial" panose="020B0604020202020204" pitchFamily="34" charset="0"/>
              <a:ea typeface="方正兰亭超细黑简体" panose="02000000000000000000" pitchFamily="2" charset="-122"/>
              <a:cs typeface="Arial" panose="020B0604020202020204" pitchFamily="34" charset="0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515" y="1089660"/>
            <a:ext cx="8777605" cy="46780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570522" y="-1753740"/>
            <a:ext cx="3441031" cy="38443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10636885" y="-2611755"/>
            <a:ext cx="3962400" cy="4427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9985" y="365125"/>
            <a:ext cx="10203815" cy="1325880"/>
          </a:xfrm>
        </p:spPr>
        <p:txBody>
          <a:bodyPr/>
          <a:p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Управление в сложных системах.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Холст 44"/>
          <p:cNvGrpSpPr/>
          <p:nvPr/>
        </p:nvGrpSpPr>
        <p:grpSpPr>
          <a:xfrm>
            <a:off x="1311910" y="1515745"/>
            <a:ext cx="9070340" cy="5008880"/>
            <a:chOff x="0" y="0"/>
            <a:chExt cx="6204585" cy="4678680"/>
          </a:xfrm>
        </p:grpSpPr>
        <p:sp>
          <p:nvSpPr>
            <p:cNvPr id="4" name="Холст 44"/>
            <p:cNvSpPr>
              <a:spLocks noChangeAspect="1"/>
            </p:cNvSpPr>
            <p:nvPr/>
          </p:nvSpPr>
          <p:spPr>
            <a:xfrm>
              <a:off x="0" y="0"/>
              <a:ext cx="6204585" cy="4678680"/>
            </a:xfrm>
            <a:noFill/>
            <a:ln w="12700">
              <a:noFill/>
            </a:ln>
          </p:spPr>
        </p:sp>
        <p:sp>
          <p:nvSpPr>
            <p:cNvPr id="45" name="Прямоугольник 8"/>
            <p:cNvSpPr/>
            <p:nvPr/>
          </p:nvSpPr>
          <p:spPr>
            <a:xfrm>
              <a:off x="2057107" y="75845"/>
              <a:ext cx="1753196" cy="761977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Накопленный опыт, теория, программы, тезаурус, память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6" name="Прямоугольник 9"/>
            <p:cNvSpPr/>
            <p:nvPr/>
          </p:nvSpPr>
          <p:spPr>
            <a:xfrm>
              <a:off x="1600363" y="1523954"/>
              <a:ext cx="2285479" cy="609405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Управляемый объект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(орган принятия решения)</a:t>
              </a:r>
              <a:endParaRPr lang="en-US" altLang="zh-CN" sz="11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47" name="Прямое соединение 10"/>
            <p:cNvCxnSpPr/>
            <p:nvPr/>
          </p:nvCxnSpPr>
          <p:spPr>
            <a:xfrm>
              <a:off x="3429098" y="837822"/>
              <a:ext cx="0" cy="68613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48" name="Прямоугольник 11"/>
            <p:cNvSpPr/>
            <p:nvPr/>
          </p:nvSpPr>
          <p:spPr>
            <a:xfrm>
              <a:off x="457623" y="2742764"/>
              <a:ext cx="1447529" cy="761977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Измеритель информации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(датчики)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49" name="Прямое соединение 12"/>
            <p:cNvCxnSpPr/>
            <p:nvPr/>
          </p:nvCxnSpPr>
          <p:spPr>
            <a:xfrm flipV="1">
              <a:off x="1067201" y="533560"/>
              <a:ext cx="0" cy="220920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0" name="Прямое соединение 13"/>
            <p:cNvCxnSpPr/>
            <p:nvPr/>
          </p:nvCxnSpPr>
          <p:spPr>
            <a:xfrm>
              <a:off x="1067201" y="533560"/>
              <a:ext cx="989906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1" name="Текстовое поле 14"/>
            <p:cNvSpPr txBox="1"/>
            <p:nvPr/>
          </p:nvSpPr>
          <p:spPr>
            <a:xfrm>
              <a:off x="1142740" y="914549"/>
              <a:ext cx="1448407" cy="5335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семантический фильтр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2" name="Текстовое поле 15"/>
            <p:cNvSpPr txBox="1"/>
            <p:nvPr/>
          </p:nvSpPr>
          <p:spPr>
            <a:xfrm>
              <a:off x="0" y="686132"/>
              <a:ext cx="914367" cy="685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Контур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обратной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связи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53" name="Прямое соединение 16"/>
            <p:cNvCxnSpPr/>
            <p:nvPr/>
          </p:nvCxnSpPr>
          <p:spPr>
            <a:xfrm>
              <a:off x="152834" y="1371382"/>
              <a:ext cx="2513852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cxnSp>
        <p:cxnSp>
          <p:nvCxnSpPr>
            <p:cNvPr id="54" name="Прямое соединение 17"/>
            <p:cNvCxnSpPr/>
            <p:nvPr/>
          </p:nvCxnSpPr>
          <p:spPr>
            <a:xfrm>
              <a:off x="2666686" y="837822"/>
              <a:ext cx="0" cy="53356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5" name="Текстовое поле 18"/>
            <p:cNvSpPr txBox="1"/>
            <p:nvPr/>
          </p:nvSpPr>
          <p:spPr>
            <a:xfrm>
              <a:off x="154940" y="2006600"/>
              <a:ext cx="914400" cy="6864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Контур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обратной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связи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1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 </a:t>
              </a:r>
              <a:endParaRPr lang="en-US" altLang="zh-CN" sz="11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56" name="Прямое соединение 19"/>
            <p:cNvCxnSpPr/>
            <p:nvPr/>
          </p:nvCxnSpPr>
          <p:spPr>
            <a:xfrm>
              <a:off x="1067201" y="1829097"/>
              <a:ext cx="533161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57" name="Прямоугольник 20"/>
            <p:cNvSpPr/>
            <p:nvPr/>
          </p:nvSpPr>
          <p:spPr>
            <a:xfrm>
              <a:off x="3657470" y="2742764"/>
              <a:ext cx="1600363" cy="761977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Исполнительное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устройство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(орган, звено)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58" name="Прямое соединение 21"/>
            <p:cNvCxnSpPr/>
            <p:nvPr/>
          </p:nvCxnSpPr>
          <p:spPr>
            <a:xfrm>
              <a:off x="3885842" y="1829097"/>
              <a:ext cx="534040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59" name="Прямое соединение 22"/>
            <p:cNvCxnSpPr/>
            <p:nvPr/>
          </p:nvCxnSpPr>
          <p:spPr>
            <a:xfrm>
              <a:off x="4419882" y="1829097"/>
              <a:ext cx="0" cy="913667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0" name="Прямоугольник 23"/>
            <p:cNvSpPr/>
            <p:nvPr/>
          </p:nvSpPr>
          <p:spPr>
            <a:xfrm>
              <a:off x="1828735" y="3885729"/>
              <a:ext cx="1828735" cy="38187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upright="1"/>
            <a:lstStyle/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Управляемый объект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61" name="Прямое соединение 24"/>
            <p:cNvCxnSpPr/>
            <p:nvPr/>
          </p:nvCxnSpPr>
          <p:spPr>
            <a:xfrm flipH="1">
              <a:off x="3657470" y="4038301"/>
              <a:ext cx="762412" cy="88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2" name="Текстовое поле 25"/>
            <p:cNvSpPr txBox="1"/>
            <p:nvPr/>
          </p:nvSpPr>
          <p:spPr>
            <a:xfrm>
              <a:off x="1981569" y="3580586"/>
              <a:ext cx="2361896" cy="3051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Управляющее воздействие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63" name="Прямое соединение 26"/>
            <p:cNvCxnSpPr/>
            <p:nvPr/>
          </p:nvCxnSpPr>
          <p:spPr>
            <a:xfrm>
              <a:off x="4419882" y="3504741"/>
              <a:ext cx="0" cy="53356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64" name="Прямое соединение 27"/>
            <p:cNvCxnSpPr/>
            <p:nvPr/>
          </p:nvCxnSpPr>
          <p:spPr>
            <a:xfrm flipH="1">
              <a:off x="3657470" y="4190873"/>
              <a:ext cx="609578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5" name="Текстовое поле 28"/>
            <p:cNvSpPr txBox="1"/>
            <p:nvPr/>
          </p:nvSpPr>
          <p:spPr>
            <a:xfrm>
              <a:off x="3200725" y="4342563"/>
              <a:ext cx="1675901" cy="3051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Воздействие среды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66" name="Прямое соединение 29"/>
            <p:cNvCxnSpPr/>
            <p:nvPr/>
          </p:nvCxnSpPr>
          <p:spPr>
            <a:xfrm>
              <a:off x="4267048" y="4190873"/>
              <a:ext cx="0" cy="22841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67" name="Прямое соединение 30"/>
            <p:cNvCxnSpPr/>
            <p:nvPr/>
          </p:nvCxnSpPr>
          <p:spPr>
            <a:xfrm>
              <a:off x="2666686" y="4266718"/>
              <a:ext cx="0" cy="305144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68" name="Текстовое поле 31"/>
            <p:cNvSpPr txBox="1"/>
            <p:nvPr/>
          </p:nvSpPr>
          <p:spPr>
            <a:xfrm>
              <a:off x="1905152" y="4343445"/>
              <a:ext cx="609578" cy="306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Цель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69" name="Прямое соединение 32"/>
            <p:cNvCxnSpPr/>
            <p:nvPr/>
          </p:nvCxnSpPr>
          <p:spPr>
            <a:xfrm flipH="1">
              <a:off x="1067201" y="4115028"/>
              <a:ext cx="761534" cy="0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70" name="Прямое соединение 33"/>
            <p:cNvCxnSpPr/>
            <p:nvPr/>
          </p:nvCxnSpPr>
          <p:spPr>
            <a:xfrm flipV="1">
              <a:off x="1067201" y="3505623"/>
              <a:ext cx="0" cy="609405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71" name="Текстовое поле 34"/>
            <p:cNvSpPr txBox="1"/>
            <p:nvPr/>
          </p:nvSpPr>
          <p:spPr>
            <a:xfrm>
              <a:off x="76417" y="3657313"/>
              <a:ext cx="914367" cy="4577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Обратная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0" marR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связь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72" name="Прямое соединение 35"/>
            <p:cNvCxnSpPr/>
            <p:nvPr/>
          </p:nvCxnSpPr>
          <p:spPr>
            <a:xfrm>
              <a:off x="5257833" y="4496016"/>
              <a:ext cx="837951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73" name="Прямое соединение 36"/>
            <p:cNvCxnSpPr/>
            <p:nvPr/>
          </p:nvCxnSpPr>
          <p:spPr>
            <a:xfrm flipV="1">
              <a:off x="5257833" y="1820842"/>
              <a:ext cx="763905" cy="825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74" name="Прямое соединение 37"/>
            <p:cNvCxnSpPr/>
            <p:nvPr/>
          </p:nvCxnSpPr>
          <p:spPr>
            <a:xfrm>
              <a:off x="5257833" y="75845"/>
              <a:ext cx="703580" cy="1333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75" name="Текстовое поле 38"/>
            <p:cNvSpPr txBox="1"/>
            <p:nvPr/>
          </p:nvSpPr>
          <p:spPr>
            <a:xfrm>
              <a:off x="4724671" y="686132"/>
              <a:ext cx="1371112" cy="3042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Саморазвитие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6" name="Текстовое поле 39"/>
            <p:cNvSpPr txBox="1"/>
            <p:nvPr/>
          </p:nvSpPr>
          <p:spPr>
            <a:xfrm>
              <a:off x="4495420" y="2266528"/>
              <a:ext cx="1551175" cy="3051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upright="1"/>
            <a:lstStyle/>
            <a:p>
              <a:pPr marL="0" marR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kern="10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Саморегуляция</a:t>
              </a:r>
              <a:endParaRPr lang="en-US" altLang="zh-CN" sz="1400" kern="1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77" name="Прямое соединение 40"/>
            <p:cNvCxnSpPr/>
            <p:nvPr/>
          </p:nvCxnSpPr>
          <p:spPr>
            <a:xfrm flipV="1">
              <a:off x="5714577" y="1829097"/>
              <a:ext cx="0" cy="456833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78" name="Прямое соединение 41"/>
            <p:cNvCxnSpPr/>
            <p:nvPr/>
          </p:nvCxnSpPr>
          <p:spPr>
            <a:xfrm>
              <a:off x="5714577" y="2514347"/>
              <a:ext cx="0" cy="198166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79" name="Прямое соединение 42"/>
            <p:cNvCxnSpPr/>
            <p:nvPr/>
          </p:nvCxnSpPr>
          <p:spPr>
            <a:xfrm>
              <a:off x="5714577" y="914549"/>
              <a:ext cx="0" cy="914549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80" name="Прямое соединение 43"/>
            <p:cNvCxnSpPr/>
            <p:nvPr/>
          </p:nvCxnSpPr>
          <p:spPr>
            <a:xfrm flipV="1">
              <a:off x="5714577" y="75845"/>
              <a:ext cx="0" cy="686132"/>
            </a:xfrm>
            <a:prstGeom prst="line">
              <a:avLst/>
            </a:prstGeom>
            <a:ln w="1270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cxnSp>
      </p:grpSp>
      <p:pic>
        <p:nvPicPr>
          <p:cNvPr id="6" name="图片 5"/>
          <p:cNvPicPr>
            <a:picLocks noChangeAspect="1"/>
          </p:cNvPicPr>
          <p:nvPr>
            <p:ph sz="half" idx="1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1883410" y="-2193290"/>
            <a:ext cx="2959100" cy="43516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ph sz="half" idx="2"/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rot="16200000" flipH="1">
            <a:off x="10919460" y="-2058670"/>
            <a:ext cx="29591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>
            <a:off x="-2034863" y="-1674253"/>
            <a:ext cx="5988677" cy="75463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" r="5703" b="26169"/>
          <a:stretch>
            <a:fillRect/>
          </a:stretch>
        </p:blipFill>
        <p:spPr>
          <a:xfrm flipV="1">
            <a:off x="9478944" y="-1152940"/>
            <a:ext cx="4829764" cy="6085967"/>
          </a:xfrm>
          <a:custGeom>
            <a:avLst/>
            <a:gdLst>
              <a:gd name="connsiteX0" fmla="*/ 0 w 4829764"/>
              <a:gd name="connsiteY0" fmla="*/ 6085967 h 6085967"/>
              <a:gd name="connsiteX1" fmla="*/ 4829764 w 4829764"/>
              <a:gd name="connsiteY1" fmla="*/ 6085967 h 6085967"/>
              <a:gd name="connsiteX2" fmla="*/ 4829764 w 4829764"/>
              <a:gd name="connsiteY2" fmla="*/ 0 h 6085967"/>
              <a:gd name="connsiteX3" fmla="*/ 2274590 w 4829764"/>
              <a:gd name="connsiteY3" fmla="*/ 0 h 6085967"/>
              <a:gd name="connsiteX4" fmla="*/ 2414882 w 4829764"/>
              <a:gd name="connsiteY4" fmla="*/ 117230 h 6085967"/>
              <a:gd name="connsiteX5" fmla="*/ 1216730 w 4829764"/>
              <a:gd name="connsiteY5" fmla="*/ 1551084 h 6085967"/>
              <a:gd name="connsiteX6" fmla="*/ 0 w 4829764"/>
              <a:gd name="connsiteY6" fmla="*/ 534364 h 6085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29764" h="6085967">
                <a:moveTo>
                  <a:pt x="0" y="6085967"/>
                </a:moveTo>
                <a:lnTo>
                  <a:pt x="4829764" y="6085967"/>
                </a:lnTo>
                <a:lnTo>
                  <a:pt x="4829764" y="0"/>
                </a:lnTo>
                <a:lnTo>
                  <a:pt x="2274590" y="0"/>
                </a:lnTo>
                <a:lnTo>
                  <a:pt x="2414882" y="117230"/>
                </a:lnTo>
                <a:lnTo>
                  <a:pt x="1216730" y="1551084"/>
                </a:lnTo>
                <a:lnTo>
                  <a:pt x="0" y="534364"/>
                </a:lnTo>
                <a:close/>
              </a:path>
            </a:pathLst>
          </a:custGeom>
        </p:spPr>
      </p:pic>
      <p:sp>
        <p:nvSpPr>
          <p:cNvPr id="5" name="文本框 4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4129860" y="3521458"/>
            <a:ext cx="5975744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5400" b="1" dirty="0">
                <a:gradFill>
                  <a:gsLst>
                    <a:gs pos="0">
                      <a:srgbClr val="51C7F3"/>
                    </a:gs>
                    <a:gs pos="100000">
                      <a:srgbClr val="084B9D"/>
                    </a:gs>
                  </a:gsLst>
                  <a:lin ang="5400000" scaled="1"/>
                </a:gradFill>
                <a:latin typeface="Arial" panose="020B0604020202020204" pitchFamily="34" charset="0"/>
                <a:ea typeface="张海山锐线体2.0" panose="02000000000000000000" pitchFamily="2" charset="-122"/>
                <a:cs typeface="Arial" panose="020B0604020202020204" pitchFamily="34" charset="0"/>
              </a:rPr>
              <a:t>Спасибо за внимание!</a:t>
            </a:r>
            <a:endParaRPr lang="ru-RU" altLang="en-US" sz="5400" b="1" dirty="0">
              <a:gradFill>
                <a:gsLst>
                  <a:gs pos="0">
                    <a:srgbClr val="51C7F3"/>
                  </a:gs>
                  <a:gs pos="100000">
                    <a:srgbClr val="084B9D"/>
                  </a:gs>
                </a:gsLst>
                <a:lin ang="5400000" scaled="1"/>
              </a:gradFill>
              <a:latin typeface="Arial" panose="020B0604020202020204" pitchFamily="34" charset="0"/>
              <a:ea typeface="张海山锐线体2.0" panose="02000000000000000000" pitchFamily="2" charset="-122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45749" y="1136528"/>
            <a:ext cx="1752533" cy="1332805"/>
            <a:chOff x="4315637" y="2408725"/>
            <a:chExt cx="5250521" cy="3993035"/>
          </a:xfrm>
          <a:gradFill>
            <a:gsLst>
              <a:gs pos="0">
                <a:srgbClr val="51C7F3"/>
              </a:gs>
              <a:gs pos="100000">
                <a:srgbClr val="084B9D"/>
              </a:gs>
            </a:gsLst>
            <a:lin ang="5400000" scaled="1"/>
          </a:gradFill>
          <a:effectLst/>
        </p:grpSpPr>
        <p:sp>
          <p:nvSpPr>
            <p:cNvPr id="9" name="圆角矩形 8"/>
            <p:cNvSpPr/>
            <p:nvPr/>
          </p:nvSpPr>
          <p:spPr>
            <a:xfrm rot="19980000">
              <a:off x="5083085" y="2415286"/>
              <a:ext cx="531731" cy="397568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19980000">
              <a:off x="6673794" y="2408725"/>
              <a:ext cx="531731" cy="3975688"/>
            </a:xfrm>
            <a:custGeom>
              <a:avLst/>
              <a:gdLst>
                <a:gd name="connsiteX0" fmla="*/ 570188 w 570188"/>
                <a:gd name="connsiteY0" fmla="*/ 2413647 h 4263224"/>
                <a:gd name="connsiteX1" fmla="*/ 570188 w 570188"/>
                <a:gd name="connsiteY1" fmla="*/ 3978129 h 4263224"/>
                <a:gd name="connsiteX2" fmla="*/ 285094 w 570188"/>
                <a:gd name="connsiteY2" fmla="*/ 4263224 h 4263224"/>
                <a:gd name="connsiteX3" fmla="*/ 0 w 570188"/>
                <a:gd name="connsiteY3" fmla="*/ 3978129 h 4263224"/>
                <a:gd name="connsiteX4" fmla="*/ 0 w 570188"/>
                <a:gd name="connsiteY4" fmla="*/ 2827912 h 4263224"/>
                <a:gd name="connsiteX5" fmla="*/ 396065 w 570188"/>
                <a:gd name="connsiteY5" fmla="*/ 22404 h 4263224"/>
                <a:gd name="connsiteX6" fmla="*/ 570188 w 570188"/>
                <a:gd name="connsiteY6" fmla="*/ 285094 h 4263224"/>
                <a:gd name="connsiteX7" fmla="*/ 570188 w 570188"/>
                <a:gd name="connsiteY7" fmla="*/ 1355778 h 4263224"/>
                <a:gd name="connsiteX8" fmla="*/ 0 w 570188"/>
                <a:gd name="connsiteY8" fmla="*/ 1770044 h 4263224"/>
                <a:gd name="connsiteX9" fmla="*/ 0 w 570188"/>
                <a:gd name="connsiteY9" fmla="*/ 285094 h 4263224"/>
                <a:gd name="connsiteX10" fmla="*/ 285094 w 570188"/>
                <a:gd name="connsiteY10" fmla="*/ 0 h 4263224"/>
                <a:gd name="connsiteX11" fmla="*/ 396065 w 570188"/>
                <a:gd name="connsiteY11" fmla="*/ 22404 h 4263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0188" h="4263224">
                  <a:moveTo>
                    <a:pt x="570188" y="2413647"/>
                  </a:moveTo>
                  <a:lnTo>
                    <a:pt x="570188" y="3978129"/>
                  </a:lnTo>
                  <a:cubicBezTo>
                    <a:pt x="570188" y="4135582"/>
                    <a:pt x="442547" y="4263223"/>
                    <a:pt x="285094" y="4263224"/>
                  </a:cubicBezTo>
                  <a:cubicBezTo>
                    <a:pt x="127641" y="4263223"/>
                    <a:pt x="0" y="4135582"/>
                    <a:pt x="0" y="3978129"/>
                  </a:cubicBezTo>
                  <a:lnTo>
                    <a:pt x="0" y="2827912"/>
                  </a:lnTo>
                  <a:close/>
                  <a:moveTo>
                    <a:pt x="396065" y="22404"/>
                  </a:moveTo>
                  <a:cubicBezTo>
                    <a:pt x="498390" y="65684"/>
                    <a:pt x="570188" y="167004"/>
                    <a:pt x="570188" y="285094"/>
                  </a:cubicBezTo>
                  <a:lnTo>
                    <a:pt x="570188" y="1355778"/>
                  </a:lnTo>
                  <a:lnTo>
                    <a:pt x="0" y="1770044"/>
                  </a:lnTo>
                  <a:lnTo>
                    <a:pt x="0" y="285094"/>
                  </a:lnTo>
                  <a:cubicBezTo>
                    <a:pt x="0" y="127641"/>
                    <a:pt x="127641" y="0"/>
                    <a:pt x="285094" y="0"/>
                  </a:cubicBezTo>
                  <a:cubicBezTo>
                    <a:pt x="324457" y="0"/>
                    <a:pt x="361957" y="7978"/>
                    <a:pt x="396065" y="224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rot="5400000" flipH="1">
              <a:off x="5098906" y="1809898"/>
              <a:ext cx="531731" cy="20982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rot="1620000" flipH="1">
              <a:off x="8252911" y="2418564"/>
              <a:ext cx="531731" cy="397568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 rot="16200000">
              <a:off x="8251157" y="1813177"/>
              <a:ext cx="531731" cy="209827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 rot="1620000" flipH="1">
              <a:off x="6662201" y="2426073"/>
              <a:ext cx="531731" cy="3975687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6831221" y="2901611"/>
            <a:ext cx="540000" cy="0"/>
          </a:xfrm>
          <a:prstGeom prst="line">
            <a:avLst/>
          </a:prstGeom>
          <a:noFill/>
          <a:ln w="38100">
            <a:solidFill>
              <a:srgbClr val="026DB7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</Words>
  <Application>WPS Presentation</Application>
  <PresentationFormat>宽屏</PresentationFormat>
  <Paragraphs>121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SimSun</vt:lpstr>
      <vt:lpstr>Wingdings</vt:lpstr>
      <vt:lpstr>张海山锐线体2.0</vt:lpstr>
      <vt:lpstr>方正兰亭超细黑简体</vt:lpstr>
      <vt:lpstr>Microsoft YaHei</vt:lpstr>
      <vt:lpstr>Century Gothic</vt:lpstr>
      <vt:lpstr>Arial Unicode MS</vt:lpstr>
      <vt:lpstr>等线 Light</vt:lpstr>
      <vt:lpstr>等线</vt:lpstr>
      <vt:lpstr>Calibri</vt:lpstr>
      <vt:lpstr>Calibri</vt:lpstr>
      <vt:lpstr>Cordia New</vt:lpstr>
      <vt:lpstr>Elephant</vt:lpstr>
      <vt:lpstr>Segoe Print</vt:lpstr>
      <vt:lpstr>Arial Unicode MS</vt:lpstr>
      <vt:lpstr>Aharoni</vt:lpstr>
      <vt:lpstr>Arial</vt:lpstr>
      <vt:lpstr>Open Sans</vt:lpstr>
      <vt:lpstr>Montserrat</vt:lpstr>
      <vt:lpstr>Yu Gothic UI</vt:lpstr>
      <vt:lpstr>Cascadia Code</vt:lpstr>
      <vt:lpstr>Microsoft Sans Serif</vt:lpstr>
      <vt:lpstr>Yu Gothic UI Semibold</vt:lpstr>
      <vt:lpstr>Arial Black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Ветютнев Даниил</cp:lastModifiedBy>
  <cp:revision>52</cp:revision>
  <dcterms:created xsi:type="dcterms:W3CDTF">2018-08-15T03:21:00Z</dcterms:created>
  <dcterms:modified xsi:type="dcterms:W3CDTF">2023-11-02T10:23:49Z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1049-12.2.0.13266</vt:lpwstr>
  </property>
  <property fmtid="{D5CDD505-2E9C-101B-9397-08002B2CF9AE}" pid="3" name="ICV">
    <vt:lpwstr>CBD195432D2349ACAC5B8407323A626E_11</vt:lpwstr>
  </property>
</Properties>
</file>