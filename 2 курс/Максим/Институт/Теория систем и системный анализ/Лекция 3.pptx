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/>
              <a:t>Лекция 3 	</a:t>
            </a:r>
            <a:endParaRPr lang="ru-RU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en-US"/>
              <a:t>Принципы и методы системного анализа 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Системный анализ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ru-RU" altLang="en-US"/>
              <a:t>принцип дедуктивной последовательности - последовательного рассмотрения системы по этапам: от окружения и связей с целым до связей частей целого (см. этапы системного анализа подробнее ниже);</a:t>
            </a:r>
            <a:endParaRPr lang="ru-RU" altLang="en-US"/>
          </a:p>
          <a:p>
            <a:r>
              <a:rPr lang="ru-RU" altLang="en-US"/>
              <a:t>принцип интегрированного рассмотрения - каждая система должна быть неразъемна как целое даже при рассмотрении лишь отдельных подсистем системы;</a:t>
            </a:r>
            <a:endParaRPr lang="ru-RU" altLang="en-US"/>
          </a:p>
          <a:p>
            <a:r>
              <a:rPr lang="ru-RU" altLang="en-US"/>
              <a:t>принцип согласования ресурсов и целей рассмотрения, актуализации системы;</a:t>
            </a:r>
            <a:endParaRPr lang="ru-RU" altLang="en-US"/>
          </a:p>
          <a:p>
            <a:r>
              <a:rPr lang="ru-RU" altLang="en-US"/>
              <a:t>принцип бесконфликтности - отсутствия конфликтов между частями целого, приводящих к конфликту целей целого и части.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Применение системного анализа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ru-RU" altLang="en-US"/>
              <a:t>хорошо структурированные (well-structured), или количественно сформулированные проблемы, в которых существенные зависимости выяснены очень хорошо;</a:t>
            </a:r>
            <a:endParaRPr lang="ru-RU" altLang="en-US"/>
          </a:p>
          <a:p>
            <a:r>
              <a:rPr lang="ru-RU" altLang="en-US"/>
              <a:t>неструктурированные (unstructured), или качественно выраженные проблемы, содержащие лишь описание важнейших ресурсов, признаков и характеристик, количественные зависимости между которыми совершенно неизвестны;</a:t>
            </a:r>
            <a:endParaRPr lang="ru-RU" altLang="en-US"/>
          </a:p>
          <a:p>
            <a:r>
              <a:rPr lang="ru-RU" altLang="en-US"/>
              <a:t>слабо структурированные (ill-structured), или смешанные проблемы, которые содержат как качественные элементы, так и малоизвестные, неопределенные стороны, которые имеют тенденцию доминировать.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Технология решения таких сложных задач может быть описана следующей процедурой: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ru-RU" altLang="en-US"/>
              <a:t>1.формулировка проблемной ситуации;</a:t>
            </a:r>
            <a:endParaRPr lang="ru-RU" altLang="en-US"/>
          </a:p>
          <a:p>
            <a:r>
              <a:rPr lang="ru-RU" altLang="en-US"/>
              <a:t>2.определение целей;</a:t>
            </a:r>
            <a:endParaRPr lang="ru-RU" altLang="en-US"/>
          </a:p>
          <a:p>
            <a:r>
              <a:rPr lang="ru-RU" altLang="en-US"/>
              <a:t>3.определение критериев достижения целей;</a:t>
            </a:r>
            <a:endParaRPr lang="ru-RU" altLang="en-US"/>
          </a:p>
          <a:p>
            <a:r>
              <a:rPr lang="ru-RU" altLang="en-US"/>
              <a:t>4.построение моделей для обоснования решений;</a:t>
            </a:r>
            <a:endParaRPr lang="ru-RU" altLang="en-US"/>
          </a:p>
          <a:p>
            <a:r>
              <a:rPr lang="ru-RU" altLang="en-US"/>
              <a:t>5.поиск оптимального (допустимого) варианта решения;</a:t>
            </a:r>
            <a:endParaRPr lang="ru-RU" altLang="en-US"/>
          </a:p>
          <a:p>
            <a:r>
              <a:rPr lang="ru-RU" altLang="en-US"/>
              <a:t>6.согласование решения;</a:t>
            </a:r>
            <a:endParaRPr lang="ru-RU" altLang="en-US"/>
          </a:p>
          <a:p>
            <a:r>
              <a:rPr lang="ru-RU" altLang="en-US"/>
              <a:t>7.подготовка решения к реализации;</a:t>
            </a:r>
            <a:endParaRPr lang="ru-RU" altLang="en-US"/>
          </a:p>
          <a:p>
            <a:r>
              <a:rPr lang="ru-RU" altLang="en-US"/>
              <a:t>8.утверждение решения;</a:t>
            </a:r>
            <a:endParaRPr lang="ru-RU" altLang="en-US"/>
          </a:p>
          <a:p>
            <a:r>
              <a:rPr lang="ru-RU" altLang="en-US"/>
              <a:t>9.управление ходом реализации решения;</a:t>
            </a:r>
            <a:endParaRPr lang="ru-RU" altLang="en-US"/>
          </a:p>
          <a:p>
            <a:r>
              <a:rPr lang="ru-RU" altLang="en-US"/>
              <a:t>10.проверка эффективности решения.</a:t>
            </a:r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Принципы системного анализа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38505" y="1825625"/>
            <a:ext cx="5448300" cy="4351655"/>
          </a:xfrm>
        </p:spPr>
        <p:txBody>
          <a:bodyPr>
            <a:normAutofit lnSpcReduction="20000"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конечной цели.  </a:t>
            </a:r>
            <a:endParaRPr lang="ru-RU" altLang="en-US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/>
              <a:t>Принцип измерения.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эквифинальности.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единства. 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связности. 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модульного построения.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иерархии.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Принцип функциональности.</a:t>
            </a:r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0" y="1825625"/>
            <a:ext cx="609600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</a:rPr>
              <a:t>Принцип развития (адаптации).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</a:rPr>
              <a:t>Принцип историчности или открытости.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</a:rPr>
              <a:t>Принцип децентрализации.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</a:rPr>
              <a:t>Принцип неопределенности.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Принцип иерархии.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altLang="en-US" sz="280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Принцип функциональности.</a:t>
            </a: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altLang="en-US" sz="28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Структура системного анализа</a:t>
            </a:r>
            <a:endParaRPr lang="ru-RU" alt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147570" y="1693545"/>
            <a:ext cx="7515860" cy="4986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Элементы системного анализа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10831830" cy="4351655"/>
          </a:xfrm>
        </p:spPr>
        <p:txBody>
          <a:bodyPr>
            <a:noAutofit/>
          </a:bodyPr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altLang="en-US" sz="2700"/>
              <a:t>цель или ряд целей;</a:t>
            </a:r>
            <a:endParaRPr lang="ru-RU" altLang="en-US" sz="270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altLang="en-US" sz="2700"/>
              <a:t>альтернативные средства, с помощью которых может быть достигнута цель;</a:t>
            </a:r>
            <a:endParaRPr lang="ru-RU" altLang="en-US" sz="270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altLang="en-US" sz="2700"/>
              <a:t>затраты ресурсов, требуемых для каждой системы;</a:t>
            </a:r>
            <a:endParaRPr lang="ru-RU" altLang="en-US" sz="270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altLang="en-US" sz="2700"/>
              <a:t>логическая и математическая модели, т.е. система связей между целями, альтернативными средствами их достижения, окружающей средой и требованиями на ресурсы;</a:t>
            </a:r>
            <a:endParaRPr lang="ru-RU" altLang="en-US" sz="270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altLang="en-US" sz="2700"/>
              <a:t>критерий выбора предпочтительных альтернатив; с его помощью сопоставляются цели и затраты</a:t>
            </a:r>
            <a:endParaRPr lang="ru-RU" altLang="en-US"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Методы системного анализа</a:t>
            </a:r>
            <a:endParaRPr lang="ru-RU" altLang="en-US"/>
          </a:p>
        </p:txBody>
      </p:sp>
      <p:graphicFrame>
        <p:nvGraphicFramePr>
          <p:cNvPr id="7" name="Замещающее содержимое 6"/>
          <p:cNvGraphicFramePr/>
          <p:nvPr>
            <p:ph sz="half" idx="1"/>
          </p:nvPr>
        </p:nvGraphicFramePr>
        <p:xfrm>
          <a:off x="647700" y="1457325"/>
          <a:ext cx="10808970" cy="5156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4485"/>
                <a:gridCol w="5404485"/>
              </a:tblGrid>
              <a:tr h="18745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/>
                        <a:t>Эвристические методы– методы, направленные на активизацию использования интуиции и опыта специалистов</a:t>
                      </a:r>
                      <a:endParaRPr lang="en-US" altLang="en-US" sz="2000"/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/>
                        <a:t>Формальные методы– методы формализованного представления систем</a:t>
                      </a:r>
                      <a:endParaRPr lang="en-US" altLang="en-US" sz="2000"/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</a:tcPr>
                </a:tc>
              </a:tr>
              <a:tr h="32823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/>
                        <a:t>Метод решающих матриц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Морфологический подход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Методы структуризации: «дерева целей», «прогнозного графа» и др.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Методы «Дельфи»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Методы экспертных оценок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Методы «сценариев»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Методы мозгового штурма 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Диагностические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Сетевые методы</a:t>
                      </a:r>
                      <a:endParaRPr lang="en-US" altLang="en-US" sz="2000"/>
                    </a:p>
                  </a:txBody>
                  <a:tcPr marL="68580" marR="68580" marT="0" marB="0" vert="horz" anchor="t" anchorCtr="0"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/>
                        <a:t>Аналитические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Статистические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Теоретико-множественные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Лингвистические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Семитические методы</a:t>
                      </a:r>
                      <a:endParaRPr lang="en-US" sz="2000"/>
                    </a:p>
                    <a:p>
                      <a:pPr indent="0">
                        <a:buNone/>
                      </a:pPr>
                      <a:r>
                        <a:rPr lang="en-US" sz="2000"/>
                        <a:t>Графические методы</a:t>
                      </a:r>
                      <a:endParaRPr lang="en-US" sz="2000"/>
                    </a:p>
                  </a:txBody>
                  <a:tcPr marL="68580" marR="68580" marT="0" marB="0" vert="horz" anchor="t" anchorCtr="0"/>
                </a:tc>
              </a:tr>
            </a:tbl>
          </a:graphicData>
        </a:graphic>
      </p:graphicFrame>
      <p:graphicFrame>
        <p:nvGraphicFramePr>
          <p:cNvPr id="5" name="Таблица 4"/>
          <p:cNvGraphicFramePr/>
          <p:nvPr/>
        </p:nvGraphicFramePr>
        <p:xfrm>
          <a:off x="6096000" y="1327023"/>
          <a:ext cx="0" cy="0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16852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Аналитические методыСтатистические методыТеоретико-множественные методыЛингвистические методыСемитическиеметодыГрафические методы</a:t>
                      </a:r>
                      <a:endParaRPr lang="en-US" altLang="en-US" sz="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Формальные методы</a:t>
                      </a:r>
                      <a:r>
                        <a:rPr lang="en-US" sz="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– методы формализованного представления систем</a:t>
                      </a:r>
                      <a:endParaRPr lang="en-US" altLang="en-US" sz="1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09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Метод решающих матрицМорфологический подходМетоды структуризации: «дерева целей», «прогнозного графа» и др.Методы «Дельфи»Методы экспертных оценокМетоды «сценариев»Методы мозгового штурма (атаки)Диагностические методыСетевые методы</a:t>
                      </a:r>
                      <a:endParaRPr lang="en-US" altLang="en-US" sz="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Эвристические методы</a:t>
                      </a:r>
                      <a:r>
                        <a:rPr lang="en-US" sz="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– методы, направленные на активизацию использования интуиции и опыта специалистов</a:t>
                      </a:r>
                      <a:endParaRPr lang="en-US" altLang="en-US" sz="1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Структура системного анализа. </a:t>
            </a:r>
            <a:endParaRPr lang="ru-RU" altLang="en-US"/>
          </a:p>
        </p:txBody>
      </p:sp>
      <p:pic>
        <p:nvPicPr>
          <p:cNvPr id="5" name="Замещающее содержимое 4" descr="file1_html_3c9da3b0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952625" y="1415415"/>
            <a:ext cx="7131685" cy="4712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646430" y="127000"/>
            <a:ext cx="10429240" cy="1600200"/>
          </a:xfrm>
        </p:spPr>
        <p:txBody>
          <a:bodyPr/>
          <a:p>
            <a:r>
              <a:rPr lang="ru-RU" altLang="en-US"/>
              <a:t>Структура системного анализа. Анализ и синтез.</a:t>
            </a:r>
            <a:endParaRPr lang="ru-RU" altLang="en-US"/>
          </a:p>
        </p:txBody>
      </p:sp>
      <p:pic>
        <p:nvPicPr>
          <p:cNvPr id="5" name="Изображение 2" descr="Общий подход к решению проблем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2145030" y="1438910"/>
            <a:ext cx="7481570" cy="5375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646430" y="127000"/>
            <a:ext cx="7680325" cy="1600200"/>
          </a:xfrm>
        </p:spPr>
        <p:txBody>
          <a:bodyPr/>
          <a:p>
            <a:r>
              <a:rPr lang="ru-RU" altLang="en-US"/>
              <a:t>Этап синтеза</a:t>
            </a:r>
            <a:endParaRPr lang="ru-RU" altLang="en-US"/>
          </a:p>
        </p:txBody>
      </p:sp>
      <p:pic>
        <p:nvPicPr>
          <p:cNvPr id="5" name="Изображение 3" descr="file1_html_3b37d9cc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2026285" y="1982470"/>
            <a:ext cx="5817235" cy="46939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430" y="127000"/>
            <a:ext cx="8369300" cy="1600200"/>
          </a:xfrm>
        </p:spPr>
        <p:txBody>
          <a:bodyPr/>
          <a:p>
            <a:r>
              <a:rPr lang="ru-RU" altLang="en-US"/>
              <a:t>Понятие проектирования</a:t>
            </a:r>
            <a:endParaRPr lang="ru-RU" altLang="en-US"/>
          </a:p>
        </p:txBody>
      </p:sp>
      <p:pic>
        <p:nvPicPr>
          <p:cNvPr id="6" name="Изображение 4" descr="IMG_256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994410" y="1808480"/>
            <a:ext cx="9271000" cy="41078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Стадии проектирования</a:t>
            </a:r>
            <a:endParaRPr lang="ru-RU" altLang="en-US"/>
          </a:p>
        </p:txBody>
      </p:sp>
      <p:pic>
        <p:nvPicPr>
          <p:cNvPr id="5" name="Изображение 5" descr="IMG_25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600190" y="1848485"/>
            <a:ext cx="3943350" cy="430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Изображение 6" descr="IMG_258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6170" y="3012440"/>
            <a:ext cx="4436110" cy="3378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Принципы системного проектирования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ru-RU" altLang="en-US"/>
              <a:t>Практическая полезность.</a:t>
            </a:r>
            <a:endParaRPr lang="ru-RU" altLang="en-US"/>
          </a:p>
          <a:p>
            <a:r>
              <a:rPr lang="ru-RU" altLang="en-US"/>
              <a:t>Единство составных частей</a:t>
            </a:r>
            <a:endParaRPr lang="ru-RU" altLang="en-US"/>
          </a:p>
        </p:txBody>
      </p:sp>
      <p:sp>
        <p:nvSpPr>
          <p:cNvPr id="4" name="Замещающее содержимое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3671</Words>
  <Application>WPS Presentation</Application>
  <PresentationFormat>宽屏</PresentationFormat>
  <Paragraphs>105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Times New Roman</vt:lpstr>
      <vt:lpstr>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Ветютнев Даниил</cp:lastModifiedBy>
  <cp:revision>2</cp:revision>
  <dcterms:created xsi:type="dcterms:W3CDTF">2023-11-06T07:19:26Z</dcterms:created>
  <dcterms:modified xsi:type="dcterms:W3CDTF">2023-11-06T07:36:11Z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1049-12.2.0.13266</vt:lpwstr>
  </property>
  <property fmtid="{D5CDD505-2E9C-101B-9397-08002B2CF9AE}" pid="3" name="ICV">
    <vt:lpwstr>D64609F707B44E138FE776511BCCF6EC_11</vt:lpwstr>
  </property>
</Properties>
</file>