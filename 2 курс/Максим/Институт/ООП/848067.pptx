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_rels/slideLayout3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6.xml.rels" ContentType="application/vnd.openxmlformats-package.relationships+xml"/>
  <Override PartName="/ppt/slideLayouts/slideLayout2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2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2.xml.rels" ContentType="application/vnd.openxmlformats-package.relationships+xml"/>
  <Override PartName="/ppt/slides/_rels/slide20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25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16.xml.rels" ContentType="application/vnd.openxmlformats-package.relationships+xml"/>
  <Override PartName="/ppt/slides/_rels/slide24.xml.rels" ContentType="application/vnd.openxmlformats-package.relationships+xml"/>
  <Override PartName="/ppt/slides/_rels/slide4.xml.rels" ContentType="application/vnd.openxmlformats-package.relationships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wmf" ContentType="image/x-wmf"/>
  <Override PartName="/ppt/media/image7.wmf" ContentType="image/x-wmf"/>
  <Override PartName="/ppt/media/image8.wmf" ContentType="image/x-wmf"/>
  <Override PartName="/ppt/media/image9.wmf" ContentType="image/x-w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FCDD55-3079-4713-AE14-5AD265705A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CA917-B0C4-4E35-8520-6BD559BBDD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67AE63-A278-4D11-A839-3AD7893EB8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5C8E12-91BA-4B19-99B4-5C84DAF375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CEC38C-4A91-42E8-B58F-5D35DEF94B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77920"/>
            <a:ext cx="8229240" cy="528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52D4B3-7310-4AB0-A46B-AFA8CE8FB6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55C44-5498-4F2F-AA3C-CFB1C4194D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06148E-5CA9-4274-B9E9-7675193B29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168668-5B26-47B6-B176-D061359A72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09FEEA-77F7-4846-8198-A17FEB1188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A2034E-1005-4660-BD66-BB3002DC3B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6EC8D-A750-4FA2-B759-CD0D61C167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0E767C-9556-4082-9891-0FF3209C71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2F7CB8-A656-4F51-AA2B-D55740B262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0C584A-656B-4029-80E3-791AE7DA0D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C0139D-6561-49E6-81B4-B654D8EBB1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2B76D5-3A33-4149-AC6D-8AB83FFAB2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57200" y="277920"/>
            <a:ext cx="8229240" cy="528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4BC90D-C94F-4E54-A235-D0A5489FA2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F28CED-98C8-4A24-8238-622AA0EF17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153C02-F34D-42E2-BB17-EBFA561030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E66136-8322-42AF-9F52-9157C42091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DD79FD-F0D3-4238-B7A3-EA2311CE96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AA76B1-A409-468A-857A-8C846691BD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F43BC8-5D1D-4239-A9FD-7B7AD885E1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BCA4C10-B796-49C1-8ADF-6E1E2845BC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93DB928-731E-49B1-8E69-A73F8E5F25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299953D-8679-42E9-88E8-6CB4F5FE6D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40924BE-14B3-44F1-9B09-F13255C46B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1FEC0C1-EF06-4406-BC21-65CDC84908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ubTitle"/>
          </p:nvPr>
        </p:nvSpPr>
        <p:spPr>
          <a:xfrm>
            <a:off x="457200" y="277920"/>
            <a:ext cx="8229240" cy="528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E58F66E-89CD-480F-AB3F-EFD9AE800E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D913DB9-2C87-46C4-805A-BC65BDF9E9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621F0E5-FD6B-44F3-B1D9-BFF41F6BEF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A73C384-8EC6-4641-8DBD-0F671A5436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1987BB0-BC5F-407B-A6FD-09EA18CB11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DE8943D-A6BF-4D49-B123-059612E3B8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>
              <a:spcBef>
                <a:spcPts val="1417"/>
              </a:spcBef>
              <a:buNone/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DA9F51-4343-4C78-B954-A84143ADE8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7" hidden="1"/>
          <p:cNvSpPr/>
          <p:nvPr/>
        </p:nvSpPr>
        <p:spPr>
          <a:xfrm>
            <a:off x="380880" y="228600"/>
            <a:ext cx="8229240" cy="609120"/>
          </a:xfrm>
          <a:custGeom>
            <a:avLst/>
            <a:gdLst>
              <a:gd name="textAreaLeft" fmla="*/ 0 w 8229240"/>
              <a:gd name="textAreaRight" fmla="*/ 8229600 w 822924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Line 8"/>
          <p:cNvSpPr/>
          <p:nvPr/>
        </p:nvSpPr>
        <p:spPr>
          <a:xfrm>
            <a:off x="457200" y="6172200"/>
            <a:ext cx="8229600" cy="360"/>
          </a:xfrm>
          <a:prstGeom prst="line">
            <a:avLst/>
          </a:prstGeom>
          <a:ln w="19050">
            <a:solidFill>
              <a:srgbClr val="cc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reeform 7"/>
          <p:cNvSpPr/>
          <p:nvPr/>
        </p:nvSpPr>
        <p:spPr>
          <a:xfrm>
            <a:off x="609480" y="1219320"/>
            <a:ext cx="7924320" cy="914040"/>
          </a:xfrm>
          <a:custGeom>
            <a:avLst/>
            <a:gdLst>
              <a:gd name="textAreaLeft" fmla="*/ 0 w 7924320"/>
              <a:gd name="textAreaRight" fmla="*/ 7924680 w 7924320"/>
              <a:gd name="textAreaTop" fmla="*/ 0 h 914040"/>
              <a:gd name="textAreaBottom" fmla="*/ 914400 h 914040"/>
            </a:gdLst>
            <a:ahLst/>
            <a:rect l="textAreaLeft" t="textAreaTop" r="textAreaRight" b="textAreaBottom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Line 8"/>
          <p:cNvSpPr/>
          <p:nvPr/>
        </p:nvSpPr>
        <p:spPr>
          <a:xfrm>
            <a:off x="1981080" y="3962160"/>
            <a:ext cx="6512040" cy="360"/>
          </a:xfrm>
          <a:prstGeom prst="line">
            <a:avLst/>
          </a:prstGeom>
          <a:ln w="19050">
            <a:solidFill>
              <a:srgbClr val="cc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1523880"/>
            <a:ext cx="7622640" cy="17521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5000" spc="-1" strike="noStrike">
                <a:solidFill>
                  <a:srgbClr val="006633"/>
                </a:solidFill>
                <a:latin typeface="Garamond"/>
              </a:rPr>
              <a:t>Образец </a:t>
            </a:r>
            <a:r>
              <a:rPr b="0" lang="ru-RU" sz="5000" spc="-1" strike="noStrike">
                <a:solidFill>
                  <a:srgbClr val="006633"/>
                </a:solidFill>
                <a:latin typeface="Garamond"/>
              </a:rPr>
              <a:t>заголовка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174E17-54F6-4EB5-B344-EF22138963DF}" type="slidenum">
              <a:rPr b="0" lang="ru-RU" sz="1200" spc="-1" strike="noStrike">
                <a:solidFill>
                  <a:srgbClr val="000000"/>
                </a:solidFill>
                <a:latin typeface="Garamond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0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7"/>
          <p:cNvSpPr/>
          <p:nvPr/>
        </p:nvSpPr>
        <p:spPr>
          <a:xfrm>
            <a:off x="380880" y="228600"/>
            <a:ext cx="8229240" cy="609120"/>
          </a:xfrm>
          <a:custGeom>
            <a:avLst/>
            <a:gdLst>
              <a:gd name="textAreaLeft" fmla="*/ 0 w 8229240"/>
              <a:gd name="textAreaRight" fmla="*/ 8229600 w 822924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Line 8"/>
          <p:cNvSpPr/>
          <p:nvPr/>
        </p:nvSpPr>
        <p:spPr>
          <a:xfrm>
            <a:off x="457200" y="6172200"/>
            <a:ext cx="8229600" cy="360"/>
          </a:xfrm>
          <a:prstGeom prst="line">
            <a:avLst/>
          </a:prstGeom>
          <a:ln w="19050">
            <a:solidFill>
              <a:srgbClr val="cc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4200" spc="-1" strike="noStrike">
                <a:solidFill>
                  <a:srgbClr val="006633"/>
                </a:solidFill>
                <a:latin typeface="Garamond"/>
              </a:rPr>
              <a:t>Образец заголовка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75D723-2983-48EC-A3D4-72090A9AECD0}" type="slidenum">
              <a:rPr b="0" lang="ru-RU" sz="1200" spc="-1" strike="noStrike">
                <a:solidFill>
                  <a:srgbClr val="000000"/>
                </a:solidFill>
                <a:latin typeface="Garamond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0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 7"/>
          <p:cNvSpPr/>
          <p:nvPr/>
        </p:nvSpPr>
        <p:spPr>
          <a:xfrm>
            <a:off x="380880" y="228600"/>
            <a:ext cx="8229240" cy="609120"/>
          </a:xfrm>
          <a:custGeom>
            <a:avLst/>
            <a:gdLst>
              <a:gd name="textAreaLeft" fmla="*/ 0 w 8229240"/>
              <a:gd name="textAreaRight" fmla="*/ 8229600 w 822924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Line 8"/>
          <p:cNvSpPr/>
          <p:nvPr/>
        </p:nvSpPr>
        <p:spPr>
          <a:xfrm>
            <a:off x="457200" y="6172200"/>
            <a:ext cx="8229600" cy="360"/>
          </a:xfrm>
          <a:prstGeom prst="line">
            <a:avLst/>
          </a:prstGeom>
          <a:ln w="19050">
            <a:solidFill>
              <a:srgbClr val="cc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4200" spc="-1" strike="noStrike">
                <a:solidFill>
                  <a:srgbClr val="006633"/>
                </a:solidFill>
                <a:latin typeface="Garamond"/>
              </a:rPr>
              <a:t>Образец заголовка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30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cc9900"/>
              </a:buClr>
              <a:buSzPct val="65000"/>
              <a:buFont typeface="Wingdings" charset="2"/>
              <a:buChar char=""/>
            </a:pPr>
            <a:r>
              <a:rPr b="0" lang="ru-RU" sz="3000" spc="-1" strike="noStrike">
                <a:solidFill>
                  <a:srgbClr val="000000"/>
                </a:solidFill>
                <a:latin typeface="Arial"/>
              </a:rPr>
              <a:t>Образец текста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 lvl="1" marL="669960" indent="-325440">
              <a:lnSpc>
                <a:spcPct val="100000"/>
              </a:lnSpc>
              <a:spcBef>
                <a:spcPts val="519"/>
              </a:spcBef>
              <a:buClr>
                <a:srgbClr val="3b812f"/>
              </a:buClr>
              <a:buSzPct val="60000"/>
              <a:buFont typeface="Wingdings" charset="2"/>
              <a:buChar char=""/>
            </a:pPr>
            <a:r>
              <a:rPr b="0" lang="ru-RU" sz="2600" spc="-1" strike="noStrike">
                <a:solidFill>
                  <a:srgbClr val="000000"/>
                </a:solidFill>
                <a:latin typeface="Arial"/>
              </a:rPr>
              <a:t>Второй уровень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2" marL="1022400" indent="-351000">
              <a:lnSpc>
                <a:spcPct val="100000"/>
              </a:lnSpc>
              <a:spcBef>
                <a:spcPts val="439"/>
              </a:spcBef>
              <a:buClr>
                <a:srgbClr val="cc9900"/>
              </a:buClr>
              <a:buSzPct val="65000"/>
              <a:buFont typeface="Wingdings" charset="2"/>
              <a:buChar char=""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Третий уровень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3" marL="1339920" indent="-316080">
              <a:lnSpc>
                <a:spcPct val="100000"/>
              </a:lnSpc>
              <a:spcBef>
                <a:spcPts val="400"/>
              </a:spcBef>
              <a:buClr>
                <a:srgbClr val="3b812f"/>
              </a:buClr>
              <a:buSzPct val="70000"/>
              <a:buFont typeface="Wingdings" charset="2"/>
              <a:buChar char="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Четвертый уровень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1681200" indent="-339840">
              <a:lnSpc>
                <a:spcPct val="100000"/>
              </a:lnSpc>
              <a:spcBef>
                <a:spcPts val="400"/>
              </a:spcBef>
              <a:buClr>
                <a:srgbClr val="cc9900"/>
              </a:buClr>
              <a:buSzPct val="75000"/>
              <a:buFont typeface="Wingdings" charset="2"/>
              <a:buChar char="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7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sldNum" idx="9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6FC774-3BC4-47C0-BB5C-78E036EA2681}" type="slidenum">
              <a:rPr b="0" lang="ru-RU" sz="1200" spc="-1" strike="noStrike">
                <a:solidFill>
                  <a:srgbClr val="000000"/>
                </a:solidFill>
                <a:latin typeface="Garamond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14400" y="1523880"/>
            <a:ext cx="7622640" cy="17521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5000" spc="-1" strike="noStrike">
                <a:solidFill>
                  <a:srgbClr val="006633"/>
                </a:solidFill>
                <a:latin typeface="Garamond"/>
              </a:rPr>
              <a:t>Лекция 1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1692360" y="4076640"/>
            <a:ext cx="7056000" cy="2231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 algn="ctr">
              <a:lnSpc>
                <a:spcPct val="100000"/>
              </a:lnSpc>
              <a:spcBef>
                <a:spcPts val="879"/>
              </a:spcBef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Введение в объектно-ориентированный анализ и проектирование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23"/>
          <p:cNvSpPr/>
          <p:nvPr/>
        </p:nvSpPr>
        <p:spPr>
          <a:xfrm>
            <a:off x="684360" y="538200"/>
            <a:ext cx="763236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800" spc="-1" strike="noStrike">
                <a:solidFill>
                  <a:srgbClr val="000000"/>
                </a:solidFill>
                <a:latin typeface="Arial"/>
              </a:rPr>
              <a:t>Разработка программного обеспечения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 (</a:t>
            </a:r>
            <a:r>
              <a:rPr b="0" i="1" lang="ru-RU" sz="2800" spc="-1" strike="noStrike">
                <a:solidFill>
                  <a:srgbClr val="000000"/>
                </a:solidFill>
                <a:latin typeface="Arial"/>
              </a:rPr>
              <a:t>англ. software engineering, software development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) — род деятельности, направленный на создание и поддержание работоспособности, качества и надежности ПО, используя технологии из информатики, управления, математики, инженерии и других областей.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24"/>
          <p:cNvSpPr/>
          <p:nvPr/>
        </p:nvSpPr>
        <p:spPr>
          <a:xfrm>
            <a:off x="1403280" y="1357200"/>
            <a:ext cx="6481440" cy="3626280"/>
          </a:xfrm>
          <a:prstGeom prst="rect">
            <a:avLst/>
          </a:prstGeom>
          <a:noFill/>
          <a:ln w="2540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Выбор парадигмы программирования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Анализ требований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Планирование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Разработка архитектуры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Кодирование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Тестирование и отладка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Документирование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Внедрение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Сопровождение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7705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Этапы разработки ПО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Box 25"/>
          <p:cNvSpPr/>
          <p:nvPr/>
        </p:nvSpPr>
        <p:spPr>
          <a:xfrm>
            <a:off x="1251000" y="1558800"/>
            <a:ext cx="68529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каскадная (небольшие проекты),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итеративная (крупные проекты).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7705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Модели процесса разработки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Box 8"/>
          <p:cNvSpPr/>
          <p:nvPr/>
        </p:nvSpPr>
        <p:spPr>
          <a:xfrm>
            <a:off x="611280" y="982800"/>
            <a:ext cx="76528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Сравнима со сложностью современных технических средств.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Box 9"/>
          <p:cNvSpPr/>
          <p:nvPr/>
        </p:nvSpPr>
        <p:spPr>
          <a:xfrm>
            <a:off x="1333440" y="2060640"/>
            <a:ext cx="6551280" cy="3472560"/>
          </a:xfrm>
          <a:prstGeom prst="rect">
            <a:avLst/>
          </a:prstGeom>
          <a:noFill/>
          <a:ln w="317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Сложность, присущая ПО: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Сложность предметной области (множество различных понятий и характер взаимодействий между ними)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Трудности управления проектированием (большой объем кода)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Необходимость обеспечения гибкости (изменяющиеся требования)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6697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Сложность ПО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Box 2"/>
          <p:cNvSpPr/>
          <p:nvPr/>
        </p:nvSpPr>
        <p:spPr>
          <a:xfrm>
            <a:off x="755640" y="1290600"/>
            <a:ext cx="7703640" cy="3990600"/>
          </a:xfrm>
          <a:prstGeom prst="rect">
            <a:avLst/>
          </a:prstGeom>
          <a:noFill/>
          <a:ln w="317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Иерархическая структура (компоненты + связи)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Относительность выбора элементарных компонентов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Разделение функций между компонентами (связи внутри компонентов сильнее связей между ними)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Общая структура (повторное использование компонентов)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Устойчивые промежуточные формы (залог быстрого и успешного развития системы)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6697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Признаки сложной структуры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Box 3"/>
          <p:cNvSpPr/>
          <p:nvPr/>
        </p:nvSpPr>
        <p:spPr>
          <a:xfrm>
            <a:off x="971640" y="1400040"/>
            <a:ext cx="7056000" cy="30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Декомпозиция как основная стратегия борьбы со сложностью ПО.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Метод борьбы — построение иерархий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ff0000"/>
                </a:solidFill>
                <a:latin typeface="Arial"/>
              </a:rPr>
              <a:t>Пример: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ff0000"/>
                </a:solidFill>
                <a:latin typeface="Arial"/>
              </a:rPr>
              <a:t>опытный летчик и новый самолет.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6697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Декомпозиция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Box 4"/>
          <p:cNvSpPr/>
          <p:nvPr/>
        </p:nvSpPr>
        <p:spPr>
          <a:xfrm>
            <a:off x="539640" y="1339920"/>
            <a:ext cx="5760720" cy="31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Garamond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Иерархия "является частью..." ("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part of ...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")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—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2400" spc="-1" strike="noStrike">
                <a:solidFill>
                  <a:srgbClr val="0000ff"/>
                </a:solidFill>
                <a:latin typeface="Arial"/>
              </a:rPr>
              <a:t>самолет, двигатель, фюзеляж, крыло и т.д.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Garamond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Иерархия "является..." ("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is a ...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")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—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2400" spc="-1" strike="noStrike">
                <a:solidFill>
                  <a:srgbClr val="0000ff"/>
                </a:solidFill>
                <a:latin typeface="Arial"/>
              </a:rPr>
              <a:t>двигатель самолета </a:t>
            </a:r>
            <a:r>
              <a:rPr b="0" lang="ru-RU" sz="2400" spc="-1" strike="noStrike">
                <a:solidFill>
                  <a:srgbClr val="0000ff"/>
                </a:solidFill>
                <a:latin typeface="Arial"/>
              </a:rPr>
              <a:t>→ турбореактивный двигатель → разновидность реактивного двигателя и т.д.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Box 5"/>
          <p:cNvSpPr/>
          <p:nvPr/>
        </p:nvSpPr>
        <p:spPr>
          <a:xfrm>
            <a:off x="6588000" y="1428840"/>
            <a:ext cx="216036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800" spc="-1" strike="noStrike">
                <a:solidFill>
                  <a:srgbClr val="ff0000"/>
                </a:solidFill>
                <a:latin typeface="Arial"/>
              </a:rPr>
              <a:t>"целое/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800" spc="-1" strike="noStrike">
                <a:solidFill>
                  <a:srgbClr val="ff0000"/>
                </a:solidFill>
                <a:latin typeface="Arial"/>
              </a:rPr>
              <a:t>часть"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Box 6"/>
          <p:cNvSpPr/>
          <p:nvPr/>
        </p:nvSpPr>
        <p:spPr>
          <a:xfrm>
            <a:off x="6588000" y="3046320"/>
            <a:ext cx="223308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800" spc="-1" strike="noStrike">
                <a:solidFill>
                  <a:srgbClr val="ff0000"/>
                </a:solidFill>
                <a:latin typeface="Arial"/>
              </a:rPr>
              <a:t>"общее/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800" spc="-1" strike="noStrike">
                <a:solidFill>
                  <a:srgbClr val="ff0000"/>
                </a:solidFill>
                <a:latin typeface="Arial"/>
              </a:rPr>
              <a:t>частное"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Box 7"/>
          <p:cNvSpPr/>
          <p:nvPr/>
        </p:nvSpPr>
        <p:spPr>
          <a:xfrm>
            <a:off x="289080" y="5240160"/>
            <a:ext cx="8497440" cy="8211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7480"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Иерархии "целое/часть" и "общее/частное" иногда называют 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структурой классов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и 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структурой объектов.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7489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Виды иерархий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2" descr=""/>
          <p:cNvPicPr/>
          <p:nvPr/>
        </p:nvPicPr>
        <p:blipFill>
          <a:blip r:embed="rId1"/>
          <a:stretch/>
        </p:blipFill>
        <p:spPr>
          <a:xfrm>
            <a:off x="1692360" y="1341360"/>
            <a:ext cx="5949720" cy="4533480"/>
          </a:xfrm>
          <a:prstGeom prst="rect">
            <a:avLst/>
          </a:prstGeom>
          <a:ln w="0">
            <a:noFill/>
          </a:ln>
        </p:spPr>
      </p:pic>
      <p:sp>
        <p:nvSpPr>
          <p:cNvPr id="151" name="Text Box 3"/>
          <p:cNvSpPr/>
          <p:nvPr/>
        </p:nvSpPr>
        <p:spPr>
          <a:xfrm>
            <a:off x="590400" y="333360"/>
            <a:ext cx="76528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Структура классов и структура объектов вместе определяют 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архитектуру системы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2" descr=""/>
          <p:cNvPicPr/>
          <p:nvPr/>
        </p:nvPicPr>
        <p:blipFill>
          <a:blip r:embed="rId1"/>
          <a:stretch/>
        </p:blipFill>
        <p:spPr>
          <a:xfrm>
            <a:off x="343080" y="112680"/>
            <a:ext cx="4444560" cy="6629040"/>
          </a:xfrm>
          <a:prstGeom prst="rect">
            <a:avLst/>
          </a:prstGeom>
          <a:ln w="0">
            <a:noFill/>
          </a:ln>
        </p:spPr>
      </p:pic>
      <p:sp>
        <p:nvSpPr>
          <p:cNvPr id="153" name="Text Box 3"/>
          <p:cNvSpPr/>
          <p:nvPr/>
        </p:nvSpPr>
        <p:spPr>
          <a:xfrm>
            <a:off x="5148360" y="476280"/>
            <a:ext cx="3312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Успешными являются программные системы, включающие признаки сложности и основанные на хорошо продуманных структурах классов и объектов.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3"/>
          <p:cNvSpPr/>
          <p:nvPr/>
        </p:nvSpPr>
        <p:spPr>
          <a:xfrm>
            <a:off x="539640" y="2755800"/>
            <a:ext cx="78483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Объектно-ориентированное программирование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(</a:t>
            </a:r>
            <a:r>
              <a:rPr b="0" i="1" lang="ru-RU" sz="2400" spc="-1" strike="noStrike">
                <a:solidFill>
                  <a:srgbClr val="000000"/>
                </a:solidFill>
                <a:latin typeface="Arial"/>
              </a:rPr>
              <a:t>англ. ОО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</a:rPr>
              <a:t>P, object-oriented programming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) — метод программирования, основанный на представлении программы в виде совокупности взаимодействующих объектов. Объекты являются экземплярами определенного класса, а классы — членами иерархии наследования.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7489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Объектная модель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2230200" y="1341360"/>
            <a:ext cx="4257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3600" spc="-1" strike="noStrike">
                <a:solidFill>
                  <a:srgbClr val="000000"/>
                </a:solidFill>
                <a:latin typeface="Arial"/>
              </a:rPr>
              <a:t>ООА – ОО</a:t>
            </a:r>
            <a:r>
              <a:rPr b="0" i="1" lang="en-US" sz="36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i="1" lang="ru-RU" sz="3600" spc="-1" strike="noStrike">
                <a:solidFill>
                  <a:srgbClr val="000000"/>
                </a:solidFill>
                <a:latin typeface="Arial"/>
              </a:rPr>
              <a:t> – ОО</a:t>
            </a:r>
            <a:r>
              <a:rPr b="0" i="1" lang="en-US" sz="3600" spc="-1" strike="noStrike">
                <a:solidFill>
                  <a:srgbClr val="000000"/>
                </a:solidFill>
                <a:latin typeface="Arial"/>
              </a:rPr>
              <a:t>P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4"/>
          <p:cNvSpPr/>
          <p:nvPr/>
        </p:nvSpPr>
        <p:spPr>
          <a:xfrm>
            <a:off x="611280" y="692280"/>
            <a:ext cx="74894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Объектно-ориентированное проектирование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(</a:t>
            </a:r>
            <a:r>
              <a:rPr b="0" i="1" lang="ru-RU" sz="2400" spc="-1" strike="noStrike">
                <a:solidFill>
                  <a:srgbClr val="000000"/>
                </a:solidFill>
                <a:latin typeface="Arial"/>
              </a:rPr>
              <a:t>англ.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</a:rPr>
              <a:t>OOD, object-oriented design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)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— метод проектирования, сочетающий процесс объектно-ориентированной декомпозиции и систему обозначений для представления модели.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534960" y="3284640"/>
            <a:ext cx="79974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Объектно-ориентированный анализ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(</a:t>
            </a:r>
            <a:r>
              <a:rPr b="0" i="1" lang="ru-RU" sz="2400" spc="-1" strike="noStrike">
                <a:solidFill>
                  <a:srgbClr val="000000"/>
                </a:solidFill>
                <a:latin typeface="Arial"/>
              </a:rPr>
              <a:t>англ.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</a:rPr>
              <a:t>OOA, object-oriented analysis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) — метод анализа, исследующий требования к системе с точки зрения классов и объектов, относящихся к словарю предметной области.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/>
          <p:nvPr/>
        </p:nvSpPr>
        <p:spPr>
          <a:xfrm>
            <a:off x="468360" y="1192320"/>
            <a:ext cx="82800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Метод борьбы со сложностью.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Абстракция выделяет существенные характеристики объекта, отличающие его от всех других видов объектов. Таким образом, четко описываются границы объекта с точки зрения наблюдателя.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Принцип "наименьшего удивления"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"least astonishment")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7489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Абстрагирование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4"/>
          <p:cNvSpPr/>
          <p:nvPr/>
        </p:nvSpPr>
        <p:spPr>
          <a:xfrm>
            <a:off x="1042920" y="1125360"/>
            <a:ext cx="7029000" cy="4051440"/>
          </a:xfrm>
          <a:prstGeom prst="rect">
            <a:avLst/>
          </a:prstGeom>
          <a:noFill/>
          <a:ln w="317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955960" indent="-27766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 marL="2955960" indent="-2776680">
              <a:lnSpc>
                <a:spcPct val="100000"/>
              </a:lnSpc>
              <a:spcBef>
                <a:spcPts val="1440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Абстракция сущности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719280" indent="-2776680">
              <a:lnSpc>
                <a:spcPct val="100000"/>
              </a:lnSpc>
              <a:spcBef>
                <a:spcPts val="1440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Объект, представляющий собой полезную модель некой сущности в предметной области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955960" indent="-2776680">
              <a:lnSpc>
                <a:spcPct val="100000"/>
              </a:lnSpc>
              <a:spcBef>
                <a:spcPts val="1440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Абстракция действия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719280" indent="-2776680">
              <a:lnSpc>
                <a:spcPct val="100000"/>
              </a:lnSpc>
              <a:spcBef>
                <a:spcPts val="1440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Объект, состоящий из обобщенного множества операций, каждая из которых выполняет однотипные функции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719280" indent="-27766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2" descr=""/>
          <p:cNvPicPr/>
          <p:nvPr/>
        </p:nvPicPr>
        <p:blipFill>
          <a:blip r:embed="rId1"/>
          <a:stretch/>
        </p:blipFill>
        <p:spPr>
          <a:xfrm>
            <a:off x="468360" y="333360"/>
            <a:ext cx="4398480" cy="251892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3" descr=""/>
          <p:cNvPicPr/>
          <p:nvPr/>
        </p:nvPicPr>
        <p:blipFill>
          <a:blip r:embed="rId2"/>
          <a:stretch/>
        </p:blipFill>
        <p:spPr>
          <a:xfrm>
            <a:off x="3819600" y="3143160"/>
            <a:ext cx="4824000" cy="2917440"/>
          </a:xfrm>
          <a:prstGeom prst="rect">
            <a:avLst/>
          </a:prstGeom>
          <a:ln w="0">
            <a:noFill/>
          </a:ln>
        </p:spPr>
      </p:pic>
      <p:sp>
        <p:nvSpPr>
          <p:cNvPr id="164" name="Text Box 4"/>
          <p:cNvSpPr/>
          <p:nvPr/>
        </p:nvSpPr>
        <p:spPr>
          <a:xfrm>
            <a:off x="5292720" y="476280"/>
            <a:ext cx="26636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400" spc="-1" strike="noStrike">
                <a:solidFill>
                  <a:srgbClr val="0000ff"/>
                </a:solidFill>
                <a:latin typeface="Arial"/>
              </a:rPr>
              <a:t>Пример абстракции: температурный датчик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Box 2"/>
          <p:cNvSpPr/>
          <p:nvPr/>
        </p:nvSpPr>
        <p:spPr>
          <a:xfrm>
            <a:off x="3120480" y="307800"/>
            <a:ext cx="2640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400" spc="-1" strike="noStrike">
                <a:solidFill>
                  <a:srgbClr val="000099"/>
                </a:solidFill>
                <a:latin typeface="Arial"/>
              </a:rPr>
              <a:t>Природа объекта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971640" y="981000"/>
            <a:ext cx="6695640" cy="21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79"/>
              </a:spcBef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Объектом может быть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Материальный и (или) видимый предмет.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Сущность, поддающаяся осмыслению.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Сущность, на которую направлена мысль или действие.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Picture 4" descr=""/>
          <p:cNvPicPr/>
          <p:nvPr/>
        </p:nvPicPr>
        <p:blipFill>
          <a:blip r:embed="rId1"/>
          <a:stretch/>
        </p:blipFill>
        <p:spPr>
          <a:xfrm>
            <a:off x="3643200" y="2928960"/>
            <a:ext cx="4357440" cy="3088800"/>
          </a:xfrm>
          <a:prstGeom prst="rect">
            <a:avLst/>
          </a:prstGeom>
          <a:ln w="0">
            <a:noFill/>
          </a:ln>
        </p:spPr>
      </p:pic>
      <p:sp>
        <p:nvSpPr>
          <p:cNvPr id="168" name="Text Box 5"/>
          <p:cNvSpPr/>
          <p:nvPr/>
        </p:nvSpPr>
        <p:spPr>
          <a:xfrm>
            <a:off x="968400" y="3881520"/>
            <a:ext cx="25318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основные характеристики объекта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Box 2"/>
          <p:cNvSpPr/>
          <p:nvPr/>
        </p:nvSpPr>
        <p:spPr>
          <a:xfrm>
            <a:off x="3209760" y="307800"/>
            <a:ext cx="2464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400" spc="-1" strike="noStrike">
                <a:solidFill>
                  <a:srgbClr val="000099"/>
                </a:solidFill>
                <a:latin typeface="Arial"/>
              </a:rPr>
              <a:t>Природа класса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928800" y="907920"/>
            <a:ext cx="73432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79"/>
              </a:spcBef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Класс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— множество объектов, обладающих общей структурой и поведением. Отдельный объект является экземпляром класса.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6"/>
          <p:cNvSpPr/>
          <p:nvPr/>
        </p:nvSpPr>
        <p:spPr>
          <a:xfrm>
            <a:off x="938160" y="2286000"/>
            <a:ext cx="7490880" cy="3441600"/>
          </a:xfrm>
          <a:prstGeom prst="rect">
            <a:avLst/>
          </a:prstGeom>
          <a:noFill/>
          <a:ln w="317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</a:rPr>
              <a:t>Интерфейс класса</a:t>
            </a: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: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1) Открытый раздел (public) — объявления, доступные всем клиентам.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2) Защищенный раздел (protected) — объявления, доступные самому классу и его подклассам.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3) Закрытый раздел (private) — объявления, доступные только самому классу.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4) Пакет (package) — объявления, доступные только классам, входящим в один и тот же пакет.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Box 2"/>
          <p:cNvSpPr/>
          <p:nvPr/>
        </p:nvSpPr>
        <p:spPr>
          <a:xfrm>
            <a:off x="1808640" y="307800"/>
            <a:ext cx="528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400" spc="-1" strike="noStrike">
                <a:solidFill>
                  <a:srgbClr val="000099"/>
                </a:solidFill>
                <a:latin typeface="Arial"/>
              </a:rPr>
              <a:t>Объектно-ориентированный анализ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3"/>
          <p:cNvSpPr/>
          <p:nvPr/>
        </p:nvSpPr>
        <p:spPr>
          <a:xfrm>
            <a:off x="539640" y="857160"/>
            <a:ext cx="806400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На этапе анализа осуществляется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</a:rPr>
              <a:t>первичное исследование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 задачи и моделирование реальности с помощью классов и объектов, образующих словарь предметной области. На этапе проектирования изобретаются абстракции и механизмы реализации принятого решения.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4"/>
          <p:cNvSpPr/>
          <p:nvPr/>
        </p:nvSpPr>
        <p:spPr>
          <a:xfrm>
            <a:off x="684360" y="2987640"/>
            <a:ext cx="7705440" cy="2732400"/>
          </a:xfrm>
          <a:prstGeom prst="rect">
            <a:avLst/>
          </a:prstGeom>
          <a:noFill/>
          <a:ln w="34925">
            <a:solidFill>
              <a:srgbClr val="00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70200" indent="-3670200"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Классический подход к идентификации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670200" indent="-3670200"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классов и объектов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670200" indent="-3670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Материальные предметы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Автомобили, телеметрические данные, датчики давления.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670200" indent="-3670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Роли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Мать, учитель, политик.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670200" indent="-3670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События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Посадка, прерывание, запрос.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670200" indent="-3670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Взаимодействие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Заем, встреча, пересечение.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4" descr=""/>
          <p:cNvPicPr/>
          <p:nvPr/>
        </p:nvPicPr>
        <p:blipFill>
          <a:blip r:embed="rId1"/>
          <a:stretch/>
        </p:blipFill>
        <p:spPr>
          <a:xfrm>
            <a:off x="1395360" y="1216080"/>
            <a:ext cx="6391080" cy="4641480"/>
          </a:xfrm>
          <a:prstGeom prst="rect">
            <a:avLst/>
          </a:prstGeom>
          <a:ln w="0">
            <a:noFill/>
          </a:ln>
        </p:spPr>
      </p:pic>
      <p:sp>
        <p:nvSpPr>
          <p:cNvPr id="176" name="Text Box 5"/>
          <p:cNvSpPr/>
          <p:nvPr/>
        </p:nvSpPr>
        <p:spPr>
          <a:xfrm>
            <a:off x="1132560" y="307800"/>
            <a:ext cx="6906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От понятия предметной области к программному классу.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Box 2"/>
          <p:cNvSpPr/>
          <p:nvPr/>
        </p:nvSpPr>
        <p:spPr>
          <a:xfrm>
            <a:off x="2167560" y="357120"/>
            <a:ext cx="4524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400" spc="-1" strike="noStrike">
                <a:solidFill>
                  <a:srgbClr val="000099"/>
                </a:solidFill>
                <a:latin typeface="Arial"/>
              </a:rPr>
              <a:t>Анализ предметной области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 3"/>
          <p:cNvSpPr/>
          <p:nvPr/>
        </p:nvSpPr>
        <p:spPr>
          <a:xfrm>
            <a:off x="714240" y="1000080"/>
            <a:ext cx="7992720" cy="45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0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Анализ предметной области как "попытка идентифицировать объекты, операции и отношения, которые эксперты считают наиболее важными".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</a:rPr>
              <a:t>Этапы анализа предметной области</a:t>
            </a: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: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Построение модели предметной области в ходе консультаций с экспертами в этой области.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Изучение систем, существующих в данной предметной области, и  представление результатов в стандартном виде.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Идентификация сходства и различий между системами при участии экспертов предметной области.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Box 2"/>
          <p:cNvSpPr/>
          <p:nvPr/>
        </p:nvSpPr>
        <p:spPr>
          <a:xfrm>
            <a:off x="539640" y="352440"/>
            <a:ext cx="820872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Короткий пример ООА/П: игра в кости.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Описание игры. Игрок бросает две кости. Если сумма очков равна 7, то игрок побеждает, в противном случае - проигрывает.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Box 3"/>
          <p:cNvSpPr/>
          <p:nvPr/>
        </p:nvSpPr>
        <p:spPr>
          <a:xfrm>
            <a:off x="520560" y="2286000"/>
            <a:ext cx="790848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70200" indent="-3670200"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1) Анализ прецедентов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670200" indent="-3670200">
              <a:lnSpc>
                <a:spcPct val="100000"/>
              </a:lnSpc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670200" indent="-3670200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Прецедент: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"Игра в кости".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Описание: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 Игрок берет и бросает кости. Вычисляется сумма выпавших очков. Если сумма равна 7, то игрок считается победителем, иначе - проигравшим.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5" descr=""/>
          <p:cNvPicPr/>
          <p:nvPr/>
        </p:nvPicPr>
        <p:blipFill>
          <a:blip r:embed="rId1"/>
          <a:stretch/>
        </p:blipFill>
        <p:spPr>
          <a:xfrm>
            <a:off x="1143000" y="1714680"/>
            <a:ext cx="6508440" cy="3714480"/>
          </a:xfrm>
          <a:prstGeom prst="rect">
            <a:avLst/>
          </a:prstGeom>
          <a:ln w="0">
            <a:noFill/>
          </a:ln>
        </p:spPr>
      </p:pic>
      <p:sp>
        <p:nvSpPr>
          <p:cNvPr id="182" name="Text Box 6"/>
          <p:cNvSpPr/>
          <p:nvPr/>
        </p:nvSpPr>
        <p:spPr>
          <a:xfrm>
            <a:off x="642960" y="571680"/>
            <a:ext cx="75718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2) Определение модели предметной области (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domain model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Box 2"/>
          <p:cNvSpPr/>
          <p:nvPr/>
        </p:nvSpPr>
        <p:spPr>
          <a:xfrm>
            <a:off x="611280" y="333360"/>
            <a:ext cx="7746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) Построение диаграмм взаимодействий (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collaboration diagram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Picture 3" descr=""/>
          <p:cNvPicPr/>
          <p:nvPr/>
        </p:nvPicPr>
        <p:blipFill>
          <a:blip r:embed="rId1"/>
          <a:stretch/>
        </p:blipFill>
        <p:spPr>
          <a:xfrm>
            <a:off x="857160" y="1428840"/>
            <a:ext cx="6830640" cy="407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Box 4"/>
          <p:cNvSpPr/>
          <p:nvPr/>
        </p:nvSpPr>
        <p:spPr>
          <a:xfrm>
            <a:off x="642960" y="500040"/>
            <a:ext cx="800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) Построение диаграмм классов проектирования (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design class diagram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Picture 5" descr=""/>
          <p:cNvPicPr/>
          <p:nvPr/>
        </p:nvPicPr>
        <p:blipFill>
          <a:blip r:embed="rId1"/>
          <a:stretch/>
        </p:blipFill>
        <p:spPr>
          <a:xfrm>
            <a:off x="674640" y="1785960"/>
            <a:ext cx="7968960" cy="214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5"/>
          <p:cNvSpPr/>
          <p:nvPr/>
        </p:nvSpPr>
        <p:spPr>
          <a:xfrm>
            <a:off x="611280" y="1335240"/>
            <a:ext cx="7961040" cy="4038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OpenSymbol"/>
              <a:buAutoNum type="arabicParenR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Г. Буч, Р.А. Максимчук, М.У. Энгл, Б.Дж. Янг, Дж. Коналлен, К.А. Хьюстон. Объектно-ориенти-рованный анализ и проектирование с примерами приложений. - М.: Вильямс, 2008. - 720 с.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64960" indent="-26496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2) К. Ларман. Применение UML и шаблонов проектирования. - М.: Вильямс, 2004. - 624 с.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92160" indent="-264960">
              <a:lnSpc>
                <a:spcPct val="100000"/>
              </a:lnSpc>
              <a:spcBef>
                <a:spcPts val="1440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66560" y="260280"/>
            <a:ext cx="7705440" cy="707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6633"/>
                </a:solidFill>
                <a:latin typeface="Arial"/>
              </a:rPr>
              <a:t>Литература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Край">
  <a:themeElements>
    <a:clrScheme name="Край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Край">
  <a:themeElements>
    <a:clrScheme name="Край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Край">
  <a:themeElements>
    <a:clrScheme name="Край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3338</TotalTime>
  <Application>LibreOffice/7.5.7.1$Linux_X86_64 LibreOffice_project/50$Build-1</Application>
  <AppVersion>15.0000</AppVersion>
  <Words>877</Words>
  <Paragraphs>105</Paragraphs>
  <Company>TP&amp;WP VolSU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2014-09-28T14:57:15Z</dcterms:created>
  <dc:creator>Feskov</dc:creator>
  <dc:description/>
  <dc:language>ru-RU</dc:language>
  <cp:lastModifiedBy/>
  <dcterms:modified xsi:type="dcterms:W3CDTF">2023-11-07T08:37:18Z</dcterms:modified>
  <cp:revision>142</cp:revision>
  <dc:subject/>
  <dc:title>Лекция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25</vt:i4>
  </property>
</Properties>
</file>