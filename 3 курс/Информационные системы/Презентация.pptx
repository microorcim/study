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theme/themeOverride12.xml" ContentType="application/vnd.openxmlformats-officedocument.themeOverride+xml"/>
  <Override PartName="/ppt/slides/slide36.xml" ContentType="application/vnd.openxmlformats-officedocument.presentationml.slide+xml"/>
  <Override PartName="/ppt/slideLayouts/slideLayout46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Override39.xml" ContentType="application/vnd.openxmlformats-officedocument.themeOverride+xml"/>
  <Override PartName="/ppt/theme/themeOverride17.xml" ContentType="application/vnd.openxmlformats-officedocument.themeOverride+xml"/>
  <Override PartName="/ppt/theme/themeOverride28.xml" ContentType="application/vnd.openxmlformats-officedocument.themeOverride+xml"/>
  <Override PartName="/ppt/theme/themeOverride46.xml" ContentType="application/vnd.openxmlformats-officedocument.themeOverride+xml"/>
  <Override PartName="/ppt/theme/themeOverride24.xml" ContentType="application/vnd.openxmlformats-officedocument.themeOverride+xml"/>
  <Override PartName="/ppt/theme/themeOverride35.xml" ContentType="application/vnd.openxmlformats-officedocument.themeOverr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theme/themeOverride13.xml" ContentType="application/vnd.openxmlformats-officedocument.themeOverride+xml"/>
  <Override PartName="/ppt/theme/themeOverride42.xml" ContentType="application/vnd.openxmlformats-officedocument.themeOverr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Default Extension="png" ContentType="image/png"/>
  <Override PartName="/ppt/theme/themeOverride20.xml" ContentType="application/vnd.openxmlformats-officedocument.themeOverride+xml"/>
  <Override PartName="/ppt/theme/themeOverride31.xml" ContentType="application/vnd.openxmlformats-officedocument.themeOverr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Override29.xml" ContentType="application/vnd.openxmlformats-officedocument.themeOverride+xml"/>
  <Override PartName="/ppt/theme/themeOverride47.xml" ContentType="application/vnd.openxmlformats-officedocument.themeOverride+xml"/>
  <Override PartName="/ppt/slideLayouts/slideLayout10.xml" ContentType="application/vnd.openxmlformats-officedocument.presentationml.slideLayout+xml"/>
  <Override PartName="/ppt/theme/themeOverride18.xml" ContentType="application/vnd.openxmlformats-officedocument.themeOverride+xml"/>
  <Override PartName="/ppt/theme/themeOverride36.xml" ContentType="application/vnd.openxmlformats-officedocument.themeOverride+xml"/>
  <Override PartName="/ppt/theme/themeOverride25.xml" ContentType="application/vnd.openxmlformats-officedocument.themeOverride+xml"/>
  <Override PartName="/ppt/theme/themeOverride43.xml" ContentType="application/vnd.openxmlformats-officedocument.themeOverride+xml"/>
  <Override PartName="/ppt/slideMasters/slideMaster5.xml" ContentType="application/vnd.openxmlformats-officedocument.presentationml.slideMaster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theme/themeOverride14.xml" ContentType="application/vnd.openxmlformats-officedocument.themeOverride+xml"/>
  <Override PartName="/ppt/theme/themeOverride32.xml" ContentType="application/vnd.openxmlformats-officedocument.themeOverr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Override7.xml" ContentType="application/vnd.openxmlformats-officedocument.themeOverride+xml"/>
  <Override PartName="/ppt/theme/themeOverride21.xml" ContentType="application/vnd.openxmlformats-officedocument.themeOverride+xml"/>
  <Override PartName="/ppt/theme/themeOverride50.xml" ContentType="application/vnd.openxmlformats-officedocument.themeOverr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Override10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Override3.xml" ContentType="application/vnd.openxmlformats-officedocument.themeOverr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Override19.xml" ContentType="application/vnd.openxmlformats-officedocument.themeOverride+xml"/>
  <Override PartName="/ppt/theme/themeOverride48.xml" ContentType="application/vnd.openxmlformats-officedocument.themeOverride+xml"/>
  <Override PartName="/ppt/theme/themeOverride37.xml" ContentType="application/vnd.openxmlformats-officedocument.themeOverride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theme/themeOverride15.xml" ContentType="application/vnd.openxmlformats-officedocument.themeOverride+xml"/>
  <Override PartName="/ppt/theme/themeOverride26.xml" ContentType="application/vnd.openxmlformats-officedocument.themeOverride+xml"/>
  <Override PartName="/ppt/theme/themeOverride44.xml" ContentType="application/vnd.openxmlformats-officedocument.themeOverr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theme/themeOverride22.xml" ContentType="application/vnd.openxmlformats-officedocument.themeOverride+xml"/>
  <Override PartName="/ppt/theme/themeOverride33.xml" ContentType="application/vnd.openxmlformats-officedocument.themeOverride+xml"/>
  <Override PartName="/ppt/theme/themeOverride51.xml" ContentType="application/vnd.openxmlformats-officedocument.themeOverr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theme/themeOverride8.xml" ContentType="application/vnd.openxmlformats-officedocument.themeOverride+xml"/>
  <Override PartName="/ppt/theme/themeOverride11.xml" ContentType="application/vnd.openxmlformats-officedocument.themeOverride+xml"/>
  <Override PartName="/ppt/theme/themeOverride40.xml" ContentType="application/vnd.openxmlformats-officedocument.themeOverr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Default Extension="jpeg" ContentType="image/jpeg"/>
  <Override PartName="/ppt/theme/themeOverride4.xml" ContentType="application/vnd.openxmlformats-officedocument.themeOverr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Override38.xml" ContentType="application/vnd.openxmlformats-officedocument.themeOverride+xml"/>
  <Override PartName="/ppt/theme/themeOverride49.xml" ContentType="application/vnd.openxmlformats-officedocument.themeOverride+xml"/>
  <Override PartName="/ppt/theme/themeOverride27.xml" ContentType="application/vnd.openxmlformats-officedocument.themeOverride+xml"/>
  <Override PartName="/ppt/theme/themeOverride45.xml" ContentType="application/vnd.openxmlformats-officedocument.themeOverride+xml"/>
  <Override PartName="/ppt/theme/themeOverride16.xml" ContentType="application/vnd.openxmlformats-officedocument.themeOverride+xml"/>
  <Override PartName="/ppt/theme/themeOverride34.xml" ContentType="application/vnd.openxmlformats-officedocument.themeOverr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theme/themeOverride9.xml" ContentType="application/vnd.openxmlformats-officedocument.themeOverride+xml"/>
  <Override PartName="/ppt/theme/themeOverride23.xml" ContentType="application/vnd.openxmlformats-officedocument.themeOverride+xml"/>
  <Override PartName="/ppt/theme/themeOverride41.xml" ContentType="application/vnd.openxmlformats-officedocument.themeOverride+xml"/>
  <Override PartName="/ppt/theme/themeOverride52.xml" ContentType="application/vnd.openxmlformats-officedocument.themeOverride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Override30.xml" ContentType="application/vnd.openxmlformats-officedocument.themeOverr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Override5.xml" ContentType="application/vnd.openxmlformats-officedocument.themeOverr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4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99" r:id="rId2"/>
    <p:sldMasterId id="2147483811" r:id="rId3"/>
    <p:sldMasterId id="2147483847" r:id="rId4"/>
    <p:sldMasterId id="2147483859" r:id="rId5"/>
    <p:sldMasterId id="2147483871" r:id="rId6"/>
  </p:sldMasterIdLst>
  <p:notesMasterIdLst>
    <p:notesMasterId r:id="rId78"/>
  </p:notesMasterIdLst>
  <p:handoutMasterIdLst>
    <p:handoutMasterId r:id="rId79"/>
  </p:handoutMasterIdLst>
  <p:sldIdLst>
    <p:sldId id="614" r:id="rId7"/>
    <p:sldId id="405" r:id="rId8"/>
    <p:sldId id="680" r:id="rId9"/>
    <p:sldId id="591" r:id="rId10"/>
    <p:sldId id="592" r:id="rId11"/>
    <p:sldId id="465" r:id="rId12"/>
    <p:sldId id="500" r:id="rId13"/>
    <p:sldId id="501" r:id="rId14"/>
    <p:sldId id="502" r:id="rId15"/>
    <p:sldId id="503" r:id="rId16"/>
    <p:sldId id="504" r:id="rId17"/>
    <p:sldId id="615" r:id="rId18"/>
    <p:sldId id="616" r:id="rId19"/>
    <p:sldId id="617" r:id="rId20"/>
    <p:sldId id="618" r:id="rId21"/>
    <p:sldId id="619" r:id="rId22"/>
    <p:sldId id="620" r:id="rId23"/>
    <p:sldId id="622" r:id="rId24"/>
    <p:sldId id="623" r:id="rId25"/>
    <p:sldId id="625" r:id="rId26"/>
    <p:sldId id="626" r:id="rId27"/>
    <p:sldId id="627" r:id="rId28"/>
    <p:sldId id="628" r:id="rId29"/>
    <p:sldId id="643" r:id="rId30"/>
    <p:sldId id="644" r:id="rId31"/>
    <p:sldId id="679" r:id="rId32"/>
    <p:sldId id="631" r:id="rId33"/>
    <p:sldId id="633" r:id="rId34"/>
    <p:sldId id="632" r:id="rId35"/>
    <p:sldId id="637" r:id="rId36"/>
    <p:sldId id="645" r:id="rId37"/>
    <p:sldId id="646" r:id="rId38"/>
    <p:sldId id="634" r:id="rId39"/>
    <p:sldId id="635" r:id="rId40"/>
    <p:sldId id="638" r:id="rId41"/>
    <p:sldId id="639" r:id="rId42"/>
    <p:sldId id="640" r:id="rId43"/>
    <p:sldId id="641" r:id="rId44"/>
    <p:sldId id="642" r:id="rId45"/>
    <p:sldId id="647" r:id="rId46"/>
    <p:sldId id="649" r:id="rId47"/>
    <p:sldId id="650" r:id="rId48"/>
    <p:sldId id="651" r:id="rId49"/>
    <p:sldId id="652" r:id="rId50"/>
    <p:sldId id="653" r:id="rId51"/>
    <p:sldId id="654" r:id="rId52"/>
    <p:sldId id="655" r:id="rId53"/>
    <p:sldId id="648" r:id="rId54"/>
    <p:sldId id="678" r:id="rId55"/>
    <p:sldId id="656" r:id="rId56"/>
    <p:sldId id="657" r:id="rId57"/>
    <p:sldId id="658" r:id="rId58"/>
    <p:sldId id="659" r:id="rId59"/>
    <p:sldId id="660" r:id="rId60"/>
    <p:sldId id="662" r:id="rId61"/>
    <p:sldId id="661" r:id="rId62"/>
    <p:sldId id="663" r:id="rId63"/>
    <p:sldId id="664" r:id="rId64"/>
    <p:sldId id="665" r:id="rId65"/>
    <p:sldId id="666" r:id="rId66"/>
    <p:sldId id="667" r:id="rId67"/>
    <p:sldId id="669" r:id="rId68"/>
    <p:sldId id="670" r:id="rId69"/>
    <p:sldId id="671" r:id="rId70"/>
    <p:sldId id="672" r:id="rId71"/>
    <p:sldId id="673" r:id="rId72"/>
    <p:sldId id="674" r:id="rId73"/>
    <p:sldId id="675" r:id="rId74"/>
    <p:sldId id="676" r:id="rId75"/>
    <p:sldId id="677" r:id="rId76"/>
    <p:sldId id="668" r:id="rId77"/>
  </p:sldIdLst>
  <p:sldSz cx="9144000" cy="6858000" type="screen4x3"/>
  <p:notesSz cx="6815138" cy="994251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C0066"/>
    <a:srgbClr val="800080"/>
    <a:srgbClr val="008000"/>
    <a:srgbClr val="CCFFFF"/>
    <a:srgbClr val="5626A4"/>
    <a:srgbClr val="003300"/>
    <a:srgbClr val="666633"/>
    <a:srgbClr val="0033CC"/>
    <a:srgbClr val="CC33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Светлый стиль 3 -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Средний стиль 1 -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7292A2E-F333-43FB-9621-5CBBE7FDCDCB}" styleName="Светлый стиль 2 -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61" autoAdjust="0"/>
    <p:restoredTop sz="94621" autoAdjust="0"/>
  </p:normalViewPr>
  <p:slideViewPr>
    <p:cSldViewPr snapToObjects="1">
      <p:cViewPr varScale="1">
        <p:scale>
          <a:sx n="82" d="100"/>
          <a:sy n="82" d="100"/>
        </p:scale>
        <p:origin x="-123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7656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4038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4038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3D9F1B88-9ED4-45F9-8A2D-377C8F28D0F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431645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3925" y="746125"/>
            <a:ext cx="4970463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2813"/>
            <a:ext cx="5453062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4038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4038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60598E3B-9A9D-4C60-BD2E-F9A041E28CA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613566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F607A-F581-4B15-BE10-7F92A6CF5D0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29ACD-61B0-4129-9B74-D11C5435C8C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9D9D2-C0F6-4620-A9CC-CD46F34B4A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9E080-34AE-4F86-9558-B238501D18F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18F4D-F102-41BA-AEC4-7415F61832F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A2490-F09E-4354-ACAD-800A6134A78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2334B-FD9D-42E4-98B4-C18AF6104F0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FF870-78DC-4528-B548-C4542E1F970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DC641-2DE2-440F-ABFA-4D4B5FDAA4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D3B33E-513D-4676-9D10-32B22272F3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7135F-B6B1-4F66-802E-F86D6DA5631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 dirty="0">
              <a:solidFill>
                <a:prstClr val="white"/>
              </a:solidFill>
            </a:endParaRPr>
          </a:p>
        </p:txBody>
      </p:sp>
      <p:sp>
        <p:nvSpPr>
          <p:cNvPr id="6" name="Rectangle 12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7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948C2760-98A4-4CA5-9972-ED5C17142EE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10025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B6DE1CAC-2FCB-493E-8EAA-E619E320372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36268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 dirty="0">
              <a:solidFill>
                <a:prstClr val="white"/>
              </a:solidFill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7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ED5DE2CF-6C4B-4334-95F1-60DDE2FCB04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40792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D219B42E-4F7D-441F-9E58-EE85C2D8025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66479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88EA634C-441C-4069-B807-13D12C245D0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64946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320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593FAA06-B425-44EC-81BC-8754DF470EE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37769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B7133F47-06F7-4B5B-B128-631FC964065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3669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 dirty="0">
              <a:solidFill>
                <a:prstClr val="white"/>
              </a:solidFill>
            </a:endParaRPr>
          </a:p>
        </p:txBody>
      </p:sp>
      <p:sp>
        <p:nvSpPr>
          <p:cNvPr id="7" name="Rectangle 9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8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EEE8F3AB-D1CD-4B13-A3C4-2CE28E94E50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277843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5DF7375B-950B-4925-8E56-ACB8BDC7DC5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824279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7BF6F652-7FFB-42AF-AD82-45927E7564F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24459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F607A-F581-4B15-BE10-7F92A6CF5D0B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85576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29ACD-61B0-4129-9B74-D11C5435C8C8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34725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9D9D2-C0F6-4620-A9CC-CD46F34B4AC1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9213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9E080-34AE-4F86-9558-B238501D18F4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24703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18F4D-F102-41BA-AEC4-7415F61832FA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6553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A2490-F09E-4354-ACAD-800A6134A787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218248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2334B-FD9D-42E4-98B4-C18AF6104F0E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123330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FF870-78DC-4528-B548-C4542E1F970F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734450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DC641-2DE2-440F-ABFA-4D4B5FDAA45E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61526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D3B33E-513D-4676-9D10-32B22272F303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19209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7135F-B6B1-4F66-802E-F86D6DA56315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69161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DED9556C-9CC3-41C1-BD49-82F21DA1048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708156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F2FB7913-DA2B-47DB-BFC6-C8B95FD993B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618584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F1BDB9A0-9405-44AE-88E1-5BD772E3FA6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313714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3329C95A-7783-40CF-BAC6-CF0E9595C4D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028084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D93A2F03-D39E-4615-8FF4-868584F9FF0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009240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A610BEEE-6FA2-4065-9487-FBEC227DD68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670974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4369E6E0-4B5B-46B4-A5DF-B894BCEE2CF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125475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42D37168-4583-4886-B9C7-33CAC52958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648402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479A84EA-8955-4657-A6E0-A18FC430C6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466425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9D09C395-5A8A-4F0B-ADD0-9090CD8B3D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215926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B6A06EC0-BBE2-45E1-BFA3-4AB1B7C0663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698859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18C10D-BF6C-4875-9D40-A99558FF3386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34132426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252112-8720-4D78-A32C-0813FAA22A81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30603562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05E23-AF67-4688-A32B-C132EB04DA51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6839202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891AAB-5D7C-4A91-828A-49B074EFED9A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8124814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5C1173-2404-489A-96D6-8A97416E18C9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298289871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296868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42691F-449B-4926-8EDA-3D10CE23B335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20220856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2881C-57CB-44F7-A18A-579260376FF6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103089208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0257D0-7A83-4C40-AFF4-94A6ACF890FC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228721474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420141-E1F8-4D7A-9A8B-58688D8980D1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1263481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667B1F-3480-4183-B4CC-03686CF450F5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25240767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E52C4-9804-4607-A2F3-80A23F7A4EEB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397580399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F7C740-6C9A-45BF-AEDC-17CD989D16E0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20931434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D24770-576B-46A4-8A08-A0114F47EB6F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34616445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31B92D-C51C-4453-90CF-19063E8C6A2F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2396808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1A14E-81FA-47B3-945D-EDB070A9DE88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13462326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58468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DC7168-364E-4576-B658-EB59706C6FBC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34377301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76CB78-5D5F-4986-A6BC-91DD47412E1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309943989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F1B6D8-222A-4253-948D-8260F45F0583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33345805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047954-8047-4D54-B3FF-D6259C348F9F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49500121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689CAB-5C2A-4B37-AD6E-F2860BE186DD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xmlns="" val="173759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25534C14-376B-4BF0-9720-80EADC15DE1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7" r:id="rId2"/>
    <p:sldLayoutId id="2147483796" r:id="rId3"/>
    <p:sldLayoutId id="2147483795" r:id="rId4"/>
    <p:sldLayoutId id="2147483794" r:id="rId5"/>
    <p:sldLayoutId id="2147483793" r:id="rId6"/>
    <p:sldLayoutId id="2147483792" r:id="rId7"/>
    <p:sldLayoutId id="2147483791" r:id="rId8"/>
    <p:sldLayoutId id="2147483790" r:id="rId9"/>
    <p:sldLayoutId id="2147483789" r:id="rId10"/>
    <p:sldLayoutId id="21474837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2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  <a:endParaRPr lang="en-US" alt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kumimoji="1" sz="1100" b="1">
                <a:solidFill>
                  <a:prstClr val="black">
                    <a:lumMod val="50000"/>
                    <a:lumOff val="50000"/>
                  </a:prst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kumimoji="1" sz="1100" b="1">
                <a:solidFill>
                  <a:prstClr val="black">
                    <a:lumMod val="50000"/>
                    <a:lumOff val="50000"/>
                  </a:prst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kumimoji="1" sz="1200" b="1">
                <a:solidFill>
                  <a:prstClr val="black">
                    <a:lumMod val="50000"/>
                    <a:lumOff val="50000"/>
                  </a:prst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3C45AFDF-30B8-4661-B25F-DA17ED0529D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93887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25534C14-376B-4BF0-9720-80EADC15DE15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25815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28398CD-2DFA-461B-A1DB-5D86CB72E2F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1104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5534C14-376B-4BF0-9720-80EADC15DE1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9681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5534C14-376B-4BF0-9720-80EADC15DE1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8596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5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5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126" y="-137592"/>
            <a:ext cx="9144000" cy="723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920911" y="2189498"/>
            <a:ext cx="820896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600" dirty="0" smtClean="0">
                <a:solidFill>
                  <a:srgbClr val="99000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Arial" charset="0"/>
              </a:rPr>
              <a:t>Проектирование информационных систем </a:t>
            </a:r>
            <a:endParaRPr lang="ru-RU" sz="3600" dirty="0">
              <a:solidFill>
                <a:srgbClr val="99000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Arial" charset="0"/>
            </a:endParaRPr>
          </a:p>
        </p:txBody>
      </p:sp>
      <p:sp>
        <p:nvSpPr>
          <p:cNvPr id="64517" name="Rectangle 6"/>
          <p:cNvSpPr>
            <a:spLocks noChangeArrowheads="1"/>
          </p:cNvSpPr>
          <p:nvPr/>
        </p:nvSpPr>
        <p:spPr bwMode="auto">
          <a:xfrm>
            <a:off x="0" y="-171450"/>
            <a:ext cx="1414463" cy="72723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CC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kumimoji="1" lang="ru-RU" b="0" dirty="0"/>
          </a:p>
        </p:txBody>
      </p:sp>
    </p:spTree>
    <p:extLst>
      <p:ext uri="{BB962C8B-B14F-4D97-AF65-F5344CB8AC3E}">
        <p14:creationId xmlns:p14="http://schemas.microsoft.com/office/powerpoint/2010/main" xmlns="" val="34446250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126" y="-190500"/>
            <a:ext cx="9144000" cy="723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1150572" y="2112675"/>
            <a:ext cx="820896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charset="0"/>
              </a:rPr>
              <a:t>Цель и задачи изучения дисциплины. </a:t>
            </a:r>
          </a:p>
          <a:p>
            <a:pPr algn="ctr">
              <a:defRPr/>
            </a:pPr>
            <a:r>
              <a:rPr lang="ru-RU" sz="3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charset="0"/>
              </a:rPr>
              <a:t>Основные понятия курса </a:t>
            </a:r>
          </a:p>
        </p:txBody>
      </p:sp>
      <p:sp>
        <p:nvSpPr>
          <p:cNvPr id="64517" name="Rectangle 6"/>
          <p:cNvSpPr>
            <a:spLocks noChangeArrowheads="1"/>
          </p:cNvSpPr>
          <p:nvPr/>
        </p:nvSpPr>
        <p:spPr bwMode="auto">
          <a:xfrm>
            <a:off x="0" y="-171450"/>
            <a:ext cx="1414463" cy="72723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CC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kumimoji="1" lang="ru-RU" b="0" dirty="0"/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3027467" y="3056118"/>
            <a:ext cx="4149725" cy="171739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buClr>
                <a:srgbClr val="CC0000"/>
              </a:buClr>
            </a:pPr>
            <a:endParaRPr lang="ru-RU" i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ct val="110000"/>
              </a:lnSpc>
              <a:buClr>
                <a:srgbClr val="CC0000"/>
              </a:buClr>
            </a:pPr>
            <a:endParaRPr lang="ru-RU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ct val="110000"/>
              </a:lnSpc>
              <a:buClr>
                <a:srgbClr val="CC0000"/>
              </a:buClr>
            </a:pPr>
            <a:endParaRPr lang="ru-RU" i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ct val="110000"/>
              </a:lnSpc>
              <a:buClr>
                <a:srgbClr val="CC0000"/>
              </a:buClr>
            </a:pPr>
            <a:r>
              <a:rPr lang="ru-RU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Лекция  1</a:t>
            </a:r>
            <a:endParaRPr lang="ru-RU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pic>
        <p:nvPicPr>
          <p:cNvPr id="9" name="Picture 22" descr="https://encrypted-tbn3.gstatic.com/images?q=tbn:ANd9GcR9i45ysK8L_fsNZWpXljHThqdNl_6L1eaud5q7uUyfFKbK3A_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5725" y="29369"/>
            <a:ext cx="1343025" cy="89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126" y="-190500"/>
            <a:ext cx="9144000" cy="723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3237" y="1982450"/>
            <a:ext cx="820896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400" dirty="0" smtClean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C00000"/>
                </a:solidFill>
                <a:latin typeface="Arial" charset="0"/>
              </a:rPr>
              <a:t>Введение</a:t>
            </a:r>
            <a:endParaRPr lang="ru-RU" sz="4400" dirty="0">
              <a:ln w="22225">
                <a:solidFill>
                  <a:srgbClr val="3333CC"/>
                </a:solidFill>
                <a:prstDash val="solid"/>
              </a:ln>
              <a:solidFill>
                <a:srgbClr val="C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798769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73621" y="224644"/>
            <a:ext cx="7772400" cy="620713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4000" dirty="0" smtClean="0"/>
              <a:t>Литература</a:t>
            </a:r>
            <a:br>
              <a:rPr lang="ru-RU" sz="4000" dirty="0" smtClean="0"/>
            </a:br>
            <a:endParaRPr lang="ru-RU" sz="3200" dirty="0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250825" y="1125538"/>
            <a:ext cx="8640763" cy="41036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ru-RU" sz="2000" dirty="0" err="1" smtClean="0"/>
              <a:t>Автоматизированные</a:t>
            </a:r>
            <a:r>
              <a:rPr lang="en-US" altLang="ru-RU" sz="2000" dirty="0" smtClean="0"/>
              <a:t> </a:t>
            </a:r>
            <a:r>
              <a:rPr lang="ru-RU" altLang="ru-RU" sz="2000" dirty="0" smtClean="0"/>
              <a:t>с</a:t>
            </a:r>
            <a:r>
              <a:rPr lang="en-US" altLang="ru-RU" sz="2000" dirty="0" err="1" smtClean="0"/>
              <a:t>истемы</a:t>
            </a:r>
            <a:r>
              <a:rPr lang="ru-RU" altLang="ru-RU" sz="2000" dirty="0" smtClean="0"/>
              <a:t>.</a:t>
            </a:r>
            <a:r>
              <a:rPr lang="en-US" altLang="ru-RU" sz="2000" dirty="0" smtClean="0"/>
              <a:t> </a:t>
            </a:r>
            <a:r>
              <a:rPr lang="en-US" altLang="ru-RU" sz="2000" dirty="0" err="1" smtClean="0"/>
              <a:t>Стадии</a:t>
            </a:r>
            <a:r>
              <a:rPr lang="en-US" altLang="ru-RU" sz="2000" dirty="0" smtClean="0"/>
              <a:t> </a:t>
            </a:r>
            <a:r>
              <a:rPr lang="en-US" altLang="ru-RU" sz="2000" dirty="0" err="1" smtClean="0"/>
              <a:t>создания</a:t>
            </a:r>
            <a:r>
              <a:rPr lang="en-US" altLang="ru-RU" sz="2000" dirty="0" smtClean="0"/>
              <a:t>. ГОСТ 34.601-90 </a:t>
            </a:r>
            <a:r>
              <a:rPr lang="en-US" altLang="ru-RU" sz="2000" dirty="0" err="1" smtClean="0"/>
              <a:t>Комплекс</a:t>
            </a:r>
            <a:r>
              <a:rPr lang="en-US" altLang="ru-RU" sz="2000" dirty="0" smtClean="0"/>
              <a:t> </a:t>
            </a:r>
            <a:r>
              <a:rPr lang="en-US" altLang="ru-RU" sz="2000" dirty="0" err="1" smtClean="0"/>
              <a:t>стандартов</a:t>
            </a:r>
            <a:r>
              <a:rPr lang="en-US" altLang="ru-RU" sz="2000" dirty="0" smtClean="0"/>
              <a:t> </a:t>
            </a:r>
            <a:r>
              <a:rPr lang="en-US" altLang="ru-RU" sz="2000" dirty="0" err="1" smtClean="0"/>
              <a:t>на</a:t>
            </a:r>
            <a:r>
              <a:rPr lang="en-US" altLang="ru-RU" sz="2000" dirty="0" smtClean="0"/>
              <a:t> </a:t>
            </a:r>
            <a:r>
              <a:rPr lang="en-US" altLang="ru-RU" sz="2000" dirty="0" err="1" smtClean="0"/>
              <a:t>автоматизированные</a:t>
            </a:r>
            <a:r>
              <a:rPr lang="en-US" altLang="ru-RU" sz="2000" dirty="0" smtClean="0"/>
              <a:t> </a:t>
            </a:r>
            <a:r>
              <a:rPr lang="en-US" altLang="ru-RU" sz="2000" dirty="0" err="1" smtClean="0"/>
              <a:t>системы</a:t>
            </a:r>
            <a:r>
              <a:rPr lang="en-US" altLang="ru-RU" sz="2000" dirty="0" smtClean="0"/>
              <a:t>. ИПК </a:t>
            </a:r>
            <a:r>
              <a:rPr lang="en-US" altLang="ru-RU" sz="2000" dirty="0" err="1" smtClean="0"/>
              <a:t>издательство</a:t>
            </a:r>
            <a:r>
              <a:rPr lang="en-US" altLang="ru-RU" sz="2000" dirty="0" smtClean="0"/>
              <a:t> </a:t>
            </a:r>
            <a:r>
              <a:rPr lang="en-US" altLang="ru-RU" sz="2000" dirty="0" err="1" smtClean="0"/>
              <a:t>стандартов</a:t>
            </a:r>
            <a:r>
              <a:rPr lang="en-US" altLang="ru-RU" sz="2000" dirty="0" smtClean="0"/>
              <a:t>, М., 1997</a:t>
            </a:r>
            <a:r>
              <a:rPr lang="ru-RU" altLang="ru-RU" sz="2000" dirty="0" smtClean="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kumimoji="1" lang="ru-RU" altLang="ru-RU" sz="2000" dirty="0" smtClean="0"/>
              <a:t>Грекул В.И., </a:t>
            </a:r>
            <a:r>
              <a:rPr kumimoji="1" lang="ru-RU" altLang="ru-RU" sz="2000" dirty="0" err="1" smtClean="0"/>
              <a:t>Денищенко</a:t>
            </a:r>
            <a:r>
              <a:rPr kumimoji="1" lang="ru-RU" altLang="ru-RU" sz="2000" dirty="0" smtClean="0"/>
              <a:t> Г.Н., </a:t>
            </a:r>
            <a:r>
              <a:rPr kumimoji="1" lang="ru-RU" altLang="ru-RU" sz="2000" dirty="0" err="1" smtClean="0"/>
              <a:t>Коровкина</a:t>
            </a:r>
            <a:r>
              <a:rPr kumimoji="1" lang="ru-RU" altLang="ru-RU" sz="2000" dirty="0" smtClean="0"/>
              <a:t> Н.Л. Проектирование ИС. Учебное пособие. Интернет-университет, М., 2005.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000" dirty="0" err="1" smtClean="0"/>
              <a:t>Вендров</a:t>
            </a:r>
            <a:r>
              <a:rPr lang="ru-RU" altLang="ru-RU" sz="2000" dirty="0" smtClean="0"/>
              <a:t> А.М. Проектирование программного обеспечения экономических информационных систем. Учебник. – М.: Финансы и статистика. 2006. – 543 с.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000" dirty="0" err="1" smtClean="0"/>
              <a:t>Вендров</a:t>
            </a:r>
            <a:r>
              <a:rPr lang="ru-RU" altLang="ru-RU" sz="2000" dirty="0" smtClean="0"/>
              <a:t> А.М. Практикум по проектированию программного обеспечения экономических информационных систем: Учеб. пособие. – М.: Финансы и статистика, 2006. – 192 с.</a:t>
            </a:r>
            <a:endParaRPr lang="en-US" altLang="ru-RU" sz="2000" dirty="0" smtClean="0"/>
          </a:p>
          <a:p>
            <a:pPr eaLnBrk="1" hangingPunct="1">
              <a:lnSpc>
                <a:spcPct val="120000"/>
              </a:lnSpc>
            </a:pPr>
            <a:r>
              <a:rPr lang="ru-RU" altLang="ru-RU" sz="2000" dirty="0" smtClean="0"/>
              <a:t>Тельнов Ю.Ф., Смирнова Г.Н., </a:t>
            </a:r>
            <a:r>
              <a:rPr lang="ru-RU" altLang="ru-RU" sz="2000" dirty="0" err="1" smtClean="0"/>
              <a:t>Позин</a:t>
            </a:r>
            <a:r>
              <a:rPr lang="ru-RU" altLang="ru-RU" sz="2000" dirty="0" smtClean="0"/>
              <a:t> Б.А., </a:t>
            </a:r>
            <a:r>
              <a:rPr lang="ru-RU" altLang="ru-RU" sz="2000" dirty="0" err="1" smtClean="0"/>
              <a:t>Калянов</a:t>
            </a:r>
            <a:r>
              <a:rPr lang="ru-RU" altLang="ru-RU" sz="2000" dirty="0" smtClean="0"/>
              <a:t> Г.Н. Проектирование информационных систем.</a:t>
            </a:r>
            <a:r>
              <a:rPr kumimoji="1" lang="ru-RU" altLang="ru-RU" sz="2000" dirty="0" smtClean="0"/>
              <a:t> Учебное пособие. </a:t>
            </a:r>
            <a:r>
              <a:rPr lang="ru-RU" altLang="ru-RU" sz="2000" dirty="0" smtClean="0"/>
              <a:t>  МЭСИ, М., 2013.</a:t>
            </a:r>
            <a:endParaRPr kumimoji="1" lang="ru-RU" alt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xmlns="" val="31117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7772400" cy="620713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4000" dirty="0" smtClean="0"/>
              <a:t>Литература</a:t>
            </a:r>
            <a:br>
              <a:rPr lang="ru-RU" sz="4000" dirty="0" smtClean="0"/>
            </a:br>
            <a:endParaRPr lang="ru-RU" sz="3200" dirty="0" smtClean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0" y="1160463"/>
            <a:ext cx="8964613" cy="26638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sz="2000" dirty="0" smtClean="0"/>
              <a:t>ГОСТ Р ИСО/МЭК 15288—2005</a:t>
            </a:r>
            <a:r>
              <a:rPr lang="ru-RU" sz="2000" dirty="0" smtClean="0"/>
              <a:t>.</a:t>
            </a:r>
            <a:endParaRPr lang="ru-RU" sz="20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kumimoji="1" lang="ru-RU" sz="2000" dirty="0" smtClean="0"/>
              <a:t>ГОСТ 34.601-­90. Автоматизированные системы. Стадии создания. </a:t>
            </a:r>
            <a:endParaRPr lang="ru-RU" sz="20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ru-RU" sz="2000" dirty="0" smtClean="0"/>
              <a:t>ГОСТ Р ИСО/МЭК 12207-2010 Информационная технология. Процессы жизненного цикла программных средств.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sz="2000" dirty="0" smtClean="0"/>
              <a:t>РД 50-34.698-90. Автоматизированные системы. Требования к содержанию документов</a:t>
            </a:r>
            <a:r>
              <a:rPr lang="ru-RU" sz="2000" smtClean="0"/>
              <a:t>. </a:t>
            </a:r>
            <a:endParaRPr lang="ru-RU" sz="2000" dirty="0" smtClean="0"/>
          </a:p>
          <a:p>
            <a:pPr marL="46037" indent="0" eaLnBrk="1" hangingPunct="1">
              <a:lnSpc>
                <a:spcPct val="120000"/>
              </a:lnSpc>
              <a:buFont typeface="Georgia" pitchFamily="18" charset="0"/>
              <a:buNone/>
              <a:defRPr/>
            </a:pP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xmlns="" val="249229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599652" y="753228"/>
            <a:ext cx="8299450" cy="429040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Целью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 </a:t>
            </a:r>
            <a:endParaRPr lang="ru-RU" dirty="0" smtClean="0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изучения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дисциплины </a:t>
            </a:r>
            <a:r>
              <a:rPr lang="ru-RU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«Проектирование </a:t>
            </a:r>
            <a:r>
              <a:rPr lang="ru-RU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информационных </a:t>
            </a:r>
            <a:r>
              <a:rPr lang="ru-RU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систем»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 является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получение знаний о методологиях и перспективных информационных технологиях проектирования, профессионально-ориентированных информационных 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систем,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о методах моделирования бизнес 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и информационных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процессов в области экономики, выработки умений по созданию 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проектов ИС. </a:t>
            </a:r>
            <a:endParaRPr lang="ru-RU" dirty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244114" y="692696"/>
            <a:ext cx="8917453" cy="544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Задачи изучения дисциплины: </a:t>
            </a:r>
            <a:endParaRPr lang="ru-RU" sz="2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>
              <a:lnSpc>
                <a:spcPct val="110000"/>
              </a:lnSpc>
              <a:buClr>
                <a:srgbClr val="CC0000"/>
              </a:buClr>
            </a:pPr>
            <a:endParaRPr lang="ru-RU" sz="2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Ознакомиться </a:t>
            </a: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со стандартами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проектирования информационных систем на примере ГОСТ 34 и ИСО МЭК 12207. </a:t>
            </a:r>
            <a:endParaRPr lang="ru-RU" sz="2000" dirty="0" smtClean="0">
              <a:solidFill>
                <a:srgbClr val="000000"/>
              </a:solidFill>
              <a:latin typeface="Arial" charset="0"/>
            </a:endParaRP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Изучить методологические основы проектирования ИС с соответствующим инструментарием. 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Ознакомиться с понятием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профиля информационной системы. </a:t>
            </a:r>
            <a:endParaRPr lang="ru-RU" sz="2000" dirty="0" smtClean="0">
              <a:solidFill>
                <a:srgbClr val="000000"/>
              </a:solidFill>
              <a:latin typeface="Arial" charset="0"/>
            </a:endParaRP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Овладеть методикой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системного проектирования ИС: </a:t>
            </a:r>
            <a:r>
              <a:rPr lang="ru-RU" sz="2000" dirty="0" err="1">
                <a:solidFill>
                  <a:srgbClr val="000000"/>
                </a:solidFill>
                <a:latin typeface="Arial" charset="0"/>
              </a:rPr>
              <a:t>предпроектное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 обследование, формирование требований к системе, создание прототипа ИС, создание системного проекта ИС. </a:t>
            </a:r>
            <a:endParaRPr lang="ru-RU" sz="2000" dirty="0" smtClean="0">
              <a:solidFill>
                <a:srgbClr val="000000"/>
              </a:solidFill>
              <a:latin typeface="Arial" charset="0"/>
            </a:endParaRP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Изучить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основные процедуры </a:t>
            </a: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проектирования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. </a:t>
            </a:r>
            <a:endParaRPr lang="ru-RU" sz="2000" dirty="0" smtClean="0">
              <a:solidFill>
                <a:srgbClr val="000000"/>
              </a:solidFill>
              <a:latin typeface="Arial" charset="0"/>
            </a:endParaRP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Овладеть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инструментальными средствами проектирования информационных систем и методикой системного и детального </a:t>
            </a: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проектирования.</a:t>
            </a:r>
          </a:p>
        </p:txBody>
      </p:sp>
    </p:spTree>
    <p:extLst>
      <p:ext uri="{BB962C8B-B14F-4D97-AF65-F5344CB8AC3E}">
        <p14:creationId xmlns:p14="http://schemas.microsoft.com/office/powerpoint/2010/main" xmlns="" val="189572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0" y="80628"/>
            <a:ext cx="9161567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Содержание 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учебной </a:t>
            </a: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дисциплины</a:t>
            </a:r>
            <a:endParaRPr lang="ru-RU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09593972"/>
              </p:ext>
            </p:extLst>
          </p:nvPr>
        </p:nvGraphicFramePr>
        <p:xfrm>
          <a:off x="431540" y="629307"/>
          <a:ext cx="8208912" cy="60960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{08FB837D-C827-4EFA-A057-4D05807E0F7C}</a:tableStyleId>
              </a:tblPr>
              <a:tblGrid>
                <a:gridCol w="537908"/>
                <a:gridCol w="2390704"/>
                <a:gridCol w="5280300"/>
              </a:tblGrid>
              <a:tr h="382119"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№</a:t>
                      </a:r>
                    </a:p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п/п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Наименование раздела/темы дисциплины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Содержание раздела/темы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4505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Тема 1. Стандарты и профили в области </a:t>
                      </a:r>
                      <a:r>
                        <a:rPr lang="ru-RU" sz="1600" dirty="0" smtClean="0">
                          <a:effectLst/>
                        </a:rPr>
                        <a:t>ИС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tabLst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Роль и место стандартизации в проектировании ИС.</a:t>
                      </a:r>
                    </a:p>
                    <a:p>
                      <a:pPr marL="0" indent="0" algn="l">
                        <a:spcAft>
                          <a:spcPts val="0"/>
                        </a:spcAft>
                        <a:tabLst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ГОСТ 34. 601-90. Автоматизированные системы. Стадии создания.</a:t>
                      </a:r>
                    </a:p>
                    <a:p>
                      <a:pPr marL="0" indent="0" algn="l">
                        <a:spcAft>
                          <a:spcPts val="0"/>
                        </a:spcAft>
                        <a:tabLst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ГОСТ Р ИСО/МЭК 12207 – 99. Информационная технология. Процессы жизненного цикла программных средств и связанные с ним документы: ГОСТ Р ИСО/МЭК ТО 15271 – 2002. Информационная технология. Руководство по применению ГОСТ Р ИСО/МЭК 12207 (Процессы жизненного цикла программных средств). ГОСТ Р ИСО/МЭК ТО 16326 – 2002. Программная инженерия. Руководство по применению ГОСТ Р ИСО/МЭК 12207 при управлении проектами.</a:t>
                      </a:r>
                    </a:p>
                    <a:p>
                      <a:pPr marL="0" indent="0" algn="l">
                        <a:spcAft>
                          <a:spcPts val="0"/>
                        </a:spcAft>
                        <a:tabLst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Цели и принципы формирования профилей информационных систем.</a:t>
                      </a:r>
                    </a:p>
                    <a:p>
                      <a:pPr marL="0" indent="0" algn="l">
                        <a:spcAft>
                          <a:spcPts val="0"/>
                        </a:spcAft>
                        <a:tabLst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Структура и содержание профилей информационных систем</a:t>
                      </a:r>
                    </a:p>
                    <a:p>
                      <a:pPr marL="0" lvl="0" indent="0" algn="l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457200" algn="l"/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Функциональные профили.</a:t>
                      </a:r>
                    </a:p>
                    <a:p>
                      <a:pPr marL="0" lvl="0" indent="0" algn="l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457200" algn="l"/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Профили жизненного цикла (технологические профили).</a:t>
                      </a:r>
                    </a:p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Процессы формирования, развития и применения профилей информационных систем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02037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4667608"/>
              </p:ext>
            </p:extLst>
          </p:nvPr>
        </p:nvGraphicFramePr>
        <p:xfrm>
          <a:off x="431540" y="944724"/>
          <a:ext cx="8208912" cy="459989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{08FB837D-C827-4EFA-A057-4D05807E0F7C}</a:tableStyleId>
              </a:tblPr>
              <a:tblGrid>
                <a:gridCol w="537908"/>
                <a:gridCol w="2390704"/>
                <a:gridCol w="5280300"/>
              </a:tblGrid>
              <a:tr h="382119"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№</a:t>
                      </a:r>
                    </a:p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п/п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Наименование раздела/темы дисциплины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Содержание раздела/темы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8373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2.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Тема 2. Методологии и технологии проектирования ИС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Структурный подход к проектированию ИС. Методология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SADT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Технологии и инструменты моделирования бизнес процессов и информационных потоков. 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Объектно-ориентированный подход к проектированию ИС. Методология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RUP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Технологии и инструменты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IBM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Rational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Архитектурный подход. Метод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Захмана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другие методики описания архитектур. Технологии и инструменты IBM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Rational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Telelogic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Architect</a:t>
                      </a:r>
                      <a:endParaRPr lang="ru-RU" sz="18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Основные модели бизнеса (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MRPII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ERPII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HRM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CRM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другие).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Основы методологии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ITIL, ITSM.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80628"/>
            <a:ext cx="9161567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Содержание 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учебной </a:t>
            </a: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дисциплины</a:t>
            </a:r>
            <a:endParaRPr lang="ru-RU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822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37655274"/>
              </p:ext>
            </p:extLst>
          </p:nvPr>
        </p:nvGraphicFramePr>
        <p:xfrm>
          <a:off x="160567" y="944724"/>
          <a:ext cx="8731913" cy="51206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{08FB837D-C827-4EFA-A057-4D05807E0F7C}</a:tableStyleId>
              </a:tblPr>
              <a:tblGrid>
                <a:gridCol w="556782"/>
                <a:gridCol w="2270475"/>
                <a:gridCol w="5904656"/>
              </a:tblGrid>
              <a:tr h="382119"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№</a:t>
                      </a:r>
                    </a:p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п/п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Наименование раздела/темы дисциплины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Содержание раздела/темы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8373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3.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Тема 3. Методика системного проектирования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Роль системного проектирования в процессе создания информационных систем.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Цель системного проектирования.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Этапы процесса системного проектирования. 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Результаты системного проектирования.</a:t>
                      </a:r>
                    </a:p>
                    <a:p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Предпроектное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обследование объекта информатизации. Анализ результатов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предпроектного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обследования.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Формирование требований к системе. Функциональные и нефункциональные требования.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Разработка системного проекта. Формирование ТЗ на системный проект.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проектом на этапе создания системного проекта на ИС.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Оценка стоимости проекта. Оценка экономической эффективности проекта.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80628"/>
            <a:ext cx="9161567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Содержание 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учебной </a:t>
            </a: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дисциплины</a:t>
            </a:r>
            <a:endParaRPr lang="ru-RU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1900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49925781"/>
              </p:ext>
            </p:extLst>
          </p:nvPr>
        </p:nvGraphicFramePr>
        <p:xfrm>
          <a:off x="431540" y="944724"/>
          <a:ext cx="8496944" cy="331236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{08FB837D-C827-4EFA-A057-4D05807E0F7C}</a:tableStyleId>
              </a:tblPr>
              <a:tblGrid>
                <a:gridCol w="537908"/>
                <a:gridCol w="2390704"/>
                <a:gridCol w="5568332"/>
              </a:tblGrid>
              <a:tr h="382119"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№</a:t>
                      </a:r>
                    </a:p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п/п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Наименование раздела/темы дисциплины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Содержание раздела/темы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0848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4.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Тема 4. Основы детального проектирования компонентов ИС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Проектирование баз данных как компоненты ИС.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Проектирование обмена данными.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Проектирование приложений как компонента ИС.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Проектирование инфраструктуры ИС.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Проектирование защиты и безопасности ИС как компоненты ИС.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проектом на этапе создания детальных проектов компонентов ИС. Менеджмент качества ИТ – проекта.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-17567" y="152636"/>
            <a:ext cx="9161567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Содержание 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учебной </a:t>
            </a: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дисциплины</a:t>
            </a:r>
            <a:endParaRPr lang="ru-RU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2404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467544" y="2366593"/>
            <a:ext cx="838835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Совокупность документов (расчетов, чертежей) для создания какого 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либо сооружения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или изделия; </a:t>
            </a:r>
          </a:p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b)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Предварительный текст документа; </a:t>
            </a:r>
          </a:p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c)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Замысел, план, прототип, прообраз какого либо 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объекта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511994" y="696985"/>
            <a:ext cx="8299450" cy="89255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(от латинского </a:t>
            </a:r>
            <a:r>
              <a:rPr lang="ru-RU" dirty="0" err="1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projectus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-буквально: брошенный вперед) </a:t>
            </a:r>
          </a:p>
        </p:txBody>
      </p:sp>
    </p:spTree>
    <p:extLst>
      <p:ext uri="{BB962C8B-B14F-4D97-AF65-F5344CB8AC3E}">
        <p14:creationId xmlns:p14="http://schemas.microsoft.com/office/powerpoint/2010/main" xmlns="" val="306607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611560" y="1417421"/>
            <a:ext cx="8299450" cy="236988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 </a:t>
            </a: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проектирования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(определение 1, относится к 70-годам 20 века)</a:t>
            </a:r>
          </a:p>
          <a:p>
            <a:pPr>
              <a:defRPr/>
            </a:pP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Информационно-логический процесс, состоящий из операций принятия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проектных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решений, выполняемых согласно некоторой методологии и приводящих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 преобразованию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цели в результат. </a:t>
            </a:r>
          </a:p>
        </p:txBody>
      </p:sp>
    </p:spTree>
    <p:extLst>
      <p:ext uri="{BB962C8B-B14F-4D97-AF65-F5344CB8AC3E}">
        <p14:creationId xmlns:p14="http://schemas.microsoft.com/office/powerpoint/2010/main" xmlns="" val="173552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611560" y="494092"/>
            <a:ext cx="8299450" cy="421653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(определение 2, относится к 70-годам 20 века) </a:t>
            </a:r>
          </a:p>
          <a:p>
            <a:pPr>
              <a:defRPr/>
            </a:pP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Вид целенаправленной деятельности человека (или коллектива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специалистов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 по решению задач проектирования, направленной на создание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устройств или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систем, соответствующих техническому заданию, оптимально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удовлетворяющих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поставленным требованиям и удовлетворительно функционирующих в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течение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заданного промежутка времени при прогнозируемых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условиях.</a:t>
            </a:r>
            <a:endParaRPr lang="ru-RU" dirty="0">
              <a:solidFill>
                <a:srgbClr val="46341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265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611560" y="124760"/>
            <a:ext cx="8299450" cy="495520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 </a:t>
            </a: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проектирования </a:t>
            </a:r>
          </a:p>
          <a:p>
            <a:pPr>
              <a:defRPr/>
            </a:pP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(определение 3, по глоссарию «Унифицированный процесс разработки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программного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обеспечения» Питер, 2002)</a:t>
            </a:r>
          </a:p>
          <a:p>
            <a:pPr>
              <a:defRPr/>
            </a:pP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Основной рабочий процесс разработки программного обеспечения, целью</a:t>
            </a:r>
          </a:p>
          <a:p>
            <a:pPr>
              <a:defRPr/>
            </a:pP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которого является создание модели, содержащей проектные решения,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удовлетворяющие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функциональным и нефункциональным требованиям, а также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ограничениям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относящимся к среде реализации. Процесс проектирования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предназначен для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подготовки к реализации и тестированию системы. </a:t>
            </a:r>
          </a:p>
        </p:txBody>
      </p:sp>
    </p:spTree>
    <p:extLst>
      <p:ext uri="{BB962C8B-B14F-4D97-AF65-F5344CB8AC3E}">
        <p14:creationId xmlns:p14="http://schemas.microsoft.com/office/powerpoint/2010/main" xmlns="" val="204157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611560" y="617203"/>
            <a:ext cx="8299450" cy="397031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результате </a:t>
            </a: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анализа </a:t>
            </a: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концептуальной модели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предметной области (</a:t>
            </a:r>
            <a:r>
              <a:rPr lang="ru-RU" sz="2800" dirty="0" err="1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 осуществляется поиск </a:t>
            </a: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проблем,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которые в последствие должны быть </a:t>
            </a: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разрешены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 помощью информационной системы (ИС). То есть, должна быть </a:t>
            </a: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разработана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ИС, функциональные возможности которой позволяли бы полностью </a:t>
            </a: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или частично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разрешать проблемы </a:t>
            </a:r>
            <a:r>
              <a:rPr lang="ru-RU" sz="2800" dirty="0" err="1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xmlns="" val="396297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179512" y="580038"/>
            <a:ext cx="8839510" cy="5632311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процессе проектирования проектировщик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выступает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как исследователь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выполняет соответствующие действия: обследование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предметной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области, отражение предметной области в модели (моделирование),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исследование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модели, поиск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проблем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</a:t>
            </a:r>
          </a:p>
          <a:p>
            <a:pPr>
              <a:defRPr/>
            </a:pP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Исследователь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определяет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виде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требований перечень задач ИС (функциональных возможностей ИС),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которые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должны способствовать разрешению проблем </a:t>
            </a:r>
            <a:r>
              <a:rPr lang="ru-RU" dirty="0" err="1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</a:t>
            </a:r>
          </a:p>
          <a:p>
            <a:pPr>
              <a:defRPr/>
            </a:pP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При определении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задач исследователь применяет 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метод замещения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согласно которому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операции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выполняемые в </a:t>
            </a:r>
            <a:r>
              <a:rPr lang="ru-RU" dirty="0" err="1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замещаются операциями, выполняемыми с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помощью (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или полностью) функциональных возможностей ИС.  </a:t>
            </a:r>
          </a:p>
        </p:txBody>
      </p:sp>
    </p:spTree>
    <p:extLst>
      <p:ext uri="{BB962C8B-B14F-4D97-AF65-F5344CB8AC3E}">
        <p14:creationId xmlns:p14="http://schemas.microsoft.com/office/powerpoint/2010/main" xmlns="" val="86531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126" y="-190500"/>
            <a:ext cx="9144000" cy="723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3237" y="1982450"/>
            <a:ext cx="8208963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400" dirty="0" smtClean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C00000"/>
                </a:solidFill>
                <a:latin typeface="Arial" charset="0"/>
              </a:rPr>
              <a:t>Понятие информационной системы, ее структура </a:t>
            </a:r>
            <a:endParaRPr lang="ru-RU" sz="4400" dirty="0">
              <a:ln w="22225">
                <a:solidFill>
                  <a:srgbClr val="3333CC"/>
                </a:solidFill>
                <a:prstDash val="solid"/>
              </a:ln>
              <a:solidFill>
                <a:srgbClr val="C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942657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06388" y="12700"/>
            <a:ext cx="8640762" cy="22463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Информационная система – </a:t>
            </a:r>
          </a:p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взаимосвязанная совокупность средств, методов и персонала, используемых для хранения, обработки и выдачи информации в интересах достижения поставленной цели.</a:t>
            </a:r>
          </a:p>
        </p:txBody>
      </p:sp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576263" y="2816225"/>
            <a:ext cx="838835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Arial" charset="0"/>
              </a:rPr>
              <a:t>Повышать степень обоснованности принимаемых решений за счет оперативного сбора, передачи и обработки информации;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Arial" charset="0"/>
              </a:rPr>
              <a:t>Обеспечивать своевременность принятия решений;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Arial" charset="0"/>
              </a:rPr>
              <a:t>Добиваться роста эффективности управления за счет своевременного представления необходимой информации руководителям всех уровней управления из единого информационного фонда;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Arial" charset="0"/>
              </a:rPr>
              <a:t>Согласовывать решения, принимаемые на различных уровнях управления и в разных структурных подразделениях;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Arial" charset="0"/>
              </a:rPr>
              <a:t>Обеспечивать рост производительности труда, сокращение непроизводственных потерь и т. д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647700" y="2235200"/>
            <a:ext cx="8299450" cy="5191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Информационные системы позволяют: </a:t>
            </a:r>
          </a:p>
        </p:txBody>
      </p:sp>
    </p:spTree>
    <p:extLst>
      <p:ext uri="{BB962C8B-B14F-4D97-AF65-F5344CB8AC3E}">
        <p14:creationId xmlns:p14="http://schemas.microsoft.com/office/powerpoint/2010/main" xmlns="" val="144478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36758016"/>
              </p:ext>
            </p:extLst>
          </p:nvPr>
        </p:nvGraphicFramePr>
        <p:xfrm>
          <a:off x="60686" y="494308"/>
          <a:ext cx="9011813" cy="63093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33876"/>
                <a:gridCol w="2043164"/>
                <a:gridCol w="2845836"/>
                <a:gridCol w="2688937"/>
              </a:tblGrid>
              <a:tr h="789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Период времени</a:t>
                      </a: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Концепция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использования информации</a:t>
                      </a: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Вид информационных систем</a:t>
                      </a: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Цель использования</a:t>
                      </a: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591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1955-1970 гг.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Бумажный поток расчетных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документов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Информационные системы обработки расчетных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документов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на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электромеханических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бухгалтерских машинах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Повышение скорости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обработки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документов, а также упрощение процедур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обработки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счетов и расчета зарплаты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293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1970-1980 гг.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Основная помощь в подготовке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отчетов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Управленческие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информационные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системы для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производственной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сферы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Ускорение процесса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подготовки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отчетности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393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1980-2000 гг.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Управленческий контроль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реализации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(продаж)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Системы поддержки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принятия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решений и системы для высшего звена управления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Выработка наиболее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рационального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решения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9591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2000 гг. - по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настоящее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время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Стратегический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ресурс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,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обеспечивающий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конкурентное преимущество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Стратегические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информационные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системы и </a:t>
                      </a:r>
                      <a:r>
                        <a:rPr lang="ru-RU" sz="1800" b="1" dirty="0" smtClean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автоматизированные 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офисы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Выживание и процветание организации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127000" y="-63500"/>
            <a:ext cx="8837613" cy="523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Этапы развития информационных систем </a:t>
            </a:r>
          </a:p>
        </p:txBody>
      </p:sp>
    </p:spTree>
    <p:extLst>
      <p:ext uri="{BB962C8B-B14F-4D97-AF65-F5344CB8AC3E}">
        <p14:creationId xmlns:p14="http://schemas.microsoft.com/office/powerpoint/2010/main" xmlns="" val="365270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27000" y="-26988"/>
            <a:ext cx="8837613" cy="5842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Процессы в информационной системе 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7000" y="557213"/>
            <a:ext cx="8945563" cy="317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/>
          <a:p>
            <a:pPr>
              <a:buClr>
                <a:srgbClr val="CC0000"/>
              </a:buClr>
              <a:defRPr/>
            </a:pP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Процессы, обеспечивающие работу информационной системы любого назначения, условно можно представить в виде схемы, состоящей из блоков:</a:t>
            </a:r>
          </a:p>
          <a:p>
            <a:pPr>
              <a:buClr>
                <a:srgbClr val="CC0000"/>
              </a:buClr>
              <a:defRPr/>
            </a:pP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1)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ввод информации из внешних или внутренних источников;</a:t>
            </a:r>
          </a:p>
          <a:p>
            <a:pPr>
              <a:buClr>
                <a:srgbClr val="CC0000"/>
              </a:buClr>
              <a:defRPr/>
            </a:pP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2)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обработка входной информации и представление ее в удобном виде;</a:t>
            </a:r>
          </a:p>
          <a:p>
            <a:pPr>
              <a:buClr>
                <a:srgbClr val="CC0000"/>
              </a:buClr>
              <a:defRPr/>
            </a:pP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3)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вывод информации для представления потребителям или передачи в другую систему;</a:t>
            </a:r>
          </a:p>
          <a:p>
            <a:pPr>
              <a:buClr>
                <a:srgbClr val="CC0000"/>
              </a:buClr>
              <a:defRPr/>
            </a:pP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4)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обратная связь — это информация, переработанная людьми данной организации для коррекции входной информации.</a:t>
            </a:r>
          </a:p>
        </p:txBody>
      </p:sp>
      <p:pic>
        <p:nvPicPr>
          <p:cNvPr id="12186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3" y="3717925"/>
            <a:ext cx="8699500" cy="30543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xmlns="" val="25265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27000" y="-26988"/>
            <a:ext cx="8837613" cy="5842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Структура информационной системы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306" y="559016"/>
            <a:ext cx="9017000" cy="590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148037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41750" y="260648"/>
            <a:ext cx="894556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/>
          <a:p>
            <a:pPr>
              <a:buClr>
                <a:srgbClr val="CC0000"/>
              </a:buClr>
              <a:defRPr/>
            </a:pP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Подсистема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— это часть системы, выделенная по какому-либо признаку.</a:t>
            </a:r>
            <a:endParaRPr lang="en-US" dirty="0">
              <a:solidFill>
                <a:srgbClr val="000000"/>
              </a:solidFill>
              <a:latin typeface="Arial" charset="0"/>
            </a:endParaRPr>
          </a:p>
          <a:p>
            <a:pPr>
              <a:buClr>
                <a:srgbClr val="CC0000"/>
              </a:buClr>
              <a:defRPr/>
            </a:pP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Среди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обеспечивающих подсистем обычно выделяют 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информационное, техническое, математическое, программное, организационное и правовое обеспечение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.</a:t>
            </a:r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3" cstate="print">
            <a:extLst/>
          </a:blip>
          <a:srcRect/>
          <a:stretch>
            <a:fillRect/>
          </a:stretch>
        </p:blipFill>
        <p:spPr bwMode="auto">
          <a:xfrm>
            <a:off x="127000" y="2636912"/>
            <a:ext cx="8836865" cy="31734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convex"/>
          </a:sp3d>
        </p:spPr>
      </p:pic>
    </p:spTree>
    <p:extLst>
      <p:ext uri="{BB962C8B-B14F-4D97-AF65-F5344CB8AC3E}">
        <p14:creationId xmlns:p14="http://schemas.microsoft.com/office/powerpoint/2010/main" xmlns="" val="229905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accent3">
                <a:lumMod val="20000"/>
                <a:lumOff val="8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772400" cy="1143000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3600" smtClean="0"/>
              <a:t>Подсистемы ИС</a:t>
            </a:r>
          </a:p>
        </p:txBody>
      </p:sp>
      <p:sp>
        <p:nvSpPr>
          <p:cNvPr id="31747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519BF1E-E22F-40EE-9D10-8D8607018C06}" type="slidenum">
              <a:rPr kumimoji="0" lang="ru-RU" altLang="ru-RU" sz="1400" smtClean="0">
                <a:solidFill>
                  <a:prstClr val="black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24</a:t>
            </a:fld>
            <a:endParaRPr kumimoji="0" lang="ru-RU" altLang="ru-RU" sz="1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0" y="1371600"/>
            <a:ext cx="9144000" cy="518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Информационное обеспечение</a:t>
            </a:r>
            <a:r>
              <a:rPr kumimoji="1" lang="ru-RU" b="0" dirty="0">
                <a:solidFill>
                  <a:prstClr val="black"/>
                </a:solidFill>
                <a:latin typeface="Arial" charset="0"/>
              </a:rPr>
              <a:t> 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совокупность единой системы классификации и кодирования информации, унифицированных документов и вспомогательных информационных массивов (обычно – классификаторы, таблицы кодирования и пр.)</a:t>
            </a:r>
            <a:endParaRPr kumimoji="1" lang="ru-RU" sz="2000" b="0" dirty="0">
              <a:solidFill>
                <a:prstClr val="black"/>
              </a:solidFill>
              <a:latin typeface="Arial" charset="0"/>
            </a:endParaRPr>
          </a:p>
          <a:p>
            <a:pPr algn="just">
              <a:spcBef>
                <a:spcPct val="50000"/>
              </a:spcBef>
              <a:defRPr/>
            </a:pPr>
            <a:r>
              <a:rPr kumimoji="1" lang="ru-RU" b="0" dirty="0">
                <a:solidFill>
                  <a:prstClr val="black"/>
                </a:solidFill>
                <a:latin typeface="Arial" charset="0"/>
              </a:rPr>
              <a:t> </a:t>
            </a:r>
            <a:r>
              <a:rPr kumimoji="1" lang="ru-RU" sz="2800" dirty="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Техническое обеспечение</a:t>
            </a:r>
            <a:r>
              <a:rPr kumimoji="1" lang="ru-RU" dirty="0">
                <a:solidFill>
                  <a:prstClr val="black"/>
                </a:solidFill>
                <a:latin typeface="Arial" charset="0"/>
              </a:rPr>
              <a:t> 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комплекс технических средств, предназначенных для обеспечения работы информационной системы и ее пользователей, и документация на них. </a:t>
            </a:r>
          </a:p>
          <a:p>
            <a:pPr algn="just"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Программное обеспечение</a:t>
            </a:r>
            <a:r>
              <a:rPr kumimoji="1" lang="ru-RU" dirty="0">
                <a:solidFill>
                  <a:prstClr val="black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общесистемные и специальные программные продукты, а также техническая документация. </a:t>
            </a:r>
          </a:p>
          <a:p>
            <a:pPr algn="just"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Организационное обеспечение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комплекс мероприятий и руководящих документов, регламентирующих взаимодействие работников с техническими средствами и между собой в процессе разработки и эксплуатации информационной системы.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 rot="20400000">
            <a:off x="3200400" y="2895600"/>
            <a:ext cx="5943600" cy="1311275"/>
          </a:xfrm>
          <a:prstGeom prst="rect">
            <a:avLst/>
          </a:prstGeom>
          <a:solidFill>
            <a:srgbClr val="66FFFF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ru-RU" sz="4000" b="0">
                <a:solidFill>
                  <a:srgbClr val="FB3A2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Разрабатывается исполнителем проекта</a:t>
            </a:r>
          </a:p>
        </p:txBody>
      </p:sp>
    </p:spTree>
    <p:extLst>
      <p:ext uri="{BB962C8B-B14F-4D97-AF65-F5344CB8AC3E}">
        <p14:creationId xmlns:p14="http://schemas.microsoft.com/office/powerpoint/2010/main" xmlns="" val="403886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accent3">
                <a:lumMod val="20000"/>
                <a:lumOff val="8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CD3B7A6-2DAB-420C-8CB3-7342DE46E53A}" type="slidenum">
              <a:rPr kumimoji="0" lang="ru-RU" altLang="ru-RU" sz="1400">
                <a:solidFill>
                  <a:prstClr val="black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25</a:t>
            </a:fld>
            <a:endParaRPr kumimoji="0" lang="ru-RU" altLang="ru-RU" sz="14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1295400"/>
            <a:ext cx="8915400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Математическое обеспечение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 совокупность математических методов, моделей и алгоритмов, использующихся для управления системой и  реализации прикладных задач. </a:t>
            </a:r>
            <a:endParaRPr kumimoji="1" lang="ru-RU" sz="2000" b="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0" y="2514600"/>
            <a:ext cx="9144000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defRPr/>
            </a:pPr>
            <a:r>
              <a:rPr kumimoji="1" lang="ru-RU" sz="280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Лингвистическое обеспечение</a:t>
            </a:r>
            <a:r>
              <a:rPr kumimoji="1" lang="ru-RU" b="0">
                <a:solidFill>
                  <a:prstClr val="black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1" lang="ru-RU" sz="2000" b="0">
                <a:solidFill>
                  <a:prstClr val="black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множество языков, использующихся при разработке и эксплуатации ИС (языки программирования, языки общения, набор словарей и пр.). </a:t>
            </a:r>
            <a:endParaRPr kumimoji="1" lang="ru-RU" sz="2000" b="0">
              <a:solidFill>
                <a:prstClr val="black"/>
              </a:solidFill>
              <a:latin typeface="Arial" charset="0"/>
            </a:endParaRPr>
          </a:p>
          <a:p>
            <a:pPr algn="just">
              <a:defRPr/>
            </a:pPr>
            <a:endParaRPr kumimoji="1" lang="ru-RU" sz="2000" b="0">
              <a:solidFill>
                <a:prstClr val="black"/>
              </a:solidFill>
              <a:latin typeface="Arial" charset="0"/>
            </a:endParaRPr>
          </a:p>
          <a:p>
            <a:pPr algn="just">
              <a:defRPr/>
            </a:pPr>
            <a:endParaRPr kumimoji="1" lang="ru-RU" sz="2000" b="0">
              <a:solidFill>
                <a:prstClr val="black"/>
              </a:solidFill>
              <a:latin typeface="Arial" charset="0"/>
            </a:endParaRPr>
          </a:p>
          <a:p>
            <a:pPr algn="just">
              <a:defRPr/>
            </a:pPr>
            <a:r>
              <a:rPr kumimoji="1" lang="ru-RU" sz="280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Правовое обеспечение</a:t>
            </a:r>
            <a:r>
              <a:rPr kumimoji="1" lang="ru-RU" b="0">
                <a:solidFill>
                  <a:prstClr val="black"/>
                </a:solidFill>
                <a:latin typeface="Arial" charset="0"/>
              </a:rPr>
              <a:t> </a:t>
            </a:r>
            <a:r>
              <a:rPr kumimoji="1" lang="ru-RU" sz="2000" b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совокупность правовых норм, определяющих создание, юридический статус и функционирование информационных систем, регламентирующих порядок получения, преобразования и использования информации.</a:t>
            </a:r>
            <a:r>
              <a:rPr kumimoji="1" lang="ru-RU" sz="2000" b="0">
                <a:solidFill>
                  <a:prstClr val="black"/>
                </a:solidFill>
                <a:latin typeface="Arial" charset="0"/>
              </a:rPr>
              <a:t> </a:t>
            </a:r>
          </a:p>
          <a:p>
            <a:pPr algn="just">
              <a:defRPr/>
            </a:pPr>
            <a:endParaRPr kumimoji="1" lang="ru-RU" sz="2000" b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 rot="20400000">
            <a:off x="3200400" y="914400"/>
            <a:ext cx="5943600" cy="1920875"/>
          </a:xfrm>
          <a:prstGeom prst="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ru-RU" sz="4000" b="0" dirty="0">
                <a:solidFill>
                  <a:srgbClr val="FB3A2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Предопределено принятой в компании методологией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 rot="20400000">
            <a:off x="2895600" y="4191000"/>
            <a:ext cx="5943600" cy="131127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ru-RU" sz="4000" b="0">
                <a:solidFill>
                  <a:srgbClr val="FB3A2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Разрабатывается заказчиком </a:t>
            </a:r>
          </a:p>
        </p:txBody>
      </p:sp>
    </p:spTree>
    <p:extLst>
      <p:ext uri="{BB962C8B-B14F-4D97-AF65-F5344CB8AC3E}">
        <p14:creationId xmlns:p14="http://schemas.microsoft.com/office/powerpoint/2010/main" xmlns="" val="142349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 autoUpdateAnimBg="0"/>
      <p:bldP spid="19461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90500"/>
            <a:ext cx="9144001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533400" y="2082362"/>
            <a:ext cx="8208963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400" dirty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C00000"/>
                </a:solidFill>
                <a:latin typeface="Arial" charset="0"/>
              </a:rPr>
              <a:t>Классификация информационных систем </a:t>
            </a:r>
          </a:p>
        </p:txBody>
      </p:sp>
    </p:spTree>
    <p:extLst>
      <p:ext uri="{BB962C8B-B14F-4D97-AF65-F5344CB8AC3E}">
        <p14:creationId xmlns:p14="http://schemas.microsoft.com/office/powerpoint/2010/main" xmlns="" val="16955438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9572" y="224644"/>
            <a:ext cx="9144000" cy="52322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Классификация информационных систем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9612" y="995362"/>
            <a:ext cx="7392799" cy="560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2488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91580" y="332656"/>
            <a:ext cx="8028892" cy="568617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По типу хранимых данных ИС делятся на </a:t>
            </a: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фактографические и документальные. </a:t>
            </a:r>
          </a:p>
          <a:p>
            <a:pPr>
              <a:spcBef>
                <a:spcPts val="300"/>
              </a:spcBef>
              <a:defRPr/>
            </a:pPr>
            <a:endParaRPr lang="ru-RU" sz="2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>
              <a:spcBef>
                <a:spcPts val="300"/>
              </a:spcBef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Фактографические системы </a:t>
            </a: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предназначены для хранения и обработки структурированных данных в виде чисел и текстов. Над такими данными можно выполнять различные операции. </a:t>
            </a:r>
          </a:p>
          <a:p>
            <a:pPr>
              <a:spcBef>
                <a:spcPts val="300"/>
              </a:spcBef>
              <a:defRPr/>
            </a:pP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 </a:t>
            </a: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документальных системах </a:t>
            </a: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информация представлена в виде документов. Поиск по неструктурированным данным осуществляется с использованием семантических признаков. Отобранные документы предоставляются пользователю, а обработка данных в таких системах практически не производится.</a:t>
            </a:r>
          </a:p>
        </p:txBody>
      </p:sp>
    </p:spTree>
    <p:extLst>
      <p:ext uri="{BB962C8B-B14F-4D97-AF65-F5344CB8AC3E}">
        <p14:creationId xmlns:p14="http://schemas.microsoft.com/office/powerpoint/2010/main" xmlns="" val="320291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11277" y="21509"/>
            <a:ext cx="8928992" cy="679416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По степени автоматизации информационных процессов ИС подразделяются на: </a:t>
            </a:r>
          </a:p>
          <a:p>
            <a:pPr>
              <a:spcBef>
                <a:spcPts val="300"/>
              </a:spcBef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Ручные информационные системы</a:t>
            </a: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, которые характеризуются отсутствием современных технических средств обработки информации и выполнением всех операций человеком по заранее разработанным методикам.</a:t>
            </a:r>
          </a:p>
          <a:p>
            <a:pPr>
              <a:spcBef>
                <a:spcPts val="300"/>
              </a:spcBef>
              <a:defRPr/>
            </a:pPr>
            <a:r>
              <a:rPr lang="ru-RU" sz="2800" spc="-15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Автоматизированные информационные системы </a:t>
            </a: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— </a:t>
            </a:r>
            <a:r>
              <a:rPr lang="ru-RU" spc="-3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человеко-машинные системы, обеспечивающие автоматизированный сбор, обработку и передачу информации, необходимой для принятия управленческих решений в организациях различного типа.</a:t>
            </a:r>
          </a:p>
          <a:p>
            <a:pPr>
              <a:spcBef>
                <a:spcPts val="300"/>
              </a:spcBef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Автоматические информационные системы </a:t>
            </a: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характеризуются выполнением всех операций по обработке информации автоматически, без участия человека, но оставляют за человеком контрольные функции.</a:t>
            </a:r>
          </a:p>
        </p:txBody>
      </p:sp>
    </p:spTree>
    <p:extLst>
      <p:ext uri="{BB962C8B-B14F-4D97-AF65-F5344CB8AC3E}">
        <p14:creationId xmlns:p14="http://schemas.microsoft.com/office/powerpoint/2010/main" xmlns="" val="199529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07504" y="88885"/>
            <a:ext cx="9036496" cy="680423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9000"/>
              </a:lnSpc>
              <a:spcBef>
                <a:spcPts val="300"/>
              </a:spcBef>
            </a:pPr>
            <a:r>
              <a:rPr kumimoji="1" lang="ru-RU" sz="2800" spc="-5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Классификация ИС по сфере </a:t>
            </a:r>
            <a:r>
              <a:rPr kumimoji="1" lang="ru-RU" sz="2800" spc="-5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применения</a:t>
            </a:r>
            <a:endParaRPr kumimoji="1" lang="ru-RU" sz="2800" spc="-5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lnSpc>
                <a:spcPct val="89000"/>
              </a:lnSpc>
              <a:spcBef>
                <a:spcPts val="600"/>
              </a:spcBef>
            </a:pPr>
            <a:r>
              <a:rPr lang="ru-RU" sz="2800" spc="-5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Информационные  системы  организационного управления</a:t>
            </a:r>
            <a:r>
              <a:rPr lang="ru-RU" sz="2800" spc="-5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предназначены для автоматизации функций управленческого персонала. </a:t>
            </a:r>
          </a:p>
          <a:p>
            <a:pPr>
              <a:lnSpc>
                <a:spcPct val="89000"/>
              </a:lnSpc>
              <a:spcBef>
                <a:spcPts val="300"/>
              </a:spcBef>
            </a:pPr>
            <a:r>
              <a:rPr lang="ru-RU" sz="2800" spc="-5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ИС управления технологическими процессами</a:t>
            </a:r>
            <a:r>
              <a:rPr lang="ru-RU" sz="2800" spc="-5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ru-RU" sz="2800" spc="-5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служат </a:t>
            </a:r>
            <a:r>
              <a:rPr lang="ru-RU" sz="2800" spc="-5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для автоматизации функций производственного персонала по контролю и управлению производственными операциями.</a:t>
            </a:r>
          </a:p>
          <a:p>
            <a:pPr>
              <a:lnSpc>
                <a:spcPct val="89000"/>
              </a:lnSpc>
              <a:spcBef>
                <a:spcPts val="300"/>
              </a:spcBef>
            </a:pPr>
            <a:r>
              <a:rPr lang="ru-RU" sz="2800" spc="-5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ИС автоматизированного проектирования (САПР)</a:t>
            </a:r>
            <a:r>
              <a:rPr lang="ru-RU" sz="2800" spc="-5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предназначены для автоматизации функций инженеров-проектировщиков, конструкторов, архитекторов, дизайнеров при создании новой техники или технологии.</a:t>
            </a:r>
          </a:p>
          <a:p>
            <a:pPr>
              <a:lnSpc>
                <a:spcPct val="89000"/>
              </a:lnSpc>
              <a:spcBef>
                <a:spcPts val="300"/>
              </a:spcBef>
            </a:pPr>
            <a:r>
              <a:rPr lang="ru-RU" sz="2800" spc="-5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Интегрированные (</a:t>
            </a:r>
            <a:r>
              <a:rPr lang="ru-RU" sz="2800" spc="-50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корпоративные) ИС</a:t>
            </a:r>
            <a:r>
              <a:rPr lang="ru-RU" sz="2800" spc="-5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ru-RU" sz="2800" spc="-5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используются для автоматизации всех функций организации и охватывают весь цикл работ от планирования деятельности  до сбыта продукции. </a:t>
            </a:r>
          </a:p>
        </p:txBody>
      </p:sp>
    </p:spTree>
    <p:extLst>
      <p:ext uri="{BB962C8B-B14F-4D97-AF65-F5344CB8AC3E}">
        <p14:creationId xmlns:p14="http://schemas.microsoft.com/office/powerpoint/2010/main" xmlns="" val="382840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23528" y="-13853"/>
            <a:ext cx="9036496" cy="4210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9000"/>
              </a:lnSpc>
              <a:spcBef>
                <a:spcPts val="300"/>
              </a:spcBef>
            </a:pPr>
            <a:r>
              <a:rPr kumimoji="1" lang="ru-RU" spc="-5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Функциональное назначение модулей корпоративной ИС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53529069"/>
              </p:ext>
            </p:extLst>
          </p:nvPr>
        </p:nvGraphicFramePr>
        <p:xfrm>
          <a:off x="107504" y="475836"/>
          <a:ext cx="9001000" cy="63641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1461"/>
                <a:gridCol w="1890947"/>
                <a:gridCol w="1908212"/>
                <a:gridCol w="1728192"/>
                <a:gridCol w="1692188"/>
              </a:tblGrid>
              <a:tr h="8308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Подсистема маркетинга</a:t>
                      </a:r>
                    </a:p>
                  </a:txBody>
                  <a:tcPr marL="18841" marR="18841" marT="18841" marB="1884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Производственные подсистемы</a:t>
                      </a:r>
                    </a:p>
                  </a:txBody>
                  <a:tcPr marL="18841" marR="18841" marT="18841" marB="1884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Финансовые и учетные подсистемы</a:t>
                      </a:r>
                    </a:p>
                  </a:txBody>
                  <a:tcPr marL="18841" marR="18841" marT="18841" marB="1884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Подсистема кадров (человеческих ресурсов)</a:t>
                      </a:r>
                    </a:p>
                  </a:txBody>
                  <a:tcPr marL="18841" marR="18841" marT="18841" marB="1884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Прочие подсистемы (например, ИС руководства)</a:t>
                      </a:r>
                    </a:p>
                  </a:txBody>
                  <a:tcPr marL="18841" marR="18841" marT="18841" marB="1884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0308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Исследование рынка и прогнозирование продаж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Планирование объемов работ и разработка календарных планов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портфелем заказов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Анализ и прогнозирование потребности в трудовых ресурсах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Контроль за деятельностью фирмы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8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продажами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Оперативный контроль и управление производством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кредитной политикой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Ведение архивов записей о персонале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Выявление оперативных проблем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8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Рекомендации по производству новой продукции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Анализ работы оборудования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финансового плана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Анализ и планирование подготовки кадров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Анализ управленческих и стратегических ситуаций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8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Анализ и установление цены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Участие в формировании заказов поставщикам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Финансовый анализ и прогнозирование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Обеспечение процесса выработки стратегических решений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Учет заказов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запасами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Контроль бюджета, бухгалтерский учет и расчет зарплаты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98072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827584" y="80628"/>
            <a:ext cx="9036496" cy="4210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9000"/>
              </a:lnSpc>
              <a:spcBef>
                <a:spcPts val="300"/>
              </a:spcBef>
            </a:pPr>
            <a:r>
              <a:rPr kumimoji="1" lang="ru-RU" spc="-5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Классификация рынка информационных систем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37412246"/>
              </p:ext>
            </p:extLst>
          </p:nvPr>
        </p:nvGraphicFramePr>
        <p:xfrm>
          <a:off x="83709" y="584684"/>
          <a:ext cx="9000999" cy="5868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9999"/>
                <a:gridCol w="2660964"/>
                <a:gridCol w="2307588"/>
                <a:gridCol w="2172448"/>
              </a:tblGrid>
              <a:tr h="10655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20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Локальные системы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66040" algn="ctr">
                        <a:spcAft>
                          <a:spcPts val="0"/>
                        </a:spcAft>
                      </a:pPr>
                      <a:r>
                        <a:rPr kumimoji="1" lang="ru-RU" sz="20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Малые интегрированные системы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spcAft>
                          <a:spcPts val="0"/>
                        </a:spcAft>
                      </a:pPr>
                      <a:r>
                        <a:rPr kumimoji="1" lang="ru-RU" sz="20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Средние интегрированные системы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20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Крупные интегрированные </a:t>
                      </a:r>
                      <a:r>
                        <a:rPr kumimoji="1" lang="ru-RU" sz="2000" b="1" kern="1200" spc="-5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системы</a:t>
                      </a:r>
                      <a:endParaRPr kumimoji="1" lang="ru-RU" sz="2000" b="1" kern="1200" spc="-5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</a:tr>
              <a:tr h="4803115">
                <a:tc>
                  <a:txBody>
                    <a:bodyPr/>
                    <a:lstStyle/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БЭСТ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Инотек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Инфософт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Супер-Менеджер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Турбо-Бухгалтер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Инфо-Бухгалтер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Concorde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XAL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Exact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NS-2000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Platinum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PRO/MIS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Scala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SunSystems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БЭСТ-ПРО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1C-Предприятие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БОСС-Корпорация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Галактика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Парус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Ресурс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Эталон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Microsoft-Business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Solutions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Navision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Axapta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en-US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 D Edwards (Robertson &amp; </a:t>
                      </a:r>
                      <a:r>
                        <a:rPr kumimoji="1" lang="en-US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Blums</a:t>
                      </a:r>
                      <a:r>
                        <a:rPr kumimoji="1" lang="en-US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  <a:endParaRPr kumimoji="1" lang="ru-RU" sz="2000" b="1" kern="1200" spc="-5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en-US" sz="2000" b="1" kern="1200" spc="-50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QAD Enterprise Applications</a:t>
                      </a:r>
                      <a:r>
                        <a:rPr kumimoji="1" lang="ru-RU" sz="2000" b="1" kern="1200" spc="-50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kumimoji="1" lang="ru-RU" sz="2000" b="1" kern="1200" spc="-5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SyteLine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(COKAП/SYMIX)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SAP/R3 (SAP AG)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Baan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Baan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BPCS (ITS/SSA)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en-US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OEBS (Oracle E-Business Suite)</a:t>
                      </a:r>
                      <a:endParaRPr kumimoji="1" lang="ru-RU" sz="2000" b="1" kern="1200" spc="-5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54326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51520" y="15658"/>
            <a:ext cx="8806185" cy="710194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 зависимости от характера обработки данных ИС делятся на информационно-поисковые и информационно-решающие.</a:t>
            </a:r>
          </a:p>
          <a:p>
            <a:pPr>
              <a:spcBef>
                <a:spcPts val="300"/>
              </a:spcBef>
              <a:defRPr/>
            </a:pPr>
            <a:endParaRPr lang="ru-RU" sz="105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>
              <a:spcBef>
                <a:spcPts val="300"/>
              </a:spcBef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Информационно-поисковые системы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производят ввод, систематизацию, хранение, выдачу информации по запросу пользователя без сложных преобразований данных.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Например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, ИС библиотечного обслуживания, резервирования и продажи билетов на транспорте, бронирования мест в гостиницах и пр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.</a:t>
            </a:r>
            <a:endParaRPr lang="ru-RU" sz="28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  <a:p>
            <a:pPr>
              <a:spcBef>
                <a:spcPts val="300"/>
              </a:spcBef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Информационно-решающие системы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осуществляют, кроме того, операции переработки информации по определенному алгоритму. </a:t>
            </a:r>
          </a:p>
        </p:txBody>
      </p:sp>
    </p:spTree>
    <p:extLst>
      <p:ext uri="{BB962C8B-B14F-4D97-AF65-F5344CB8AC3E}">
        <p14:creationId xmlns:p14="http://schemas.microsoft.com/office/powerpoint/2010/main" xmlns="" val="413582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87524" y="0"/>
            <a:ext cx="8856476" cy="68278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Информационно-решающие системы, в свою очередь,  делятся на управляющие и советующие.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Управляющие ИС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вырабатывают информацию, на основании которой человек принимает решение. Для этих систем характерны тип задач расчетного характера и обработка больших объемов данных. Примером могут служить </a:t>
            </a:r>
            <a:r>
              <a:rPr lang="ru-RU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система оперативного планирования выпуска продукции, система бухгалтерского учета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.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Советующие (экспертные)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ИС вырабатывают информацию, которая принимается человеком к сведению и не превращается немедленно в серию конкретных действий. Эти системы обладают более высокой степенью интеллекта, так как для них характерна обработка знаний, а не данных. </a:t>
            </a:r>
          </a:p>
        </p:txBody>
      </p:sp>
    </p:spTree>
    <p:extLst>
      <p:ext uri="{BB962C8B-B14F-4D97-AF65-F5344CB8AC3E}">
        <p14:creationId xmlns:p14="http://schemas.microsoft.com/office/powerpoint/2010/main" xmlns="" val="300416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503548" y="0"/>
            <a:ext cx="8640452" cy="185435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Классификация ИС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систем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по функциональному признаку с учетом уровней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управления и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уровней квалификации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персонала</a:t>
            </a:r>
            <a:endParaRPr lang="ru-RU" sz="2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63588" y="2096852"/>
            <a:ext cx="6591300" cy="3962400"/>
          </a:xfrm>
          <a:prstGeom prst="rect">
            <a:avLst/>
          </a:prstGeom>
          <a:noFill/>
          <a:ln w="9525">
            <a:solidFill>
              <a:srgbClr val="CC0066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relaxedInset"/>
          </a:sp3d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8853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410968" y="404664"/>
            <a:ext cx="8028384" cy="612475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Информационная система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операционного уровня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поддерживает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специалистов-исполнителей. Задачи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, цели и источники информации на операционном уровне заранее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определены и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 высокой степени структурированы. Решение запрограммировано в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соответствии с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заданным алгоритмом.</a:t>
            </a:r>
          </a:p>
          <a:p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Информационная система операционного уровня является связующим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звеном между организацией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 внешней средой. Если система работает плохо, то организация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либо не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получает информации извне, либо не выдает информацию.</a:t>
            </a:r>
          </a:p>
        </p:txBody>
      </p:sp>
    </p:spTree>
    <p:extLst>
      <p:ext uri="{BB962C8B-B14F-4D97-AF65-F5344CB8AC3E}">
        <p14:creationId xmlns:p14="http://schemas.microsoft.com/office/powerpoint/2010/main" xmlns="" val="192323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59532" y="440668"/>
            <a:ext cx="8496944" cy="612475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Информационные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системы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функционального (тактического) уровня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используются работниками среднего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управленческого звена для мониторинга (постоянного слежения),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контроля, принятия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решений и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администрирования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. </a:t>
            </a:r>
            <a:endParaRPr lang="ru-RU" sz="2800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  <a:p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Основные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функции этих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информационных систем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:</a:t>
            </a:r>
          </a:p>
          <a:p>
            <a:pPr marL="342900" indent="-342900">
              <a:buClr>
                <a:srgbClr val="C00000"/>
              </a:buClr>
              <a:buSzPct val="112000"/>
              <a:buFont typeface="Wingdings" pitchFamily="2" charset="2"/>
              <a:buChar char="ü"/>
            </a:pP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сравнение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текущих показателей с прошлыми;</a:t>
            </a:r>
          </a:p>
          <a:p>
            <a:pPr marL="342900" indent="-342900">
              <a:buClr>
                <a:srgbClr val="C00000"/>
              </a:buClr>
              <a:buSzPct val="112000"/>
              <a:buFont typeface="Wingdings" pitchFamily="2" charset="2"/>
              <a:buChar char="ü"/>
            </a:pP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составление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периодических отчетов за определенное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время;</a:t>
            </a:r>
            <a:endParaRPr lang="ru-RU" sz="28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  <a:p>
            <a:pPr marL="342900" indent="-342900">
              <a:buClr>
                <a:srgbClr val="C00000"/>
              </a:buClr>
              <a:buSzPct val="112000"/>
              <a:buFont typeface="Wingdings" pitchFamily="2" charset="2"/>
              <a:buChar char="ü"/>
            </a:pP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обеспечение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доступа к архивной информации и т. д.</a:t>
            </a:r>
          </a:p>
        </p:txBody>
      </p:sp>
    </p:spTree>
    <p:extLst>
      <p:ext uri="{BB962C8B-B14F-4D97-AF65-F5344CB8AC3E}">
        <p14:creationId xmlns:p14="http://schemas.microsoft.com/office/powerpoint/2010/main" xmlns="" val="257888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0662" y="116632"/>
            <a:ext cx="9144000" cy="652486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На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уровне </a:t>
            </a:r>
            <a:r>
              <a:rPr lang="ru-RU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руководителей среднего звена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можно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выделить два типа информационных систем: </a:t>
            </a:r>
            <a:r>
              <a:rPr lang="ru-RU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управленческие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</a:t>
            </a:r>
            <a:r>
              <a:rPr lang="ru-RU" sz="2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 </a:t>
            </a:r>
            <a:r>
              <a:rPr lang="ru-RU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системы поддержки принятия решений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.</a:t>
            </a:r>
          </a:p>
          <a:p>
            <a:r>
              <a:rPr lang="ru-RU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Управленческие ИС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имеют крайне небольшие аналитические возможности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. Они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обслуживают управленцев, которые нуждаются в ежедневной, еженедельной</a:t>
            </a:r>
          </a:p>
          <a:p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информации о состоянии дел. Основное их назначение состоит в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отслеживании ежедневных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операций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периодическом формировании строго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структурированных сводных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типовых отчетов. Информация поступает из информационной</a:t>
            </a:r>
          </a:p>
          <a:p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системы операционного уровня.</a:t>
            </a:r>
          </a:p>
          <a:p>
            <a:r>
              <a:rPr lang="ru-RU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Системы поддержки принятия решений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обслуживают частично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структурированные задачи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, результаты которых трудно спрогнозировать заранее. Они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имеют более мощный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аналитический аппарат с несколькими моделями. Информацию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получают из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управленческих и операционных информационных систем.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Используют эти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системы все, кому необходимо принимать решение: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руководители,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специалисты,</a:t>
            </a:r>
          </a:p>
          <a:p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аналитики и пр.</a:t>
            </a:r>
          </a:p>
        </p:txBody>
      </p:sp>
    </p:spTree>
    <p:extLst>
      <p:ext uri="{BB962C8B-B14F-4D97-AF65-F5344CB8AC3E}">
        <p14:creationId xmlns:p14="http://schemas.microsoft.com/office/powerpoint/2010/main" xmlns="" val="339041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95536" y="1124744"/>
            <a:ext cx="8352928" cy="483209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Стратегические информационные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системы</a:t>
            </a:r>
          </a:p>
          <a:p>
            <a:endParaRPr lang="ru-RU" sz="2800" dirty="0" smtClean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Arial" charset="0"/>
            </a:endParaRPr>
          </a:p>
          <a:p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Под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стратегией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понимается набор методов и средств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решения перспективных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долгосрочных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задач.</a:t>
            </a:r>
          </a:p>
          <a:p>
            <a:endParaRPr lang="ru-RU" sz="2800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  <a:p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Стратегическая информационная система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— компьютерная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информационная система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,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обеспечивающая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поддержку принятия решений по реализации стратегических</a:t>
            </a:r>
          </a:p>
          <a:p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перспективных целей развития организации.</a:t>
            </a:r>
          </a:p>
        </p:txBody>
      </p:sp>
    </p:spTree>
    <p:extLst>
      <p:ext uri="{BB962C8B-B14F-4D97-AF65-F5344CB8AC3E}">
        <p14:creationId xmlns:p14="http://schemas.microsoft.com/office/powerpoint/2010/main" xmlns="" val="341164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32338" y="1124744"/>
            <a:ext cx="8652130" cy="440120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Информационные системы стратегического уровня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 помогают высшему звену управленцев решать </a:t>
            </a:r>
            <a:r>
              <a:rPr lang="ru-RU" sz="2800" i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неструктурированные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 задачи, осуществлять долгосрочное планирование. Основная задача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–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сравнение происходящих во внешнем окружении изменений с существующим потенциалом фирмы. Они призваны создать общую среду компьютерной телекоммуникационной поддержки решений в неожиданно возникающих ситуациях. </a:t>
            </a:r>
          </a:p>
        </p:txBody>
      </p:sp>
    </p:spTree>
    <p:extLst>
      <p:ext uri="{BB962C8B-B14F-4D97-AF65-F5344CB8AC3E}">
        <p14:creationId xmlns:p14="http://schemas.microsoft.com/office/powerpoint/2010/main" xmlns="" val="429414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500" y="15658"/>
            <a:ext cx="8986205" cy="679416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Эволюция методов и подходов к проектированию ИС:</a:t>
            </a:r>
          </a:p>
          <a:p>
            <a:pPr>
              <a:spcBef>
                <a:spcPts val="300"/>
              </a:spcBef>
              <a:defRPr/>
            </a:pPr>
            <a:endParaRPr lang="ru-RU" sz="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269875">
              <a:spcBef>
                <a:spcPts val="300"/>
              </a:spcBef>
              <a:buClr>
                <a:srgbClr val="C00000"/>
              </a:buClr>
              <a:buSzPct val="129000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Индустрия разработки автоматизированных информационных систем управления зароди-</a:t>
            </a:r>
            <a:r>
              <a:rPr lang="ru-RU" sz="2800" dirty="0" err="1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лась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в 1950-х - 1960-х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годах.</a:t>
            </a: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i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первом этапе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основным подходом в проектировании ИС был метод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"снизу-вверх"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когда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система создавалась как набор приложений, наиболее важных в данный момент для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поддержки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деятельности предприятия. Основной целью этих проектов было не создание тиражируемых продуктов, а обслуживание текущих потребностей конкретного учреждения </a:t>
            </a:r>
            <a:r>
              <a:rPr lang="ru-RU" sz="28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(«лоскутная автоматизация»)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</a:t>
            </a: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5263134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500" y="15658"/>
            <a:ext cx="8986205" cy="669414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Эволюция методов и подходов к проектированию ИС:</a:t>
            </a:r>
          </a:p>
          <a:p>
            <a:pPr>
              <a:spcBef>
                <a:spcPts val="300"/>
              </a:spcBef>
              <a:defRPr/>
            </a:pPr>
            <a:endParaRPr lang="ru-RU" sz="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i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Следующий этап 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связан с осознанием того факта, что существует потребность в достаточно </a:t>
            </a:r>
            <a:r>
              <a:rPr lang="ru-RU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стандартных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программных средствах автоматизации деятельности различных учреждений и предприятий. Из всего спектра проблем разработчики выделили наиболее заметные: </a:t>
            </a:r>
            <a:r>
              <a:rPr lang="ru-RU" sz="2800" i="1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автоматизацию 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ведения бухгалтерского аналитического учета и технологических процессов. Системы </a:t>
            </a:r>
            <a:r>
              <a:rPr lang="ru-RU" sz="2800" i="1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начали 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проектироваться </a:t>
            </a:r>
            <a:r>
              <a:rPr lang="ru-RU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"сверху-вниз"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т.е. в предположении, что одна программа должна </a:t>
            </a:r>
            <a:r>
              <a:rPr lang="ru-RU" sz="2800" i="1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удовлетворять 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потребности многих пользователей.</a:t>
            </a: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30509841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500" y="15658"/>
            <a:ext cx="8986205" cy="58708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Эволюция методов и подходов к проектированию ИС:</a:t>
            </a:r>
          </a:p>
          <a:p>
            <a:pPr>
              <a:spcBef>
                <a:spcPts val="300"/>
              </a:spcBef>
              <a:defRPr/>
            </a:pPr>
            <a:endParaRPr lang="ru-RU" sz="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Недостатки отмеченных подходов с одной стороны и ужесточение требований заказчиков с другой обусловили необходимость формирования новой методологии построения информационных систем.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Цель такой методологии заключается в регламентации процесса проектирования ИС и обеспечении управления этим процессом с тем, чтобы гарантировать выполнение </a:t>
            </a:r>
            <a:r>
              <a:rPr lang="ru-RU" sz="28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требований </a:t>
            </a:r>
            <a:r>
              <a:rPr lang="ru-RU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как к самой ИС, так и к характеристикам процесса разработки.</a:t>
            </a:r>
            <a:endParaRPr lang="ru-RU" sz="2800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6507747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91580" y="15658"/>
            <a:ext cx="8208911" cy="689419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C00000"/>
              </a:buClr>
              <a:buSzPct val="129000"/>
              <a:defRPr/>
            </a:pPr>
            <a:r>
              <a:rPr kumimoji="1"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Основные задачи</a:t>
            </a:r>
            <a:r>
              <a:rPr kumimoji="1"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, решению которых должна способствовать методология проектирования корпоративных </a:t>
            </a:r>
            <a:r>
              <a:rPr kumimoji="1"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ИС: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обеспечивать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создание корпоративных ИС, </a:t>
            </a:r>
            <a:r>
              <a:rPr lang="ru-RU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отвечающих целям и задачам организации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а также предъявляемым требованиям по автоматизации деловых процессов заказчика;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гарантировать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создание системы с </a:t>
            </a:r>
            <a:r>
              <a:rPr lang="ru-RU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заданным качеством в заданные сроки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в рамках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установленного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бюджета проекта;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поддерживать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удобную дисциплину </a:t>
            </a:r>
            <a:r>
              <a:rPr lang="ru-RU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сопровождения, модификации и наращивания системы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обеспечивать преемственность разработки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т.е. использование в разрабатываемой ИС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существующей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информационной инфраструктуры организации (задела в области информационных технологий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).</a:t>
            </a:r>
            <a:endParaRPr lang="ru-RU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04068202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23528" y="188640"/>
            <a:ext cx="8100901" cy="7140416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C00000"/>
              </a:buClr>
              <a:buSzPct val="129000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 ИС охватывает три основные области</a:t>
            </a:r>
            <a:r>
              <a:rPr kumimoji="1"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:</a:t>
            </a:r>
            <a:endParaRPr kumimoji="1" lang="ru-RU" sz="2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проектирование </a:t>
            </a:r>
            <a:r>
              <a:rPr lang="ru-RU" sz="2800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объектов данных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которые будут реализованы в базе данных;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проектирование </a:t>
            </a:r>
            <a:r>
              <a:rPr lang="ru-RU" sz="2800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программ, экранных форм, отчетов,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которые будут обеспечивать выполнение запросов к данным;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учет </a:t>
            </a:r>
            <a:r>
              <a:rPr lang="ru-RU" sz="2800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конкретной среды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или технологии, а именно: топологии сети, конфигурации аппаратных средств, используемой архитектуры (файл-сервер или клиент-сервер), параллельной обработки, распределенной обработки данных и т.п.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1720942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23528" y="188640"/>
            <a:ext cx="8712968" cy="673876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C00000"/>
              </a:buClr>
              <a:buSzPct val="129000"/>
              <a:defRPr/>
            </a:pP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 информационных систем всегда начинается с определения </a:t>
            </a: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kumimoji="1"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цели </a:t>
            </a: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проекта. </a:t>
            </a:r>
            <a:endParaRPr kumimoji="1" lang="ru-RU" sz="2800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buClr>
                <a:srgbClr val="C00000"/>
              </a:buClr>
              <a:buSzPct val="129000"/>
              <a:defRPr/>
            </a:pP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 общем виде цель проекта можно определить как решение ряда взаимосвязанных задач, </a:t>
            </a: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включающих </a:t>
            </a: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 себя </a:t>
            </a: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обеспечение: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требуемой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функциональности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системы и уровня ее адаптивности к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изменяющимся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условиям функционирования; </a:t>
            </a: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требуемой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пропускной способности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системы; </a:t>
            </a: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требуемого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времени реакции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системы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запрос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; </a:t>
            </a: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безотказной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работы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системы; </a:t>
            </a: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необходимого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уровня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безопасности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; </a:t>
            </a: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простоты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эксплуатации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поддержки системы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21223995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0" y="11520"/>
            <a:ext cx="9072500" cy="702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98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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Согласно современной методологии,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 создания ИС представляет собой процесс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построения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последовательного преобразования ряда согласованных моделей на всех этапах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жизненного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цикла (ЖЦ) ИС.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endParaRPr lang="ru-RU" sz="2800" dirty="0" smtClean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98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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каждом этапе ЖЦ создаются специфичные для него модели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организации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требований к ИС, проекта ИС, требований к приложениям и т.д. Модели формируются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рабочими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группами команды проекта, сохраняются и накапливаются в </a:t>
            </a:r>
            <a:r>
              <a:rPr lang="ru-RU" sz="2800" dirty="0" err="1">
                <a:solidFill>
                  <a:srgbClr val="800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репозитории</a:t>
            </a:r>
            <a:r>
              <a:rPr lang="ru-RU" sz="2800" dirty="0">
                <a:solidFill>
                  <a:srgbClr val="800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проекта.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Создание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моделей, их контроль, преобразование и предоставление в коллективное пользование осуществляется с использованием специальных программных инструментов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</a:t>
            </a:r>
            <a:r>
              <a:rPr lang="ru-RU" sz="2800" dirty="0">
                <a:solidFill>
                  <a:srgbClr val="800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CASE-средств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660704787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51520" y="15658"/>
            <a:ext cx="8806185" cy="55784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 точки зрения программно-аппаратной реализации можно выделить ряд типовых </a:t>
            </a:r>
            <a:r>
              <a:rPr kumimoji="1"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архитектур ИС:</a:t>
            </a:r>
            <a:endParaRPr kumimoji="1" lang="ru-RU" sz="2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105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использование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выделенных файл-серверов или серверов баз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данных;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технология </a:t>
            </a:r>
            <a:r>
              <a:rPr lang="ru-RU" sz="2800" dirty="0" err="1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Internet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(</a:t>
            </a:r>
            <a:r>
              <a:rPr lang="ru-RU" sz="2800" dirty="0" err="1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Intranet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-приложения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);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"хранилище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данных"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интегрированная информационная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среды,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включающая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разнородные информационные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ресурсы;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архитектура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интеграции информационно-вычислительных компонентов на основе объектно-ориентированного подхода.</a:t>
            </a: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5148928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90500"/>
            <a:ext cx="9144001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533400" y="2082362"/>
            <a:ext cx="820896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400" dirty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C00000"/>
                </a:solidFill>
                <a:latin typeface="Arial" charset="0"/>
              </a:rPr>
              <a:t>Этапы создания ИС</a:t>
            </a:r>
          </a:p>
        </p:txBody>
      </p:sp>
    </p:spTree>
    <p:extLst>
      <p:ext uri="{BB962C8B-B14F-4D97-AF65-F5344CB8AC3E}">
        <p14:creationId xmlns:p14="http://schemas.microsoft.com/office/powerpoint/2010/main" xmlns="" val="14528386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647564" y="656692"/>
            <a:ext cx="8496436" cy="498598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C00000"/>
              </a:buClr>
              <a:buSzPct val="129000"/>
              <a:defRPr/>
            </a:pPr>
            <a:r>
              <a:rPr kumimoji="1" lang="ru-RU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Этапы </a:t>
            </a:r>
            <a:r>
              <a:rPr kumimoji="1" lang="ru-RU" sz="3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создания ИС</a:t>
            </a:r>
            <a:r>
              <a:rPr kumimoji="1" lang="ru-RU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: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формирование </a:t>
            </a:r>
            <a:r>
              <a:rPr kumimoji="1" lang="ru-RU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требований к </a:t>
            </a: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системе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реализация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тестирование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ввод </a:t>
            </a:r>
            <a:r>
              <a:rPr kumimoji="1" lang="ru-RU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 </a:t>
            </a: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действие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эксплуатация</a:t>
            </a:r>
            <a:endParaRPr lang="ru-RU" sz="36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6992210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500" y="15658"/>
            <a:ext cx="8892988" cy="632480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Формирование </a:t>
            </a: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требований к системе</a:t>
            </a: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i="1" dirty="0" smtClean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Начальным </a:t>
            </a:r>
            <a:r>
              <a:rPr lang="ru-RU" sz="2800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этапом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процесса создания ИС является моделирование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бизнес-процессов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протекающих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организации и реализующих ее цели и задачи. Модель организации, описанная в терминах бизнес-процессов и бизнес-функций, позволяет сформулировать основные требования к ИС. Это фундаментальное положение методологии обеспечивает объективность в выработке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требований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 проектированию системы. Множество моделей описания требований к ИС затем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преобразуется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систему моделей, описывающих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концептуальный проект ИС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xmlns="" val="2331319388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500" y="15658"/>
            <a:ext cx="8784976" cy="593239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Формирование требований к системе</a:t>
            </a:r>
          </a:p>
          <a:p>
            <a:pPr>
              <a:spcBef>
                <a:spcPts val="300"/>
              </a:spcBef>
              <a:defRPr/>
            </a:pPr>
            <a:endParaRPr lang="ru-RU" sz="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Целью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ru-RU" sz="2800" i="1" dirty="0" smtClean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начальных этапов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создания ИС, выполняемых на стадии анализа деятельности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организации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является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формирование требований к ИС, корректно и точно отражающих цели и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задачи организации-заказчика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отображение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их на языке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моделей.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Задача формирования требований к ИС является одной из наиболее ответственных, трудно формализуемых и наиболее дорогих и тяжелых для исправления в случае ошибки. </a:t>
            </a:r>
          </a:p>
        </p:txBody>
      </p:sp>
    </p:spTree>
    <p:extLst>
      <p:ext uri="{BB962C8B-B14F-4D97-AF65-F5344CB8AC3E}">
        <p14:creationId xmlns:p14="http://schemas.microsoft.com/office/powerpoint/2010/main" xmlns="" val="287883825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63370" y="584684"/>
            <a:ext cx="8892988" cy="503214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этапе проектирования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формируются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модели данных.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Проектировщики в качестве исходной информации получают результаты анализа. Построение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логической и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физической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моделей данных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является основной частью проектирования базы данных. Полученная в процессе анализа информационная модель сначала преобразуется в логическую, а затем в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физическую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модель данных.</a:t>
            </a:r>
          </a:p>
        </p:txBody>
      </p:sp>
    </p:spTree>
    <p:extLst>
      <p:ext uri="{BB962C8B-B14F-4D97-AF65-F5344CB8AC3E}">
        <p14:creationId xmlns:p14="http://schemas.microsoft.com/office/powerpoint/2010/main" xmlns="" val="1984463020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9756" y="-63388"/>
            <a:ext cx="9144000" cy="718658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Параллельно с проектированием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схемы базы данных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выполняется проектирование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процессов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чтобы получить </a:t>
            </a:r>
            <a:r>
              <a:rPr lang="ru-RU" sz="2800" i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спецификации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(описания) всех модулей ИС. Оба эти процесса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тесно связаны, поскольку часть бизнес-логики обычно реализуется в базе данных (</a:t>
            </a:r>
            <a:r>
              <a:rPr lang="ru-RU" sz="2800" i="1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ограничения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триггеры, хранимые процедуры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). Главная цель проектирования процессов заключается в отображении функций, полученных на этапе анализа, в модули информационной системы. При проектировании модулей определяют интерфейсы программ: </a:t>
            </a:r>
            <a:r>
              <a:rPr lang="ru-RU" sz="2800" i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разметку меню, вид окон, горячие клавиши и связанные с ними вызовы.</a:t>
            </a:r>
          </a:p>
        </p:txBody>
      </p:sp>
    </p:spTree>
    <p:extLst>
      <p:ext uri="{BB962C8B-B14F-4D97-AF65-F5344CB8AC3E}">
        <p14:creationId xmlns:p14="http://schemas.microsoft.com/office/powerpoint/2010/main" xmlns="" val="3557154702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9756" y="-63388"/>
            <a:ext cx="9144000" cy="7324826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2438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этапе проектирования осуществляется также разработка </a:t>
            </a:r>
            <a:r>
              <a:rPr lang="ru-RU" sz="2800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архитектуры ИС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включающая в себя выбор </a:t>
            </a:r>
            <a:r>
              <a:rPr lang="ru-RU" sz="2800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платформы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(платформ) и </a:t>
            </a:r>
            <a:r>
              <a:rPr lang="ru-RU" sz="2800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операционной системы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(операционных систем). В неоднородной ИС могут работать несколько компьютеров на разных аппаратных платформах и под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управлением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различных операционных систем. </a:t>
            </a:r>
            <a:endParaRPr lang="ru-RU" sz="2800" dirty="0" smtClean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2438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Кроме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выбора платформы, на этапе проектирования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определяются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следующие характеристики архитектуры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</a:t>
            </a: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endParaRPr lang="ru-RU" sz="2800" dirty="0" smtClean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будет ли это архитектура "файл-сервер" или "клиент-сервер"; </a:t>
            </a: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endParaRPr lang="ru-RU" sz="2800" i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8025655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0" y="11520"/>
            <a:ext cx="9161610" cy="685572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будет ли это 3-уровневая архитектура со следующими слоями: сервер, ПО промежуточного слоя (сервер приложений), клиентское ПО;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будет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ли база данных централизованной или распределенной. Если база данных будет распре-деленной, то какие механизмы поддержки согласованности и актуальности данных будут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использоваться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будет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ли база данных однородной, то есть, будут ли все серверы баз данных продуктами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одного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того же производителя (например, все серверы только </a:t>
            </a:r>
            <a:r>
              <a:rPr lang="ru-RU" dirty="0" err="1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Oracle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).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Если база данных не будет однородной, то какое ПО будет использовано для обмена данными между СУБД разных производителей (уже существующее или разработанное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специально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как часть проекта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); </a:t>
            </a:r>
            <a:endParaRPr lang="ru-RU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будут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ли для достижения должной производительности использоваться параллельные серверы баз данных (например, </a:t>
            </a:r>
            <a:r>
              <a:rPr lang="ru-RU" dirty="0" err="1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Oracle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ru-RU" dirty="0" err="1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Parallel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ru-RU" dirty="0" err="1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Server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).</a:t>
            </a:r>
            <a:endParaRPr lang="ru-RU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082434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51520" y="872716"/>
            <a:ext cx="8460940" cy="519013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Конечными продуктами этапа проектирования являются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</a:t>
            </a:r>
          </a:p>
          <a:p>
            <a:pPr marL="808038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схема </a:t>
            </a: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базы данных (на основании ER-модели, разработанной на этапе анализа); </a:t>
            </a:r>
          </a:p>
          <a:p>
            <a:pPr marL="808038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набор </a:t>
            </a: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спецификаций модулей системы </a:t>
            </a: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(строятся </a:t>
            </a: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на базе моделей функций</a:t>
            </a: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).</a:t>
            </a:r>
          </a:p>
          <a:p>
            <a:pPr marL="808038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Этап проектирования завершается разработкой </a:t>
            </a:r>
            <a:r>
              <a:rPr lang="ru-RU" sz="2800" dirty="0">
                <a:solidFill>
                  <a:srgbClr val="800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технического проекта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ИС.</a:t>
            </a:r>
            <a:endParaRPr lang="ru-RU" sz="2800" i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0709346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007604" y="1268760"/>
            <a:ext cx="7200800" cy="321857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Реализация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этапе реализации осуществляется создание программного обеспечения системы,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установка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технических средств, разработка эксплуатационной документации.</a:t>
            </a:r>
            <a:endParaRPr lang="ru-RU" sz="2800" i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5765130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79612" y="0"/>
            <a:ext cx="8864388" cy="713913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Тестирование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После завершения разработки отдельного модуля системы выполняют автономный тест, который преследует две основные цели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</a:t>
            </a:r>
          </a:p>
          <a:p>
            <a:pPr marL="895350" lvl="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обнаружение отказов модуля (жестких сбоев); </a:t>
            </a:r>
          </a:p>
          <a:p>
            <a:pPr marL="895350" lvl="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соответствие модуля спецификации (наличие всех необходимых функций, отсутствие лишних функций).</a:t>
            </a:r>
          </a:p>
          <a:p>
            <a:pPr marL="539750" lvl="0" indent="-53975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После прохождения автономного теста модуль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включается в состав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разработанной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части системы и группа сгенерированных модулей проходит тесты связей, которые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должны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отследить их взаимное влияние.</a:t>
            </a: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endParaRPr lang="ru-RU" sz="2800" i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22863893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0" y="0"/>
            <a:ext cx="9144000" cy="748352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Тестирование</a:t>
            </a:r>
          </a:p>
          <a:p>
            <a:pPr marL="457200" indent="-457200"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Далее </a:t>
            </a: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группа модулей тестируется на надежность работы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то есть проходят, во-первых, </a:t>
            </a:r>
            <a:r>
              <a:rPr lang="ru-RU" i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тесты имитации отказов системы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а во-вторых, </a:t>
            </a:r>
            <a:r>
              <a:rPr lang="ru-RU" i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тесты наработки на отказ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</a:t>
            </a:r>
          </a:p>
          <a:p>
            <a:pPr marL="457200" indent="-457200"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комплект тестов устойчивости должны входить </a:t>
            </a:r>
            <a:r>
              <a:rPr lang="ru-RU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тесты, имитирующие пиковую нагрузку на систему.</a:t>
            </a:r>
          </a:p>
          <a:p>
            <a:pPr marL="457200" indent="-457200"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Затем весь комплект модулей проходит </a:t>
            </a:r>
            <a:r>
              <a:rPr lang="ru-RU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системный тест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– тест внутренней приемки продукта, показывающий уровень его качества. Сюда входят </a:t>
            </a:r>
            <a:r>
              <a:rPr lang="ru-RU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тесты функциональности и тесты надежности системы.</a:t>
            </a:r>
          </a:p>
          <a:p>
            <a:pPr marL="457200" indent="-457200"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Последний тест информационной системы – </a:t>
            </a:r>
            <a:r>
              <a:rPr lang="ru-RU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приемо-сдаточные испытания.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Такой тест предусматривает показ информационной системы заказчику и должен содержать группу тестов, моделирующих реальные бизнес-процессы, чтобы показать соответствие реализации требованиям заказчика.</a:t>
            </a:r>
          </a:p>
          <a:p>
            <a:pPr marL="457200" indent="-457200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44078118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539552" y="764704"/>
            <a:ext cx="7488832" cy="473757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Необходимость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контролировать процесс создания ИС, гарантировать достижение целей разработки и соблюдение различных ограничений (бюджетных, временных и пр.) привело к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широкому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использованию в этой сфере методов и средств </a:t>
            </a:r>
            <a:r>
              <a:rPr lang="ru-RU" sz="2800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программной инженерии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структурного анализа, объектно-ориентированного моделирования, CASE-систем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256490643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236538" y="800100"/>
            <a:ext cx="8916987" cy="5373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Сложность описания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(достаточно большое количество функций, процессов, элементов данных и сложные взаимосвязи между ними), требующая тщательною моделирования и анализа данных и процессов;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Наличие совокупности тесно взаимодействующих компонентов (подсистем)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, имеющих локальные задачи и цели функционирования (например, традиционных приложений, связанных с обработкой транзакций и решением регламентных задач, и приложений аналитической обработки (поддержки принятия решений), использующих нерегламентированные запросы к данным);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Отсутствие полных аналогов</a:t>
            </a:r>
            <a:r>
              <a:rPr kumimoji="1" lang="ru-RU" b="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 ограничивающее возможность использования каких-либо типовых проектных решений и прикладных систем; 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0163" y="87313"/>
            <a:ext cx="9329737" cy="5381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Особенности современных крупных проектов ИС</a:t>
            </a:r>
          </a:p>
        </p:txBody>
      </p:sp>
    </p:spTree>
    <p:extLst>
      <p:ext uri="{BB962C8B-B14F-4D97-AF65-F5344CB8AC3E}">
        <p14:creationId xmlns:p14="http://schemas.microsoft.com/office/powerpoint/2010/main" xmlns="" val="184156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79512" y="671691"/>
            <a:ext cx="8718550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5600" indent="-355600">
              <a:lnSpc>
                <a:spcPct val="110000"/>
              </a:lnSpc>
              <a:buClr>
                <a:srgbClr val="CC0000"/>
              </a:buClr>
              <a:buSzPct val="110000"/>
              <a:buFont typeface="+mj-lt"/>
              <a:buAutoNum type="arabicPeriod" startAt="4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Необходимость интеграции </a:t>
            </a: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существующих и вновь разрабатываемых приложений;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4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Функционирование в неоднородной среде </a:t>
            </a: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на нескольких аппаратных платформах;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4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Разобщенность и разнородность отдельных групп разработчиков </a:t>
            </a: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по уровню квалификации и сложившимся традициям использования тех или иных инструментальных средств;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4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Значительная временная протяженность проекта</a:t>
            </a: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, обусловленная, с одной стороны, ограниченными возможностями коллектива разработчиков, и, с другой стороны, масштабами организации-заказчика и различной степенью готовности отдельных ее подразделений к внедрению ИС.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244475" y="130304"/>
            <a:ext cx="8970963" cy="53790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Особенности современных крупных проектов ИС</a:t>
            </a:r>
          </a:p>
        </p:txBody>
      </p:sp>
    </p:spTree>
    <p:extLst>
      <p:ext uri="{BB962C8B-B14F-4D97-AF65-F5344CB8AC3E}">
        <p14:creationId xmlns:p14="http://schemas.microsoft.com/office/powerpoint/2010/main" xmlns="" val="148202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07503" y="1196752"/>
            <a:ext cx="9036497" cy="5721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Аналитику сложно получить исчерпывающую информацию для оценки требований к системе с точки зрения заказчика;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Заказчик, в свою очередь, не имеет достаточной ин формации о проблеме обработки данных, чтобы судить что является выполнимым, а что – невыполнимым;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Аналитик сталкивается с чрезмерным количеством подробных сведений о предметной области и о новой системе;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Спецификация системы из-за объема технических терминов часто непонятна для заказчика.</a:t>
            </a:r>
          </a:p>
          <a:p>
            <a:pPr marL="628650">
              <a:lnSpc>
                <a:spcPct val="110000"/>
              </a:lnSpc>
              <a:spcBef>
                <a:spcPts val="600"/>
              </a:spcBef>
              <a:buClr>
                <a:srgbClr val="CC0000"/>
              </a:buClr>
              <a:defRPr/>
            </a:pPr>
            <a:r>
              <a:rPr kumimoji="1" lang="ru-RU" sz="2000" b="0" i="1" dirty="0" smtClean="0">
                <a:solidFill>
                  <a:srgbClr val="212745">
                    <a:lumMod val="25000"/>
                  </a:srgbClr>
                </a:solidFill>
                <a:latin typeface="Arial" charset="0"/>
              </a:rPr>
              <a:t>Эти </a:t>
            </a:r>
            <a:r>
              <a:rPr kumimoji="1" lang="ru-RU" sz="2000" b="0" i="1" dirty="0">
                <a:solidFill>
                  <a:srgbClr val="212745">
                    <a:lumMod val="25000"/>
                  </a:srgbClr>
                </a:solidFill>
                <a:latin typeface="Arial" charset="0"/>
              </a:rPr>
              <a:t>проблемы могут быть существенно облегчены за счет применения современных структурных методов, среди которых центральное место занимают </a:t>
            </a:r>
            <a:r>
              <a:rPr kumimoji="1" lang="ru-RU" b="0" i="1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методологии структурного анализа.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55781" y="13964"/>
            <a:ext cx="8299450" cy="1041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Проблемы, возникающие при проектировании ИС:</a:t>
            </a:r>
          </a:p>
        </p:txBody>
      </p:sp>
    </p:spTree>
    <p:extLst>
      <p:ext uri="{BB962C8B-B14F-4D97-AF65-F5344CB8AC3E}">
        <p14:creationId xmlns:p14="http://schemas.microsoft.com/office/powerpoint/2010/main" xmlns="" val="155590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90500"/>
            <a:ext cx="9144001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533400" y="2082362"/>
            <a:ext cx="8208963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400" dirty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C00000"/>
                </a:solidFill>
                <a:latin typeface="Arial" charset="0"/>
              </a:rPr>
              <a:t>Принципы создания ИС</a:t>
            </a:r>
          </a:p>
          <a:p>
            <a:pPr algn="ctr">
              <a:defRPr/>
            </a:pPr>
            <a:endParaRPr lang="ru-RU" sz="4400" dirty="0">
              <a:ln w="22225">
                <a:solidFill>
                  <a:srgbClr val="3333CC"/>
                </a:solidFill>
                <a:prstDash val="solid"/>
              </a:ln>
              <a:solidFill>
                <a:srgbClr val="C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693962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36525" y="536575"/>
            <a:ext cx="8916988" cy="645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системности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позволяет подойти к исследуемому объекту как единому целому; выявить на этой основе многообразные типы связей между структурными элементами, обеспечивающими целостность системы; установить направление производственно-хозяйственной деятельности системы и реализуемые ею конкретные функции. Системный подход предполагает проведение </a:t>
            </a:r>
            <a:r>
              <a:rPr kumimoji="1" lang="ru-RU" sz="2000" b="0" dirty="0" err="1">
                <a:solidFill>
                  <a:srgbClr val="000000"/>
                </a:solidFill>
                <a:latin typeface="Arial" charset="0"/>
              </a:rPr>
              <a:t>двухаспектного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 анализа, получившего название микро- и </a:t>
            </a:r>
            <a:r>
              <a:rPr kumimoji="1" lang="ru-RU" sz="2000" b="0" dirty="0" err="1">
                <a:solidFill>
                  <a:srgbClr val="000000"/>
                </a:solidFill>
                <a:latin typeface="Arial" charset="0"/>
              </a:rPr>
              <a:t>макроподхода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.</a:t>
            </a:r>
          </a:p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При </a:t>
            </a:r>
            <a:r>
              <a:rPr kumimoji="1" lang="ru-RU" sz="2000" b="0" dirty="0" err="1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макроанализе</a:t>
            </a: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система и ее элемент рассматриваются как часть системы более высокого порядка. Особое внимание уделяется, информационным связям: устанавливается их число, выделяются и анализируются те связи, которые обусловлены целью изучения системы, а затем выбираются наиболее предпочтительные, реализующие заданную целевую функцию.</a:t>
            </a:r>
          </a:p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При </a:t>
            </a:r>
            <a:r>
              <a:rPr kumimoji="1" lang="ru-RU" sz="2000" b="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микроанализе</a:t>
            </a:r>
            <a:r>
              <a:rPr kumimoji="1" lang="ru-RU" b="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изучается структура объекта, анализируются составляющие </a:t>
            </a:r>
            <a:r>
              <a:rPr kumimoji="1" lang="ru-RU" sz="2000" b="0" dirty="0" smtClean="0">
                <a:solidFill>
                  <a:srgbClr val="000000"/>
                </a:solidFill>
                <a:latin typeface="Arial" charset="0"/>
              </a:rPr>
              <a:t>ее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элементы с точки зрения их функциональных характеристик, проявляющихся через связи с другими элементами и внешней средой. 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52425" y="10449"/>
            <a:ext cx="8299450" cy="53790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Основополагающие принципы создания ИС:</a:t>
            </a:r>
          </a:p>
        </p:txBody>
      </p:sp>
    </p:spTree>
    <p:extLst>
      <p:ext uri="{BB962C8B-B14F-4D97-AF65-F5344CB8AC3E}">
        <p14:creationId xmlns:p14="http://schemas.microsoft.com/office/powerpoint/2010/main" xmlns="" val="364916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36525" y="536575"/>
            <a:ext cx="8916988" cy="638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5600" indent="-355600">
              <a:lnSpc>
                <a:spcPct val="110000"/>
              </a:lnSpc>
              <a:buClr>
                <a:srgbClr val="CC0000"/>
              </a:buClr>
              <a:buFont typeface="+mj-lt"/>
              <a:buAutoNum type="arabicPeriod" startAt="2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развития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заключается в том, что ИС создастся с учетом возможности постоянного пополнения и обновления функции системы и видов ее обеспечений. Предусматривается, что автоматизированная система должна наращивать свои вычислительные мощности, оснащаться новыми техническими и программными средствами, быть способной постоянно расширять и обновлять круг задач и информационный фонд, создаваемый в виде системы баз данных.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2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комплексности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требует, чтобы в процессе проектирования ИС была обеспечена связность проектирования отдельных элементов и всего объекта в целом на всех стадиях. 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2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совместимости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обеспечивает способность взаимодействия ИС различных видов, уровней в процессе их совместного функционирования. 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2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стандартизации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и унификации предполагает применение типовых, унифицированных и стандартизированных элементов функционирования ИС. 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52425" y="10449"/>
            <a:ext cx="8299450" cy="53790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Основополагающие принципы создания ИС:</a:t>
            </a:r>
          </a:p>
        </p:txBody>
      </p:sp>
    </p:spTree>
    <p:extLst>
      <p:ext uri="{BB962C8B-B14F-4D97-AF65-F5344CB8AC3E}">
        <p14:creationId xmlns:p14="http://schemas.microsoft.com/office/powerpoint/2010/main" xmlns="" val="61978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-8901" y="404664"/>
            <a:ext cx="8988871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5600" indent="-355600">
              <a:lnSpc>
                <a:spcPct val="110000"/>
              </a:lnSpc>
              <a:buClr>
                <a:srgbClr val="CC0000"/>
              </a:buClr>
              <a:buFont typeface="+mj-lt"/>
              <a:buAutoNum type="arabicPeriod" startAt="6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эффективности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заключается и достижении рационального соотношения между затратами на создание ИС и целевым эффектом, получаемым при ее функционировании.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6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первого руководителя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предполагает закрепление ответственности при создании системы за заказчиком — руководителем предприятия, организации, т.е. будущим пользователем, который отвечает за ввод в действие и функционирование ИС.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6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новых задач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–</a:t>
            </a:r>
            <a:r>
              <a:rPr kumimoji="1" lang="ru-RU" b="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поиск постоянного расширения возможностей системы, совершенствование процесса управления, получение дополнительных результатных показателей с целью оптимизировать управленческие решения. 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6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автоматизации информационных потоков и документооборота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предусматривает комплексное использование технических средств на всех стадиях прохождения информации, от момента се регистрации до получения результатных показателей, и формирования управленческих решений.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35809" y="-27384"/>
            <a:ext cx="8299450" cy="53790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Основополагающие принципы создания ИС:</a:t>
            </a:r>
          </a:p>
        </p:txBody>
      </p:sp>
    </p:spTree>
    <p:extLst>
      <p:ext uri="{BB962C8B-B14F-4D97-AF65-F5344CB8AC3E}">
        <p14:creationId xmlns:p14="http://schemas.microsoft.com/office/powerpoint/2010/main" xmlns="" val="356612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203993" y="1052736"/>
            <a:ext cx="8916988" cy="571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абстрагирования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заключается в выделении существенных </a:t>
            </a:r>
            <a:r>
              <a:rPr kumimoji="1" lang="ru-RU" sz="2000" b="0" dirty="0" smtClean="0">
                <a:solidFill>
                  <a:srgbClr val="000000"/>
                </a:solidFill>
                <a:latin typeface="Arial" charset="0"/>
              </a:rPr>
              <a:t>аспектов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системы и отвлечении от несущественных в целях представления проблемы в более простом общем виде, удобном для анализа и проектирования.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формализации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определяет необходимость использования строгого методического подхода к решению проблемы, формализованных методов описания и моделирования изучаемых и проектируемых </a:t>
            </a:r>
            <a:r>
              <a:rPr kumimoji="1" lang="ru-RU" sz="2000" b="0" dirty="0" smtClean="0">
                <a:solidFill>
                  <a:srgbClr val="000000"/>
                </a:solidFill>
                <a:latin typeface="Arial" charset="0"/>
              </a:rPr>
              <a:t>процессов.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</a:t>
            </a: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концептуальной общности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требует неукоснительного следования единой методологии на всех этапах проектирования автоматизированной системы и всех ее составляющих.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непротиворечивости и полноты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заключается в наличии всех необходимых элементов во вновь создаваемой системе и согласованном их взаимодействии.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4370" y="0"/>
            <a:ext cx="9324975" cy="101188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Организационно-технологические принципы создания ИС:</a:t>
            </a:r>
          </a:p>
        </p:txBody>
      </p:sp>
    </p:spTree>
    <p:extLst>
      <p:ext uri="{BB962C8B-B14F-4D97-AF65-F5344CB8AC3E}">
        <p14:creationId xmlns:p14="http://schemas.microsoft.com/office/powerpoint/2010/main" xmlns="" val="271364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36525" y="1016000"/>
            <a:ext cx="8916988" cy="4222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63538" indent="-363538">
              <a:lnSpc>
                <a:spcPct val="110000"/>
              </a:lnSpc>
              <a:buClr>
                <a:srgbClr val="CC0000"/>
              </a:buClr>
              <a:buFont typeface="+mj-lt"/>
              <a:buAutoNum type="arabicPeriod" startAt="5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независимости данных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предполагает, что модели данных должны быть проанализированы и спроектированы независимо от процессов их обработки, а также от их физической структуры и распределения в технической среде.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5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структурирования данных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предусматривает необходимость структурирования и иерархической организации элементов информационной базы системы.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5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доступа конечного пользователя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заключается в том, что пользователь должен иметь средства доступа к базе данных, которые он может использовать непосредственно (без программирования).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14288" y="-67789"/>
            <a:ext cx="9324975" cy="101188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Организационно-технологические принципы создания ИС:</a:t>
            </a:r>
          </a:p>
        </p:txBody>
      </p:sp>
    </p:spTree>
    <p:extLst>
      <p:ext uri="{BB962C8B-B14F-4D97-AF65-F5344CB8AC3E}">
        <p14:creationId xmlns:p14="http://schemas.microsoft.com/office/powerpoint/2010/main" xmlns="" val="265457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439652" y="2672916"/>
            <a:ext cx="7488832" cy="6955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defRPr/>
            </a:pPr>
            <a:r>
              <a:rPr lang="ru-RU" sz="4000" dirty="0">
                <a:solidFill>
                  <a:schemeClr val="bg2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Спасибо за </a:t>
            </a:r>
            <a:r>
              <a:rPr lang="ru-RU" sz="4000" dirty="0" smtClean="0">
                <a:solidFill>
                  <a:schemeClr val="bg2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внимание!</a:t>
            </a:r>
            <a:endParaRPr lang="ru-RU" sz="4000" dirty="0">
              <a:solidFill>
                <a:schemeClr val="bg2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2185776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Воздушный поток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Воздушный поток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оздушный поток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Оформление по умолчанию">
  <a:themeElements>
    <a:clrScheme name="Оформление по умолчанию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Оформление по умолчанию">
  <a:themeElements>
    <a:clrScheme name="Оформление по умолчанию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5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5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5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9802</TotalTime>
  <Words>4345</Words>
  <Application>Microsoft Office PowerPoint</Application>
  <PresentationFormat>Экран (4:3)</PresentationFormat>
  <Paragraphs>390</Paragraphs>
  <Slides>71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6</vt:i4>
      </vt:variant>
      <vt:variant>
        <vt:lpstr>Заголовки слайдов</vt:lpstr>
      </vt:variant>
      <vt:variant>
        <vt:i4>71</vt:i4>
      </vt:variant>
    </vt:vector>
  </HeadingPairs>
  <TitlesOfParts>
    <vt:vector size="77" baseType="lpstr">
      <vt:lpstr>Оформление по умолчанию</vt:lpstr>
      <vt:lpstr>3_Воздушный поток</vt:lpstr>
      <vt:lpstr>1_Оформление по умолчанию</vt:lpstr>
      <vt:lpstr>2_Оформление по умолчанию</vt:lpstr>
      <vt:lpstr>Тема Office</vt:lpstr>
      <vt:lpstr>1_Тема Office</vt:lpstr>
      <vt:lpstr>Слайд 1</vt:lpstr>
      <vt:lpstr>Слайд 2</vt:lpstr>
      <vt:lpstr>Слайд 3</vt:lpstr>
      <vt:lpstr>Литература </vt:lpstr>
      <vt:lpstr>Литература 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Подсистемы ИС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  <vt:lpstr>Слайд 42</vt:lpstr>
      <vt:lpstr>Слайд 43</vt:lpstr>
      <vt:lpstr>Слайд 44</vt:lpstr>
      <vt:lpstr>Слайд 45</vt:lpstr>
      <vt:lpstr>Слайд 46</vt:lpstr>
      <vt:lpstr>Слайд 47</vt:lpstr>
      <vt:lpstr>Слайд 48</vt:lpstr>
      <vt:lpstr>Слайд 49</vt:lpstr>
      <vt:lpstr>Слайд 50</vt:lpstr>
      <vt:lpstr>Слайд 51</vt:lpstr>
      <vt:lpstr>Слайд 52</vt:lpstr>
      <vt:lpstr>Слайд 53</vt:lpstr>
      <vt:lpstr>Слайд 54</vt:lpstr>
      <vt:lpstr>Слайд 55</vt:lpstr>
      <vt:lpstr>Слайд 56</vt:lpstr>
      <vt:lpstr>Слайд 57</vt:lpstr>
      <vt:lpstr>Слайд 58</vt:lpstr>
      <vt:lpstr>Слайд 59</vt:lpstr>
      <vt:lpstr>Слайд 60</vt:lpstr>
      <vt:lpstr>Слайд 61</vt:lpstr>
      <vt:lpstr>Слайд 62</vt:lpstr>
      <vt:lpstr>Слайд 63</vt:lpstr>
      <vt:lpstr>Слайд 64</vt:lpstr>
      <vt:lpstr>Слайд 65</vt:lpstr>
      <vt:lpstr>Слайд 66</vt:lpstr>
      <vt:lpstr>Слайд 67</vt:lpstr>
      <vt:lpstr>Слайд 68</vt:lpstr>
      <vt:lpstr>Слайд 69</vt:lpstr>
      <vt:lpstr>Слайд 70</vt:lpstr>
      <vt:lpstr>Слайд 71</vt:lpstr>
    </vt:vector>
  </TitlesOfParts>
  <Company>izba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domovoy</dc:creator>
  <cp:lastModifiedBy>алекс</cp:lastModifiedBy>
  <cp:revision>696</cp:revision>
  <dcterms:created xsi:type="dcterms:W3CDTF">2003-09-15T09:05:12Z</dcterms:created>
  <dcterms:modified xsi:type="dcterms:W3CDTF">2024-10-30T06:58:15Z</dcterms:modified>
</cp:coreProperties>
</file>