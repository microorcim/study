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8" r:id="rId6"/>
    <p:sldId id="269" r:id="rId7"/>
    <p:sldId id="270" r:id="rId8"/>
    <p:sldId id="271" r:id="rId9"/>
    <p:sldId id="279" r:id="rId10"/>
    <p:sldId id="280" r:id="rId11"/>
    <p:sldId id="281" r:id="rId12"/>
    <p:sldId id="282" r:id="rId13"/>
    <p:sldId id="266" r:id="rId14"/>
    <p:sldId id="275" r:id="rId15"/>
    <p:sldId id="283" r:id="rId16"/>
    <p:sldId id="276" r:id="rId17"/>
    <p:sldId id="277" r:id="rId18"/>
    <p:sldId id="278" r:id="rId19"/>
    <p:sldId id="272" r:id="rId20"/>
    <p:sldId id="273" r:id="rId21"/>
    <p:sldId id="274" r:id="rId22"/>
    <p:sldId id="267" r:id="rId23"/>
    <p:sldId id="26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73403" autoAdjust="0"/>
  </p:normalViewPr>
  <p:slideViewPr>
    <p:cSldViewPr snapToGrid="0">
      <p:cViewPr varScale="1">
        <p:scale>
          <a:sx n="84" d="100"/>
          <a:sy n="84" d="100"/>
        </p:scale>
        <p:origin x="15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57199-40A9-4A20-95E1-0CA46D097994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E433C-DFF8-4567-9EF2-7C619A7A3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46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433C-DFF8-4567-9EF2-7C619A7A3CA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921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рассматривать сложность которая возникает при разработке создании информационных систем</a:t>
            </a:r>
          </a:p>
          <a:p>
            <a:r>
              <a:rPr lang="ru-RU" dirty="0"/>
              <a:t>Со стороны закона, сложностей описания таких систем, ограничения финансов и прочих</a:t>
            </a:r>
          </a:p>
          <a:p>
            <a:r>
              <a:rPr lang="ru-RU" dirty="0"/>
              <a:t>В Америке в конце семидесятых годов осознали эту проблему</a:t>
            </a:r>
          </a:p>
          <a:p>
            <a:r>
              <a:rPr lang="ru-RU" dirty="0"/>
              <a:t>В качестве её решения была разработана система </a:t>
            </a:r>
            <a:r>
              <a:rPr lang="ru-RU" dirty="0" err="1"/>
              <a:t>icam</a:t>
            </a:r>
            <a:r>
              <a:rPr lang="ru-RU" dirty="0"/>
              <a:t> - интегрированной в компьютеризации производства который была направлена на повсеместное использование компьютерных технологий для повышения эффективности</a:t>
            </a:r>
          </a:p>
          <a:p>
            <a:r>
              <a:rPr lang="ru-RU" dirty="0"/>
              <a:t>Во время разработки система потребовала адекватного анализа и проектирования информационных систем и обмен информацией</a:t>
            </a:r>
          </a:p>
          <a:p>
            <a:r>
              <a:rPr lang="ru-RU" dirty="0"/>
              <a:t>То есть потребовались инструменты с помощью которых возможно автоматизировать любой процесс</a:t>
            </a:r>
          </a:p>
          <a:p>
            <a:r>
              <a:rPr lang="ru-RU" dirty="0"/>
              <a:t>Процесс автоматизации сложен именно со стороны предметной области</a:t>
            </a:r>
          </a:p>
          <a:p>
            <a:r>
              <a:rPr lang="ru-RU" dirty="0"/>
              <a:t>А набор кейс как инструментов способен упростить и повысить качество информационных систем</a:t>
            </a:r>
          </a:p>
          <a:p>
            <a:r>
              <a:rPr lang="ru-RU" dirty="0"/>
              <a:t>Высокое качество отсутствие ошибок и простоту обслуживания ПО</a:t>
            </a:r>
          </a:p>
          <a:p>
            <a:endParaRPr lang="ru-RU" dirty="0"/>
          </a:p>
          <a:p>
            <a:r>
              <a:rPr lang="ru-RU" dirty="0"/>
              <a:t>Под кейс средствами понимают  все программные средства которые поддерживают процессы создания и сопровождения программных продуктов как систем</a:t>
            </a:r>
          </a:p>
          <a:p>
            <a:r>
              <a:rPr lang="ru-RU" dirty="0"/>
              <a:t>То есть поддерживает все этапы жизненного цикла продукта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433C-DFF8-4567-9EF2-7C619A7A3CA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067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CASE представляют собой методологию проектирования информационных систем  а также набор инструментальных средств для моделирования предметной области на всех этапах жизненного цикла программного продукта</a:t>
            </a:r>
          </a:p>
          <a:p>
            <a:r>
              <a:rPr lang="ru-RU" dirty="0"/>
              <a:t>Большую часть кейс подходов используют структурный и объектно-ориентированный подход</a:t>
            </a:r>
            <a:endParaRPr lang="en-US" dirty="0"/>
          </a:p>
          <a:p>
            <a:endParaRPr lang="en-US" dirty="0"/>
          </a:p>
          <a:p>
            <a:r>
              <a:rPr lang="ru-RU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Структурированные кейсы 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Можно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ru-RU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Неструктурированные кейсы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433C-DFF8-4567-9EF2-7C619A7A3CA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814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рамках структурного подхода выделяют  методологии SADT DFT ERD </a:t>
            </a:r>
          </a:p>
          <a:p>
            <a:r>
              <a:rPr lang="ru-RU" dirty="0"/>
              <a:t>Эти методологии позволяют автоматизировать различную информацию которая поступает из внешних систем</a:t>
            </a:r>
          </a:p>
          <a:p>
            <a:r>
              <a:rPr lang="ru-RU" dirty="0"/>
              <a:t>Эти три методологии в основном используются структурном подходе при процедурной реализации</a:t>
            </a:r>
          </a:p>
          <a:p>
            <a:endParaRPr lang="ru-RU" dirty="0"/>
          </a:p>
          <a:p>
            <a:r>
              <a:rPr lang="ru-RU" dirty="0"/>
              <a:t>SADT методология структурного анализа и проектирования которая позволяет управлять конфигурацией проекта</a:t>
            </a:r>
          </a:p>
          <a:p>
            <a:r>
              <a:rPr lang="ru-RU" dirty="0"/>
              <a:t>Используют инструменты которые позволяют непосредственно работать с кодом ( формирование кода редактирования кода рефакторинг кода)  формировать документацию</a:t>
            </a:r>
          </a:p>
          <a:p>
            <a:r>
              <a:rPr lang="ru-RU" dirty="0"/>
              <a:t>Это методологии охватывает все этапы жизненного цикла и даже автоматизирует</a:t>
            </a:r>
          </a:p>
          <a:p>
            <a:endParaRPr lang="ru-RU" dirty="0"/>
          </a:p>
          <a:p>
            <a:r>
              <a:rPr lang="ru-RU" dirty="0"/>
              <a:t>DFT методология графического структурного анализа которая позволяет описывать внешние со стороны информационной системы источники логические функции и прочее</a:t>
            </a:r>
          </a:p>
          <a:p>
            <a:endParaRPr lang="ru-RU" dirty="0"/>
          </a:p>
          <a:p>
            <a:r>
              <a:rPr lang="ru-RU" dirty="0"/>
              <a:t>ERD  методология которая используются в базе данных </a:t>
            </a:r>
          </a:p>
          <a:p>
            <a:r>
              <a:rPr lang="ru-RU" dirty="0"/>
              <a:t>Используются для проектирования баз данных</a:t>
            </a:r>
          </a:p>
          <a:p>
            <a:r>
              <a:rPr lang="ru-RU" dirty="0"/>
              <a:t>ER диаграмма позволяет проектировать и выделять сущности  и атрибуты этих сущностей определить связи между этими сущностями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433C-DFF8-4567-9EF2-7C619A7A3CA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656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433C-DFF8-4567-9EF2-7C619A7A3CA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345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IDEF0 — методология функционального моделирования, предназначенная для формализации и описания бизнес-процессов. Отличительной особенностью IDEF0 является её акцент на соподчинённость объектов. В IDEF0 рассматриваются логические отношения между работами, а не их временная последовательность (поток работ).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433C-DFF8-4567-9EF2-7C619A7A3CA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914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IDEF3 — методология моделирования и стандарт документирования процессов, происходящих в системе. Метод документирования технологических процессов представляет собой механизм документирования и сбора информации о процессах. IDEF3 показывает причинно-следственные связи между ситуациями и событиями в понятной эксперту форме, используя структурный метод выражения знаний о том, как функционирует система, процесс или предприятие.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433C-DFF8-4567-9EF2-7C619A7A3CA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860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экране  этапы жизненного цикла и методология SADT  и то как она позволяет выполнять дети или иные действия в рамках того или иного этапа жизненного цикла</a:t>
            </a:r>
          </a:p>
          <a:p>
            <a:r>
              <a:rPr lang="ru-RU" dirty="0"/>
              <a:t>Важная часть методологией является полное выполнение каждого шага жизненного цикла</a:t>
            </a:r>
          </a:p>
          <a:p>
            <a:r>
              <a:rPr lang="ru-RU" dirty="0"/>
              <a:t>Если не уделить достаточное внимание анализу или проектированию то возникнут проблемы в реализации или тестировании</a:t>
            </a:r>
          </a:p>
          <a:p>
            <a:r>
              <a:rPr lang="ru-RU" dirty="0"/>
              <a:t>Что приведёт к невыполнению поставленных целей и задач</a:t>
            </a:r>
          </a:p>
          <a:p>
            <a:endParaRPr lang="ru-RU" dirty="0"/>
          </a:p>
          <a:p>
            <a:r>
              <a:rPr lang="ru-RU" dirty="0"/>
              <a:t>В рамках курсовой работы  мы должны во-первых  определить Какие задачи какие функции будет выполнять информационная система</a:t>
            </a:r>
          </a:p>
          <a:p>
            <a:r>
              <a:rPr lang="ru-RU" dirty="0"/>
              <a:t>Определить перечень пользователей  и программ аналогов</a:t>
            </a:r>
          </a:p>
          <a:p>
            <a:endParaRPr lang="ru-RU" dirty="0"/>
          </a:p>
          <a:p>
            <a:r>
              <a:rPr lang="ru-RU" dirty="0"/>
              <a:t>40% разработки информационной системы должно уйти на этап анализа и проектирования</a:t>
            </a:r>
          </a:p>
          <a:p>
            <a:r>
              <a:rPr lang="ru-RU" dirty="0"/>
              <a:t>На этапе анализа Необходимо определить действия функции и интерфейс будущей программы</a:t>
            </a:r>
          </a:p>
          <a:p>
            <a:r>
              <a:rPr lang="ru-RU" dirty="0"/>
              <a:t>Если уделить недостаточно времени и анализу получится не сформированная информационная система </a:t>
            </a:r>
          </a:p>
          <a:p>
            <a:r>
              <a:rPr lang="ru-RU" dirty="0"/>
              <a:t>Ожидание пользователей будут не реализованы</a:t>
            </a:r>
          </a:p>
          <a:p>
            <a:r>
              <a:rPr lang="ru-RU" dirty="0"/>
              <a:t>Поэтому этап анализа и проектирования являются самыми важными этапами потому что на них определяются с чем мы будем работать и что нам нужно сделать</a:t>
            </a:r>
          </a:p>
          <a:p>
            <a:endParaRPr lang="ru-RU" dirty="0"/>
          </a:p>
          <a:p>
            <a:r>
              <a:rPr lang="ru-RU" dirty="0"/>
              <a:t>Есть информационная система является достаточно большой то на этапе реализации её будут реализовывать несколько людей</a:t>
            </a:r>
          </a:p>
          <a:p>
            <a:r>
              <a:rPr lang="ru-RU" dirty="0"/>
              <a:t>При анализе нужно учитывать и разделять систему на подсистемы так как есть специалисты в своих сферах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433C-DFF8-4567-9EF2-7C619A7A3CA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774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433C-DFF8-4567-9EF2-7C619A7A3CA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583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экране отображено вариация классификации CASE  средств по типам  в зависимости от назначения</a:t>
            </a:r>
          </a:p>
          <a:p>
            <a:r>
              <a:rPr lang="ru-RU" dirty="0"/>
              <a:t>То есть некоторые программные продукты  используется только для анализа моделей некоторые для проектирования баз данных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433C-DFF8-4567-9EF2-7C619A7A3CA4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070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433C-DFF8-4567-9EF2-7C619A7A3CA4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42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70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31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58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84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07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280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95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20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223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115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69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FC1A32F-F964-4D09-B681-F1A45D59966C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287B541-5D1A-4EB9-AB8E-9A80FF539437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50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77EC8-C2F5-4F9B-B57A-6E9505B7A5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Классификация </a:t>
            </a:r>
            <a:r>
              <a:rPr lang="en-US" dirty="0"/>
              <a:t>CASE-</a:t>
            </a:r>
            <a:r>
              <a:rPr lang="ru-RU" dirty="0"/>
              <a:t>технологий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48AB5F-6E02-403C-BCA6-2DD4AF6A98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5053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9FDF3-AEA8-4F3D-9B42-8A4EE3AE8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CASE-технология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A62CA8-1A6B-494A-8758-E58B718DF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2297430"/>
          </a:xfrm>
        </p:spPr>
        <p:txBody>
          <a:bodyPr/>
          <a:lstStyle/>
          <a:p>
            <a:r>
              <a:rPr lang="ru-RU" dirty="0"/>
              <a:t>CASE (Computer-</a:t>
            </a:r>
            <a:r>
              <a:rPr lang="ru-RU" dirty="0" err="1"/>
              <a:t>Aided</a:t>
            </a:r>
            <a:r>
              <a:rPr lang="ru-RU" dirty="0"/>
              <a:t> Software/System Engineering) — направление в программной инженерии. Содержание этого понятия обычно определяется перечнем задач, решаемых с помощью CASE, а также совокупностью применяемых методов и средств. Очень грубо, CASE-технология представляет собой совокупность методологий анализа, проектирования, разработки и сопровождения сложных систем программного обеспечения, поддержанную комплексом взаимоувязанных средств автоматизации</a:t>
            </a:r>
          </a:p>
        </p:txBody>
      </p:sp>
    </p:spTree>
    <p:extLst>
      <p:ext uri="{BB962C8B-B14F-4D97-AF65-F5344CB8AC3E}">
        <p14:creationId xmlns:p14="http://schemas.microsoft.com/office/powerpoint/2010/main" val="39294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00A71D-E292-452F-9319-0DAB4AA0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Главные подходы CASE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C76ED75-B77C-4E34-A0B3-F10A4DD8B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69373" y="1863090"/>
            <a:ext cx="5863632" cy="4022725"/>
          </a:xfrm>
        </p:spPr>
      </p:pic>
    </p:spTree>
    <p:extLst>
      <p:ext uri="{BB962C8B-B14F-4D97-AF65-F5344CB8AC3E}">
        <p14:creationId xmlns:p14="http://schemas.microsoft.com/office/powerpoint/2010/main" val="1150052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A5DDF-E6D3-4A04-8A39-71C26E79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40030"/>
            <a:ext cx="9720072" cy="2228850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Структурный подход подразумевает использование определенных общепринятых методологий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7DF0921-0565-45D1-B1B2-DEF4BE5C3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26140"/>
          <a:stretch/>
        </p:blipFill>
        <p:spPr>
          <a:xfrm>
            <a:off x="2284426" y="2468880"/>
            <a:ext cx="7623147" cy="4065083"/>
          </a:xfrm>
        </p:spPr>
      </p:pic>
    </p:spTree>
    <p:extLst>
      <p:ext uri="{BB962C8B-B14F-4D97-AF65-F5344CB8AC3E}">
        <p14:creationId xmlns:p14="http://schemas.microsoft.com/office/powerpoint/2010/main" val="496044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2FC1E-2358-4659-A031-50A2016DE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Fira Sans" panose="020B0604020202020204" pitchFamily="34" charset="0"/>
              </a:rPr>
              <a:t>DFD методология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2A4DF4-ACE1-4E6D-908C-4B92B3CEE96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55" r="47477"/>
          <a:stretch/>
        </p:blipFill>
        <p:spPr bwMode="auto">
          <a:xfrm>
            <a:off x="548544" y="1947671"/>
            <a:ext cx="2983325" cy="462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B9166B0C-A971-4262-9B8F-19F13FD27B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DFD создана с целью наглядно показать визуально показать все процессы с точки зрения данных</a:t>
            </a:r>
          </a:p>
          <a:p>
            <a:r>
              <a:rPr lang="en-US" dirty="0"/>
              <a:t>DFD </a:t>
            </a:r>
            <a:r>
              <a:rPr lang="ru-RU" dirty="0"/>
              <a:t>один из основных инструментов структурного анализа и проектирования информационных систем</a:t>
            </a:r>
            <a:endParaRPr lang="en-US" dirty="0"/>
          </a:p>
          <a:p>
            <a:r>
              <a:rPr lang="ru-RU" dirty="0"/>
              <a:t>На данный момент устарел, ему на замену пришел </a:t>
            </a:r>
            <a:r>
              <a:rPr lang="en-US" dirty="0"/>
              <a:t>UML 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3444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92BB8-BF38-46BC-8213-32F48A8C7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06400"/>
            <a:ext cx="9720072" cy="1678432"/>
          </a:xfrm>
        </p:spPr>
        <p:txBody>
          <a:bodyPr>
            <a:normAutofit fontScale="90000"/>
          </a:bodyPr>
          <a:lstStyle/>
          <a:p>
            <a:r>
              <a:rPr lang="en-US" dirty="0"/>
              <a:t>DFD </a:t>
            </a:r>
            <a:r>
              <a:rPr lang="ru-RU" dirty="0" err="1"/>
              <a:t>диограмма</a:t>
            </a:r>
            <a:r>
              <a:rPr lang="ru-RU" dirty="0"/>
              <a:t> на примере регистрации нового пользователя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2D0340-5C29-4B91-82D1-387508010F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4ECF95-B808-4E27-9C57-798807CA54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Новый участник или посетитель вводит данные для регистрации, после чего проводится проверка на правильность и безопасность данных, которые он ввел. В случае если они не прошли проверку ему сообщается об этом. Если же данные прошли проверку они записываются в отведенное для каждого место в базе данных.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9E9E4B-48A2-4A56-B49D-8A13B667531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977" y="2286000"/>
            <a:ext cx="4685030" cy="403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7056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BACB4-7472-416B-A83A-B0A23CA8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 </a:t>
            </a:r>
            <a:r>
              <a:rPr lang="ru-RU" dirty="0"/>
              <a:t>на примере покупки билета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99DC81-1BA7-48EF-9048-0790A4A2F6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Пользователь заполняет данные на странице покупки нового билета. Введенные им данные проходят проверку, если не прошли проверку пользователю сообщается об ошибке. После проверки данные для оплаты отправляются в банк для совершения покупки. В случае отклонения операции банком пользователю сообщается об этом. Если банк провел операцию данные пользователя и данные об оплате билета записываются в базу данных. После этого пользователю сообщается о успешной покупке билета.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A4517A4-FB92-4A5E-A9B3-35B0D119D055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7" y="1883963"/>
            <a:ext cx="3605929" cy="48698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6226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18B98E-5F5E-4A69-B26C-47B8B2AC8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</a:t>
            </a:r>
            <a:r>
              <a:rPr lang="ru-RU" dirty="0"/>
              <a:t>на примере БД Выставочного зала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DD957B-5D10-48FB-8D22-24EC3FE4F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4128" y="4845648"/>
            <a:ext cx="9720072" cy="1463712"/>
          </a:xfrm>
        </p:spPr>
        <p:txBody>
          <a:bodyPr/>
          <a:lstStyle/>
          <a:p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ER-модель используется для проектирования баз данных. С её помощью можно выделить ключевые сущности и обозначить связи, которые могут устанавливаться между этими сущностями.</a:t>
            </a:r>
            <a:endParaRPr lang="ru-RU" dirty="0"/>
          </a:p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FB65143-BD52-41CC-8EB3-DC8493A6FEBC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413" y="2157311"/>
            <a:ext cx="7728178" cy="26158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1339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43BA0-F830-4123-9972-CEB5DF2F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IDEF0</a:t>
            </a:r>
            <a:r>
              <a:rPr lang="ru-RU" dirty="0"/>
              <a:t> </a:t>
            </a:r>
            <a:r>
              <a:rPr lang="ru-RU" b="0" i="0" dirty="0">
                <a:effectLst/>
                <a:latin typeface="Fira Sans" panose="020B0604020202020204" pitchFamily="34" charset="0"/>
              </a:rPr>
              <a:t>методология</a:t>
            </a:r>
            <a:r>
              <a:rPr lang="ru-RU" dirty="0"/>
              <a:t>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616939-8B50-42D7-8706-1B3DF637D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496" y="2286000"/>
            <a:ext cx="4189704" cy="4023360"/>
          </a:xfrm>
        </p:spPr>
        <p:txBody>
          <a:bodyPr/>
          <a:lstStyle/>
          <a:p>
            <a:r>
              <a:rPr lang="ru-RU" dirty="0"/>
              <a:t>Основная цель — моделирование сложных систем, в которых задействованы люди, машины, ресурсы, информационные системы и потоки данных. Модели помогают выявить требования и функции будущей системы.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B8A895-376D-44DE-892E-98C18C79CC9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8" y="2505582"/>
            <a:ext cx="6262078" cy="318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941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E95FC-9FD4-4325-A0B5-DD4794B3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IDEF0</a:t>
            </a:r>
            <a:r>
              <a:rPr lang="ru-RU" dirty="0"/>
              <a:t> на примере модуля отчетов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7F3196-8BDE-44F3-ABFD-90D81CC9E8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Для формирования отчета необходимо указать необходимые для формирования отчета выставки и критерии по которым будет сформирован отчет такие как учитывание конкретных посетителей, подсчет прибыли с выстави и другие.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036DD4C-F5AA-4798-A9CB-76A01572ADD9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40" y="2445702"/>
            <a:ext cx="5379324" cy="24691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3916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C6F51-D214-4A4D-AD10-2F2905C91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IDEF0</a:t>
            </a:r>
            <a:r>
              <a:rPr lang="ru-RU" dirty="0"/>
              <a:t> на примере модуля защиты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AA4229-F37C-4019-9B68-C80B232E7D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При вводе какой либо информации в информационной системе информация сначала проходит проверку на ввод в необходимом формате, после чего она проверяется на наличие уязвимостей которые могут навредить информационной системе, в случае если информация прошла проверку обоих функций она может быть обработана необходимыми функциями системы.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0B62176-C800-4D5D-B22D-8EA4E4AA50DF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17" y="2953862"/>
            <a:ext cx="5486347" cy="1819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1604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1A322-558D-43B2-90DD-AC8F0475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IDEF3 </a:t>
            </a:r>
            <a:r>
              <a:rPr lang="ru-RU" b="0" i="0" dirty="0">
                <a:effectLst/>
                <a:latin typeface="Fira Sans" panose="020B0604020202020204" pitchFamily="34" charset="0"/>
              </a:rPr>
              <a:t>методология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5D780A-CAD5-4625-9B7D-B379784C67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Нотация IDEF3 была создана для описания одновременно технологических и бизнес-процессов.</a:t>
            </a:r>
          </a:p>
          <a:p>
            <a:r>
              <a:rPr lang="ru-RU" dirty="0"/>
              <a:t>Технологический представляет собой алгоритм, где результат всегда один: создание продукта (услуги). Кроме того, в бизнес-процессах всегда задействованы не только технологии, но и люди. Технологический процесс может быть автоматизирован полностью.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C469E81-F8D9-4656-9ADE-C2DA4CB65089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30" y="2570992"/>
            <a:ext cx="5422134" cy="31554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7232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86C9B-ACE5-4632-A033-B88D71606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SADT</a:t>
            </a:r>
            <a:r>
              <a:rPr lang="en-US" dirty="0"/>
              <a:t> </a:t>
            </a:r>
            <a:r>
              <a:rPr lang="ru-RU" b="0" i="0" dirty="0">
                <a:effectLst/>
                <a:latin typeface="Fira Sans" panose="020B0604020202020204" pitchFamily="34" charset="0"/>
              </a:rPr>
              <a:t>методология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2F3344-90ED-4394-8B1B-CC1E5ABB9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Анализ</a:t>
            </a:r>
            <a:r>
              <a:rPr lang="en-US" b="1" dirty="0"/>
              <a:t> - </a:t>
            </a:r>
            <a:r>
              <a:rPr lang="ru-RU" dirty="0"/>
              <a:t>определение того что система будет делать</a:t>
            </a:r>
          </a:p>
          <a:p>
            <a:r>
              <a:rPr lang="ru-RU" b="1" dirty="0"/>
              <a:t>Проектирование</a:t>
            </a:r>
            <a:r>
              <a:rPr lang="en-US" b="1" dirty="0"/>
              <a:t> -</a:t>
            </a:r>
            <a:r>
              <a:rPr lang="ru-RU" dirty="0"/>
              <a:t> определение подсистем и их взаимодействия</a:t>
            </a:r>
          </a:p>
          <a:p>
            <a:r>
              <a:rPr lang="ru-RU" b="1" dirty="0"/>
              <a:t>Реализация</a:t>
            </a:r>
            <a:r>
              <a:rPr lang="en-US" b="1" dirty="0"/>
              <a:t> -</a:t>
            </a:r>
            <a:r>
              <a:rPr lang="ru-RU" dirty="0"/>
              <a:t> разработка подсистем по отдельности</a:t>
            </a:r>
          </a:p>
          <a:p>
            <a:r>
              <a:rPr lang="ru-RU" b="1" dirty="0"/>
              <a:t>Объединение</a:t>
            </a:r>
            <a:r>
              <a:rPr lang="en-US" b="1" dirty="0"/>
              <a:t> -</a:t>
            </a:r>
            <a:r>
              <a:rPr lang="ru-RU" dirty="0"/>
              <a:t> соединение подсистем в единое целое</a:t>
            </a:r>
          </a:p>
          <a:p>
            <a:r>
              <a:rPr lang="ru-RU" b="1" dirty="0"/>
              <a:t>Тестирование</a:t>
            </a:r>
            <a:r>
              <a:rPr lang="en-US" b="1" dirty="0"/>
              <a:t> -</a:t>
            </a:r>
            <a:r>
              <a:rPr lang="ru-RU" dirty="0"/>
              <a:t> проверка работы системы</a:t>
            </a:r>
          </a:p>
          <a:p>
            <a:r>
              <a:rPr lang="ru-RU" b="1" dirty="0"/>
              <a:t>Установка</a:t>
            </a:r>
            <a:r>
              <a:rPr lang="en-US" b="1" dirty="0"/>
              <a:t> -</a:t>
            </a:r>
            <a:r>
              <a:rPr lang="ru-RU" dirty="0"/>
              <a:t> выделение системы в действие</a:t>
            </a:r>
          </a:p>
          <a:p>
            <a:r>
              <a:rPr lang="ru-RU" b="1" dirty="0"/>
              <a:t>Эксплуатация</a:t>
            </a:r>
            <a:r>
              <a:rPr lang="en-US" b="1" dirty="0"/>
              <a:t> -</a:t>
            </a:r>
            <a:r>
              <a:rPr lang="ru-RU" dirty="0"/>
              <a:t> использование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869146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FF85D-7A19-483F-A6AE-BD6D0F37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этапа анализа на примере работы установки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5D9E31B-4304-46AC-9506-AD1E68FD42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80113" y="2084832"/>
            <a:ext cx="2807012" cy="4022725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8BC30BE5-64A9-494D-8D78-081801A9BD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Определение возможных положений устройств и их состояний</a:t>
            </a:r>
          </a:p>
        </p:txBody>
      </p:sp>
    </p:spTree>
    <p:extLst>
      <p:ext uri="{BB962C8B-B14F-4D97-AF65-F5344CB8AC3E}">
        <p14:creationId xmlns:p14="http://schemas.microsoft.com/office/powerpoint/2010/main" val="1958576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8BEA57-23F7-4F62-B754-A64DBC42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этапа анализа на примере выставочного зала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A0975D-1069-4339-A82E-2187B5823A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Определение четких требований к подсистемам для правильной работы информационной системы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92F194-5015-4FC0-98FC-4AF8165496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Модуль контроля – это модуль связан с организацией управления выставками, предоставление информации о выставках, учет заявок, распределение дат и прочие инструменты. </a:t>
            </a:r>
          </a:p>
          <a:p>
            <a:r>
              <a:rPr lang="ru-RU" dirty="0"/>
              <a:t>Модуль анализа – это модуль наблюдения и анализа, необходим для сбора информации о посетителях их посещениях  и предпочтениях, </a:t>
            </a:r>
          </a:p>
          <a:p>
            <a:r>
              <a:rPr lang="ru-RU" dirty="0"/>
              <a:t>Модуль отчетности – это модуль связан с формированием финансовых, посещения и других отчетов.</a:t>
            </a:r>
          </a:p>
          <a:p>
            <a:r>
              <a:rPr lang="ru-RU" dirty="0"/>
              <a:t>Модуль защиты– это модуль обеспечивает защиту входных данных, которые пользователи могут вводить от инъекций в систему хранения.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5271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CED81-73CA-425B-AEC5-41EA12FDC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этапа анализа на примере работы установки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D746B47-43B6-46C2-9A51-0D2F1A287A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6628" y="2286000"/>
            <a:ext cx="5697536" cy="2923002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1BBE0CD5-E794-4921-80C2-2EF016179E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Определение возможных положений устройств и их состояний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5877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E5DBD-7D3A-45DD-9D2D-63C2D3B6C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этапа анализа на примере работы установки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C247E08-F417-4240-BD3A-2DAD0D3A07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81038" y="2321696"/>
            <a:ext cx="4976828" cy="2451473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D662AA93-2C90-4535-A6A9-4A14CDDFAE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В случае если не  предусмотреть положение или наличие датчика </a:t>
            </a:r>
            <a:r>
              <a:rPr lang="ru-RU" dirty="0" err="1"/>
              <a:t>концевика</a:t>
            </a:r>
            <a:r>
              <a:rPr lang="ru-RU" dirty="0"/>
              <a:t> </a:t>
            </a:r>
            <a:r>
              <a:rPr lang="ru-RU" dirty="0" err="1"/>
              <a:t>фотопрерывателя</a:t>
            </a:r>
            <a:r>
              <a:rPr lang="ru-RU" dirty="0"/>
              <a:t> необходимо будет переписывать алгоритм работы </a:t>
            </a:r>
          </a:p>
        </p:txBody>
      </p:sp>
    </p:spTree>
    <p:extLst>
      <p:ext uri="{BB962C8B-B14F-4D97-AF65-F5344CB8AC3E}">
        <p14:creationId xmlns:p14="http://schemas.microsoft.com/office/powerpoint/2010/main" val="3773114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51F0A-8EB2-4B1E-A45D-EFAFB9E9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этапа анализа на примере работы установки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0B6C74E-221E-4499-80FF-D27550D532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23938" y="2933487"/>
            <a:ext cx="4754562" cy="2727750"/>
          </a:xfr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BE00425B-F9F9-407E-8C78-CACA73B46C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23468" y="2358754"/>
            <a:ext cx="4486901" cy="3877216"/>
          </a:xfrm>
        </p:spPr>
      </p:pic>
    </p:spTree>
    <p:extLst>
      <p:ext uri="{BB962C8B-B14F-4D97-AF65-F5344CB8AC3E}">
        <p14:creationId xmlns:p14="http://schemas.microsoft.com/office/powerpoint/2010/main" val="3695850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BDE9B-97BC-4349-B846-63C490AA0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этапа проектирования на примере интерфейсов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CB20730-C1E6-487D-8418-024D2F3597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Форма регистрации нового пользователя. Для регистрации пользователю необходимо ввести имя, его электронную почту и пароль для регистрации. Валидатор проверяет поля на маску ввода электронной почты и что бы пароль удовлетворял следующим требованиям: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Должен содержать прописные буквы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Должен содержать заглавные буквы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Должен содержать цифры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Должен содержать минимум 5 символов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Не должен быть больше 20 символов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31EEB12-59EB-43B0-8A04-26E6700F1F1E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38" y="2468846"/>
            <a:ext cx="4754562" cy="365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74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5F129-7FD8-400F-A9DE-C4563DD32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этапа проектирования на примере интерфейсов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0CD2D0-B4DB-4CD5-9FC5-4E96D6B4A8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Форма покупки билета. Для совершения покупки необходимо выбрать необходимую выставку и указать номер карты для оплаты. После выбора необходимой выставки будет отображена цена билета на выбранную выставку.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0A35EE7-A543-47FD-8108-3C0FDCDDEDA9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45142" y="2084832"/>
            <a:ext cx="3187158" cy="455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27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6070E-707B-42BF-A5D3-2D5C22BE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этапа проектирования на примере интерфейсов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C29A46-2AC4-4057-99CC-F2A08EC32F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Форма фильтрации заявок. Администратору отображаются выставки, описание выставки, имя участника, который подал заявку, описание организации. Если администратора устраивает заявка, то он выбирает время проведения выставки и одобряет заявку. Если его не устраивает заявка он отклоняет заявку.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E375DA6-2C4D-4489-BD0E-B84C2F90793C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1877988"/>
            <a:ext cx="2503321" cy="483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68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D38784-8059-4C7D-8510-F40B7E162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Функциональная ориентация средств на процессы </a:t>
            </a:r>
            <a:r>
              <a:rPr lang="ru-RU" dirty="0" err="1"/>
              <a:t>жц</a:t>
            </a:r>
            <a:r>
              <a:rPr lang="ru-RU" dirty="0"/>
              <a:t>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FFC563-68BF-4BB8-9CF1-AE52B87A3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Анализ модели предметной области</a:t>
            </a:r>
          </a:p>
          <a:p>
            <a:r>
              <a:rPr lang="ru-RU" dirty="0"/>
              <a:t>Проектирование баз данных</a:t>
            </a:r>
          </a:p>
          <a:p>
            <a:r>
              <a:rPr lang="ru-RU" dirty="0"/>
              <a:t>Разработки приложений</a:t>
            </a:r>
          </a:p>
          <a:p>
            <a:r>
              <a:rPr lang="ru-RU" dirty="0"/>
              <a:t>Реинжиниринг процесса</a:t>
            </a:r>
          </a:p>
          <a:p>
            <a:r>
              <a:rPr lang="ru-RU" dirty="0"/>
              <a:t>Планирование и управление процессом</a:t>
            </a:r>
          </a:p>
          <a:p>
            <a:r>
              <a:rPr lang="ru-RU" dirty="0"/>
              <a:t>Тестирование</a:t>
            </a:r>
          </a:p>
          <a:p>
            <a:r>
              <a:rPr lang="ru-RU" dirty="0"/>
              <a:t>Документирование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728045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D9ACF-FBE0-4B35-B4D3-292E150DB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Типичные </a:t>
            </a:r>
            <a:r>
              <a:rPr lang="en-US" dirty="0"/>
              <a:t>CASE - </a:t>
            </a:r>
            <a:r>
              <a:rPr lang="ru-RU" dirty="0"/>
              <a:t>инструменты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567537A4-1CD0-46AD-9865-A6614B689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Управления конфигурацией (</a:t>
            </a:r>
            <a:r>
              <a:rPr lang="en-US" dirty="0"/>
              <a:t>Vantage Team Builder)</a:t>
            </a:r>
          </a:p>
          <a:p>
            <a:pPr marL="0" indent="0">
              <a:buNone/>
            </a:pPr>
            <a:r>
              <a:rPr lang="ru-RU" dirty="0"/>
              <a:t>Моделирования данных (</a:t>
            </a:r>
            <a:r>
              <a:rPr lang="en-US" dirty="0" err="1"/>
              <a:t>ERWin</a:t>
            </a:r>
            <a:r>
              <a:rPr lang="en-US" dirty="0"/>
              <a:t>, </a:t>
            </a:r>
            <a:r>
              <a:rPr lang="en-US" dirty="0" err="1"/>
              <a:t>Silverrun</a:t>
            </a:r>
            <a:r>
              <a:rPr lang="en-US" dirty="0"/>
              <a:t>, S-Designer)</a:t>
            </a:r>
          </a:p>
          <a:p>
            <a:pPr marL="0" indent="0">
              <a:buNone/>
            </a:pPr>
            <a:r>
              <a:rPr lang="ru-RU" dirty="0"/>
              <a:t>Анализа и проектирования (</a:t>
            </a:r>
            <a:r>
              <a:rPr lang="en-US" dirty="0" err="1"/>
              <a:t>BPWin</a:t>
            </a:r>
            <a:r>
              <a:rPr lang="en-US" dirty="0"/>
              <a:t>, CASE-</a:t>
            </a:r>
            <a:r>
              <a:rPr lang="ru-RU" dirty="0"/>
              <a:t>аналитик, </a:t>
            </a:r>
            <a:r>
              <a:rPr lang="en-US" dirty="0"/>
              <a:t>POSE)</a:t>
            </a:r>
          </a:p>
          <a:p>
            <a:pPr marL="0" indent="0">
              <a:buNone/>
            </a:pPr>
            <a:r>
              <a:rPr lang="ru-RU" dirty="0"/>
              <a:t>Преобразования моделей (</a:t>
            </a:r>
            <a:r>
              <a:rPr lang="en-US" dirty="0" err="1"/>
              <a:t>EasyCASE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ru-RU" dirty="0"/>
              <a:t>Редактирования программного кода (</a:t>
            </a:r>
            <a:r>
              <a:rPr lang="en-US" dirty="0"/>
              <a:t>Visual Studio)</a:t>
            </a:r>
          </a:p>
          <a:p>
            <a:pPr marL="0" indent="0">
              <a:buNone/>
            </a:pPr>
            <a:r>
              <a:rPr lang="ru-RU" dirty="0"/>
              <a:t>Рефакторинга кода (</a:t>
            </a:r>
            <a:r>
              <a:rPr lang="en-US" dirty="0" err="1"/>
              <a:t>Silverrun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ru-RU" dirty="0"/>
              <a:t>Построения </a:t>
            </a:r>
            <a:r>
              <a:rPr lang="en-US" dirty="0"/>
              <a:t>UML-</a:t>
            </a:r>
            <a:r>
              <a:rPr lang="ru-RU" dirty="0"/>
              <a:t>диаграмм (</a:t>
            </a:r>
            <a:r>
              <a:rPr lang="en-US" dirty="0" err="1"/>
              <a:t>StarUML</a:t>
            </a:r>
            <a:r>
              <a:rPr lang="en-US" dirty="0"/>
              <a:t>, Rational Rose)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3755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137</TotalTime>
  <Words>1475</Words>
  <Application>Microsoft Office PowerPoint</Application>
  <PresentationFormat>Широкоэкранный</PresentationFormat>
  <Paragraphs>134</Paragraphs>
  <Slides>23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Arial</vt:lpstr>
      <vt:lpstr>Calibri</vt:lpstr>
      <vt:lpstr>Fira Sans</vt:lpstr>
      <vt:lpstr>Times New Roman</vt:lpstr>
      <vt:lpstr>Tw Cen MT</vt:lpstr>
      <vt:lpstr>Tw Cen MT Condensed</vt:lpstr>
      <vt:lpstr>Wingdings 3</vt:lpstr>
      <vt:lpstr>Интеграл</vt:lpstr>
      <vt:lpstr>Классификация CASE-технологий</vt:lpstr>
      <vt:lpstr>CASE-технология</vt:lpstr>
      <vt:lpstr>Главные подходы CASE </vt:lpstr>
      <vt:lpstr>Структурный подход подразумевает использование определенных общепринятых методологий</vt:lpstr>
      <vt:lpstr>DFD методология</vt:lpstr>
      <vt:lpstr>DFD диограмма на примере регистрации нового пользователя </vt:lpstr>
      <vt:lpstr>DFD на примере покупки билета </vt:lpstr>
      <vt:lpstr>ERD на примере БД Выставочного зала</vt:lpstr>
      <vt:lpstr>IDEF0 методология </vt:lpstr>
      <vt:lpstr>IDEF0 на примере модуля отчетов</vt:lpstr>
      <vt:lpstr>IDEF0 на примере модуля защиты</vt:lpstr>
      <vt:lpstr>IDEF3 методология</vt:lpstr>
      <vt:lpstr>SADT методология</vt:lpstr>
      <vt:lpstr>Пример этапа анализа на примере работы установки</vt:lpstr>
      <vt:lpstr>Пример этапа анализа на примере выставочного зала</vt:lpstr>
      <vt:lpstr>Пример этапа анализа на примере работы установки</vt:lpstr>
      <vt:lpstr>Пример этапа анализа на примере работы установки</vt:lpstr>
      <vt:lpstr>Пример этапа анализа на примере работы установки</vt:lpstr>
      <vt:lpstr>Пример этапа проектирования на примере интерфейсов</vt:lpstr>
      <vt:lpstr>Пример этапа проектирования на примере интерфейсов</vt:lpstr>
      <vt:lpstr>Пример этапа проектирования на примере интерфейсов</vt:lpstr>
      <vt:lpstr>Функциональная ориентация средств на процессы жц по</vt:lpstr>
      <vt:lpstr>Типичные CASE - инструменты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Классификация CASE-технологий</dc:title>
  <dc:creator>Ontirabon</dc:creator>
  <cp:lastModifiedBy>Ontirabon</cp:lastModifiedBy>
  <cp:revision>15</cp:revision>
  <dcterms:created xsi:type="dcterms:W3CDTF">2025-02-14T06:21:50Z</dcterms:created>
  <dcterms:modified xsi:type="dcterms:W3CDTF">2025-02-14T08:51:56Z</dcterms:modified>
</cp:coreProperties>
</file>