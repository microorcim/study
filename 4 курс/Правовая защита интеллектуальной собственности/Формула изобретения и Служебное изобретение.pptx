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7" r:id="rId2"/>
    <p:sldId id="264"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6236" autoAdjust="0"/>
  </p:normalViewPr>
  <p:slideViewPr>
    <p:cSldViewPr snapToGrid="0" snapToObjects="1">
      <p:cViewPr>
        <p:scale>
          <a:sx n="100" d="100"/>
          <a:sy n="100" d="100"/>
        </p:scale>
        <p:origin x="420" y="2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296673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Civil Code of the Russian Federation, Article 1354(2): legal protection for an invention is granted in the scope determined by the claim contained in the patent; description and drawings may be used for interpretation. ConsultantPlus, lines 23-24: https://www.consultant.ru/document/cons_doc_LAW_64629/01dd6760f9a5cba6c8224dbc6feb1fd2cd111b55/ .
- Civil Code of the Russian Federation, Article 1375(2)(3): the application must contain a claim that clearly expresses the essence of the invention and is fully based on the description. Search snippet from ConsultantPlus: https://www.consultant.ru/document/cons_doc_LAW_64629/93ea6530323541376adffb79abc2eac259070502/ .
- Civil Code of the Russian Federation, Article 1358(3): an invention is considered used if a product/process contains each feature of the independent claim or an equivalent feature. Search snippet from ConsultantPlus: https://www.consultant.ru/document/cons_doc_LAW_64629/2ffc1c12af8092a1d40b1948dc25316dc7562b6b/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Civil Code of the Russian Federation, Article 1354(2): legal protection for an invention is granted in the scope determined by the claim contained in the patent; description and drawings may be used for interpretation. ConsultantPlus, lines 23-24: https://www.consultant.ru/document/cons_doc_LAW_64629/01dd6760f9a5cba6c8224dbc6feb1fd2cd111b55/ .
- Civil Code of the Russian Federation, Article 1375(2)(3): the application must contain a claim that clearly expresses the essence of the invention and is fully based on the description. Search snippet from ConsultantPlus: https://www.consultant.ru/document/cons_doc_LAW_64629/93ea6530323541376adffb79abc2eac259070502/ .
- Civil Code of the Russian Federation, Article 1358(3): an invention is considered used if a product/process contains each feature of the independent claim or an equivalent feature. Search snippet from ConsultantPlus: https://www.consultant.ru/document/cons_doc_LAW_64629/2ffc1c12af8092a1d40b1948dc25316dc7562b6b/ .</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42366660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FIPS guide on invention claims (PDF), page 2-4: the claim is intended to define the scope of legal protection; each claim point is stated as a single sentence; dependent claims develop and/or clarify the features of the independent claim; examples of direct dependence and multiple dependence. PDF opened in web tool: https://new.fips.ru/to-applicants/inventions/ruk_iz_part1.pdf . Relevant text lines: page 2 lines 25-34 and page 3 lines 53-67 in the PDF viewer.
- Requirements to invention claims: single sentence rule and dependent-claim structure are reflected in the updated requirements published by Rospatent / Ministry of Economic Development; see search snippets: https://rospatent.gov.ru/ru/documents/prikaz-minekonomrazvitiya-107-21022023 and ConsultantPlus search result for IV. Требования к формуле изобретения / приказ № 316 from 25.05.2016.
- Search snippets used: https://www.consultant.ru/document/cons_doc_LAW_201605/40c0be17e040e54f137ac946bc1c976a4e5249cf/ and https://www.consultant.ru/document/cons_doc_LAW_445029/6272190512810b14af67dfc4b59ab1b6565a10af/ .</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ConsultantPlus search result for examination of claims: if the claim clearly expresses the essence of the invention, the independent claim contains a set of essential features sufficient to achieve the technical result; if a required feature is absent from the independent claim but only present in the description or dependent claim, this is a problem. See search results: https://www.consultant.ru/document/cons_doc_LAW_201605/2af87d5cebf22aa33270cbc57d5f122eaf51b1b5/ and https://www.consultant.ru/document/cons_doc_LAW_476284/1bc06f5c3625824874121e22ef86aae17fd9de0c/ .
- ConsultantPlus search result on dependent claims: a dependent claim should not be drafted so that it replaces or excludes features of the independent claim. See https://www.consultant.ru/document/cons_doc_LAW_134398/2c1a6b686dfdca3c678b2f8e1c69b3dc8b81f0ab/ .
- FIPS guide (PDF) also explains that the formula must identify the object of invention and contain technical features rather than only desired results. See PDF https://new.fips.ru/to-applicants/inventions/ruk_iz_part1.pdf , page 5 lines 94-111 in the web viewer.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Civil Code of the Russian Federation, Article 1370(1)-(3): a service invention is one created by an employee in connection with labor duties or a specific employer task; authorship belongs to the employee; exclusive right and the right to obtain a patent belong to the employer unless the contract states otherwise. ConsultantPlus lines 28-31: https://www.consultant.ru/document/cons_doc_LAW_64629/591abcf90f1d95d9da8af26986d2be6a2bbaaace/ .
- Article 1370(5): if the result is created using employer resources but not in connection with labor duties or a specific task, it is not service-related; rights belong to the employee. ConsultantPlus lines 64-65: same source URL.
- Illustration on the right: generated with OpenAI image generation tool for this presentation; no external asset used.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Civil Code of the Russian Federation, Article 1370(4): absent a different agreement, the employee must notify the employer in writing about the created result that may receive legal protection. ConsultantPlus lines 40-41: https://www.consultant.ru/document/cons_doc_LAW_64629/591abcf90f1d95d9da8af26986d2be6a2bbaaace/ .
- Article 1370(4): if the employer within six months from the employee's notice does not file a patent application, transfer the right to another person, or inform the employee about keeping the information secret, the right to obtain the patent returns to the employee. ConsultantPlus lines 45-46: same source URL.
- Article 1370(4): if the employer gets a patent, decides to keep the information secret, transfers the right, or fails to get the patent for reasons depending on the employer, the employee has the right to remuneration. ConsultantPlus lines 50-51: same source URL.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Government Decree of the Russian Federation No. 1848 dated 16.11.2020 (as amended 02.06.2023), Rules on remuneration for service inventions. ConsultantPlus lines 37-38: the Rules set rates, procedure and payment terms, and do not apply where employer and employee have a contract defining remuneration. https://www.consultant.ru/document/cons_doc_LAW_368072/053c90b153309f385dcc07ba7d68c200c5291afd/ .
- Creation remuneration: 30% of average salary for a service invention; 20% for service utility model / industrial design. ConsultantPlus lines 39-41 at the same URL.
- Use remuneration: 3 average salaries for use of a service invention; 2 for utility model / industrial design. ConsultantPlus lines 42-44.
- Licence remuneration: 10% of the employer's remuneration under the licence contract. ConsultantPlus lines 51-53.
- Assignment / transfer remuneration: 15% of the employer's remuneration under the relevant contract. ConsultantPlus lines 54-56.
- Special rule for state / municipal scientific and higher education organizations: 50% of employer remuneration in cases covered by points 4 and 5. ConsultantPlus lines 57-58.
- The decree itself is currently stated as effective until 01.01.2027. ConsultantPlus lines 15 and 37 in the same document.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Summary slide based on the cited legal sources already used in the deck: Civil Code RF Articles 1354, 1370, 1375 and Government Decree No. 1848. See the source blocks in slides 2, 5, 6 and 7 for exact URLs and operative provisions.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63B6D"/>
          </a:solidFill>
          <a:ln w="12700">
            <a:solidFill>
              <a:srgbClr val="163B6D"/>
            </a:solidFill>
            <a:prstDash val="solid"/>
          </a:ln>
        </p:spPr>
      </p:sp>
      <p:sp>
        <p:nvSpPr>
          <p:cNvPr id="3" name="Text 1"/>
          <p:cNvSpPr/>
          <p:nvPr/>
        </p:nvSpPr>
        <p:spPr>
          <a:xfrm>
            <a:off x="548640" y="6473952"/>
            <a:ext cx="2926080" cy="164592"/>
          </a:xfrm>
          <a:prstGeom prst="rect">
            <a:avLst/>
          </a:prstGeom>
          <a:noFill/>
          <a:ln/>
        </p:spPr>
        <p:txBody>
          <a:bodyPr wrap="square" lIns="0" tIns="0" rIns="0" bIns="0" rtlCol="0" anchor="ctr"/>
          <a:lstStyle/>
          <a:p>
            <a:pPr marL="0" indent="0">
              <a:buNone/>
            </a:pPr>
            <a:r>
              <a:rPr lang="en-US" sz="850" dirty="0">
                <a:solidFill>
                  <a:srgbClr val="7A8699"/>
                </a:solidFill>
                <a:latin typeface="Aptos" pitchFamily="34" charset="0"/>
                <a:ea typeface="Aptos" pitchFamily="34" charset="-122"/>
                <a:cs typeface="Aptos" pitchFamily="34" charset="-120"/>
              </a:rPr>
              <a:t>Патентное право</a:t>
            </a:r>
            <a:endParaRPr lang="en-US" sz="850" dirty="0"/>
          </a:p>
        </p:txBody>
      </p:sp>
      <p:sp>
        <p:nvSpPr>
          <p:cNvPr id="4" name="Text 2"/>
          <p:cNvSpPr/>
          <p:nvPr/>
        </p:nvSpPr>
        <p:spPr>
          <a:xfrm>
            <a:off x="7406640" y="6473952"/>
            <a:ext cx="4206240" cy="164592"/>
          </a:xfrm>
          <a:prstGeom prst="rect">
            <a:avLst/>
          </a:prstGeom>
          <a:noFill/>
          <a:ln/>
        </p:spPr>
        <p:txBody>
          <a:bodyPr wrap="square" lIns="0" tIns="0" rIns="0" bIns="0" rtlCol="0" anchor="ctr"/>
          <a:lstStyle/>
          <a:p>
            <a:pPr marL="0" indent="0" algn="r">
              <a:buNone/>
            </a:pPr>
            <a:r>
              <a:rPr lang="en-US" sz="850" dirty="0">
                <a:solidFill>
                  <a:srgbClr val="7A8699"/>
                </a:solidFill>
                <a:latin typeface="Aptos" pitchFamily="34" charset="0"/>
                <a:ea typeface="Aptos" pitchFamily="34" charset="-122"/>
                <a:cs typeface="Aptos" pitchFamily="34" charset="-120"/>
              </a:rPr>
              <a:t>Формула изобретения · Служебное изобретение</a:t>
            </a:r>
            <a:endParaRPr lang="en-US" sz="850" dirty="0"/>
          </a:p>
        </p:txBody>
      </p:sp>
      <p:sp>
        <p:nvSpPr>
          <p:cNvPr id="25" name="Slide Number Placeholder 0"/>
          <p:cNvSpPr>
            <a:spLocks noGrp="1"/>
          </p:cNvSpPr>
          <p:nvPr>
            <p:ph type="sldNum" sz="quarter" idx="4294967295"/>
          </p:nvPr>
        </p:nvSpPr>
        <p:spPr>
          <a:xfrm>
            <a:off x="11612880" y="6446520"/>
            <a:ext cx="256032"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699"/>
                </a:solidFill>
                <a:latin typeface="Aptos"/>
                <a:ea typeface="Aptos"/>
                <a:cs typeface="Aptos"/>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612880" y="6446520"/>
            <a:ext cx="256032"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699"/>
                </a:solidFill>
                <a:latin typeface="Aptos"/>
                <a:ea typeface="Aptos"/>
                <a:cs typeface="Aptos"/>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2689225" y="3200400"/>
            <a:ext cx="6813550" cy="457200"/>
          </a:xfrm>
          <a:prstGeom prst="rect">
            <a:avLst/>
          </a:prstGeom>
          <a:noFill/>
          <a:ln/>
        </p:spPr>
        <p:txBody>
          <a:bodyPr wrap="square" lIns="0" tIns="0" rIns="0" bIns="0" rtlCol="0" anchor="ctr"/>
          <a:lstStyle/>
          <a:p>
            <a:pPr marL="0" indent="0">
              <a:buNone/>
            </a:pPr>
            <a:r>
              <a:rPr lang="ru-RU" sz="2400" b="1" dirty="0">
                <a:solidFill>
                  <a:srgbClr val="163B6D"/>
                </a:solidFill>
                <a:latin typeface="Aptos Display" pitchFamily="34" charset="0"/>
                <a:ea typeface="Aptos Display" pitchFamily="34" charset="-122"/>
                <a:cs typeface="Aptos Display" pitchFamily="34" charset="-120"/>
              </a:rPr>
              <a:t>Формула изобретения и Служебное изобретение</a:t>
            </a:r>
            <a:endParaRPr lang="en-US" sz="2400" dirty="0"/>
          </a:p>
        </p:txBody>
      </p:sp>
      <p:sp>
        <p:nvSpPr>
          <p:cNvPr id="3" name="Text 1"/>
          <p:cNvSpPr/>
          <p:nvPr/>
        </p:nvSpPr>
        <p:spPr>
          <a:xfrm>
            <a:off x="5209032" y="3615182"/>
            <a:ext cx="1585468" cy="274320"/>
          </a:xfrm>
          <a:prstGeom prst="rect">
            <a:avLst/>
          </a:prstGeom>
          <a:noFill/>
          <a:ln/>
        </p:spPr>
        <p:txBody>
          <a:bodyPr wrap="square" lIns="0" tIns="0" rIns="0" bIns="0" rtlCol="0" anchor="ctr"/>
          <a:lstStyle/>
          <a:p>
            <a:pPr marL="0" indent="0">
              <a:buNone/>
            </a:pPr>
            <a:r>
              <a:rPr lang="ru-RU" sz="1050" dirty="0">
                <a:solidFill>
                  <a:srgbClr val="65748B"/>
                </a:solidFill>
                <a:latin typeface="Aptos" pitchFamily="34" charset="0"/>
                <a:ea typeface="Aptos" pitchFamily="34" charset="-122"/>
                <a:cs typeface="Aptos" pitchFamily="34" charset="-120"/>
              </a:rPr>
              <a:t>Михайлов Илья 3-22ПИ</a:t>
            </a:r>
            <a:endParaRPr lang="en-US" sz="1050" dirty="0"/>
          </a:p>
        </p:txBody>
      </p:sp>
      <p:sp>
        <p:nvSpPr>
          <p:cNvPr id="31" name="Slide Number Placeholder 0"/>
          <p:cNvSpPr>
            <a:spLocks noGrp="1"/>
          </p:cNvSpPr>
          <p:nvPr>
            <p:ph type="sldNum" sz="quarter" idx="4294967295"/>
          </p:nvPr>
        </p:nvSpPr>
        <p:spPr>
          <a:xfrm>
            <a:off x="11612880" y="6446520"/>
            <a:ext cx="256032"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699"/>
                </a:solidFill>
                <a:latin typeface="Aptos"/>
                <a:ea typeface="Aptos"/>
                <a:cs typeface="Aptos"/>
              </a:defRPr>
            </a:lvl1pPr>
          </a:lstStyle>
          <a:p>
            <a:pPr algn="r"/>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85800" y="411480"/>
            <a:ext cx="7955280" cy="457200"/>
          </a:xfrm>
          <a:prstGeom prst="rect">
            <a:avLst/>
          </a:prstGeom>
          <a:noFill/>
          <a:ln/>
        </p:spPr>
        <p:txBody>
          <a:bodyPr wrap="square" lIns="0" tIns="0" rIns="0" bIns="0" rtlCol="0" anchor="ctr"/>
          <a:lstStyle/>
          <a:p>
            <a:pPr marL="0" indent="0">
              <a:buNone/>
            </a:pPr>
            <a:r>
              <a:rPr lang="en-US" sz="2400" b="1" dirty="0">
                <a:solidFill>
                  <a:srgbClr val="163B6D"/>
                </a:solidFill>
                <a:latin typeface="Aptos Display" pitchFamily="34" charset="0"/>
                <a:ea typeface="Aptos Display" pitchFamily="34" charset="-122"/>
                <a:cs typeface="Aptos Display" pitchFamily="34" charset="-120"/>
              </a:rPr>
              <a:t>1. Формула изобретения: зачем она нужна</a:t>
            </a:r>
            <a:endParaRPr lang="en-US" sz="2400" dirty="0"/>
          </a:p>
        </p:txBody>
      </p:sp>
      <p:sp>
        <p:nvSpPr>
          <p:cNvPr id="3" name="Text 1"/>
          <p:cNvSpPr/>
          <p:nvPr/>
        </p:nvSpPr>
        <p:spPr>
          <a:xfrm>
            <a:off x="713232" y="896112"/>
            <a:ext cx="8412480" cy="274320"/>
          </a:xfrm>
          <a:prstGeom prst="rect">
            <a:avLst/>
          </a:prstGeom>
          <a:noFill/>
          <a:ln/>
        </p:spPr>
        <p:txBody>
          <a:bodyPr wrap="square" lIns="0" tIns="0" rIns="0" bIns="0" rtlCol="0" anchor="ctr"/>
          <a:lstStyle/>
          <a:p>
            <a:pPr marL="0" indent="0">
              <a:buNone/>
            </a:pPr>
            <a:r>
              <a:rPr lang="en-US" sz="1050" dirty="0">
                <a:solidFill>
                  <a:srgbClr val="65748B"/>
                </a:solidFill>
                <a:latin typeface="Aptos" pitchFamily="34" charset="0"/>
                <a:ea typeface="Aptos" pitchFamily="34" charset="-122"/>
                <a:cs typeface="Aptos" pitchFamily="34" charset="-120"/>
              </a:rPr>
              <a:t>Ключевой документ для объема правовой охраны</a:t>
            </a:r>
            <a:endParaRPr lang="en-US" sz="1050" dirty="0"/>
          </a:p>
        </p:txBody>
      </p:sp>
      <p:sp>
        <p:nvSpPr>
          <p:cNvPr id="4" name="Shape 2"/>
          <p:cNvSpPr/>
          <p:nvPr/>
        </p:nvSpPr>
        <p:spPr>
          <a:xfrm>
            <a:off x="640080" y="1325880"/>
            <a:ext cx="5029200" cy="4526280"/>
          </a:xfrm>
          <a:prstGeom prst="roundRect">
            <a:avLst/>
          </a:prstGeom>
          <a:solidFill>
            <a:srgbClr val="FFFFFF"/>
          </a:solidFill>
          <a:ln w="12700">
            <a:solidFill>
              <a:srgbClr val="D8E1EE"/>
            </a:solidFill>
            <a:prstDash val="solid"/>
          </a:ln>
          <a:effectLst>
            <a:outerShdw blurRad="19050" dist="12700" dir="2700000" algn="bl" rotWithShape="0">
              <a:srgbClr val="000000">
                <a:alpha val="12000"/>
              </a:srgbClr>
            </a:outerShdw>
          </a:effectLst>
        </p:spPr>
      </p:sp>
      <p:sp>
        <p:nvSpPr>
          <p:cNvPr id="5" name="Text 3"/>
          <p:cNvSpPr/>
          <p:nvPr/>
        </p:nvSpPr>
        <p:spPr>
          <a:xfrm>
            <a:off x="868680" y="1581912"/>
            <a:ext cx="1554480" cy="310896"/>
          </a:xfrm>
          <a:prstGeom prst="rect">
            <a:avLst/>
          </a:prstGeom>
          <a:solidFill>
            <a:srgbClr val="2A6FDB"/>
          </a:solidFill>
          <a:ln>
            <a:solidFill>
              <a:srgbClr val="2A6FDB"/>
            </a:solidFill>
          </a:ln>
        </p:spPr>
        <p:txBody>
          <a:bodyPr wrap="square" lIns="254" tIns="254" rIns="254" bIns="254" rtlCol="0" anchor="ctr"/>
          <a:lstStyle/>
          <a:p>
            <a:pPr marL="0" indent="0" algn="ctr">
              <a:buNone/>
            </a:pPr>
            <a:r>
              <a:rPr lang="en-US" sz="1100" b="1" dirty="0">
                <a:solidFill>
                  <a:srgbClr val="FFFFFF"/>
                </a:solidFill>
                <a:latin typeface="Aptos" pitchFamily="34" charset="0"/>
                <a:ea typeface="Aptos" pitchFamily="34" charset="-122"/>
                <a:cs typeface="Aptos" pitchFamily="34" charset="-120"/>
              </a:rPr>
              <a:t>Суть</a:t>
            </a:r>
            <a:endParaRPr lang="en-US" sz="1100" dirty="0"/>
          </a:p>
        </p:txBody>
      </p:sp>
      <p:sp>
        <p:nvSpPr>
          <p:cNvPr id="6" name="Shape 4"/>
          <p:cNvSpPr/>
          <p:nvPr/>
        </p:nvSpPr>
        <p:spPr>
          <a:xfrm>
            <a:off x="914400" y="2112264"/>
            <a:ext cx="118872" cy="118872"/>
          </a:xfrm>
          <a:prstGeom prst="ellipse">
            <a:avLst/>
          </a:prstGeom>
          <a:solidFill>
            <a:srgbClr val="2A6FDB"/>
          </a:solidFill>
          <a:ln w="12700">
            <a:solidFill>
              <a:srgbClr val="2A6FDB"/>
            </a:solidFill>
            <a:prstDash val="solid"/>
          </a:ln>
        </p:spPr>
      </p:sp>
      <p:sp>
        <p:nvSpPr>
          <p:cNvPr id="7" name="Text 5"/>
          <p:cNvSpPr/>
          <p:nvPr/>
        </p:nvSpPr>
        <p:spPr>
          <a:xfrm>
            <a:off x="1115568" y="2011680"/>
            <a:ext cx="4279392" cy="566928"/>
          </a:xfrm>
          <a:prstGeom prst="rect">
            <a:avLst/>
          </a:prstGeom>
          <a:noFill/>
          <a:ln/>
        </p:spPr>
        <p:txBody>
          <a:bodyPr wrap="square" lIns="0" tIns="0" rIns="0" bIns="0" rtlCol="0" anchor="ctr"/>
          <a:lstStyle/>
          <a:p>
            <a:pPr marL="0" indent="0">
              <a:buNone/>
            </a:pPr>
            <a:r>
              <a:rPr lang="en-US" sz="1800" dirty="0">
                <a:solidFill>
                  <a:srgbClr val="1C2430"/>
                </a:solidFill>
                <a:latin typeface="Aptos" pitchFamily="34" charset="0"/>
                <a:ea typeface="Aptos" pitchFamily="34" charset="-122"/>
                <a:cs typeface="Aptos" pitchFamily="34" charset="-120"/>
              </a:rPr>
              <a:t>Формула определяет объем охраны, который дает патент.</a:t>
            </a:r>
            <a:endParaRPr lang="en-US" sz="1800" dirty="0"/>
          </a:p>
        </p:txBody>
      </p:sp>
      <p:sp>
        <p:nvSpPr>
          <p:cNvPr id="8" name="Shape 6"/>
          <p:cNvSpPr/>
          <p:nvPr/>
        </p:nvSpPr>
        <p:spPr>
          <a:xfrm>
            <a:off x="914400" y="2843784"/>
            <a:ext cx="118872" cy="118872"/>
          </a:xfrm>
          <a:prstGeom prst="ellipse">
            <a:avLst/>
          </a:prstGeom>
          <a:solidFill>
            <a:srgbClr val="2A6FDB"/>
          </a:solidFill>
          <a:ln w="12700">
            <a:solidFill>
              <a:srgbClr val="2A6FDB"/>
            </a:solidFill>
            <a:prstDash val="solid"/>
          </a:ln>
        </p:spPr>
      </p:sp>
      <p:sp>
        <p:nvSpPr>
          <p:cNvPr id="9" name="Text 7"/>
          <p:cNvSpPr/>
          <p:nvPr/>
        </p:nvSpPr>
        <p:spPr>
          <a:xfrm>
            <a:off x="1115568" y="2743200"/>
            <a:ext cx="4279392" cy="566928"/>
          </a:xfrm>
          <a:prstGeom prst="rect">
            <a:avLst/>
          </a:prstGeom>
          <a:noFill/>
          <a:ln/>
        </p:spPr>
        <p:txBody>
          <a:bodyPr wrap="square" lIns="0" tIns="0" rIns="0" bIns="0" rtlCol="0" anchor="ctr"/>
          <a:lstStyle/>
          <a:p>
            <a:pPr marL="0" indent="0">
              <a:buNone/>
            </a:pPr>
            <a:r>
              <a:rPr lang="en-US" sz="1800" dirty="0">
                <a:solidFill>
                  <a:srgbClr val="1C2430"/>
                </a:solidFill>
                <a:latin typeface="Aptos" pitchFamily="34" charset="0"/>
                <a:ea typeface="Aptos" pitchFamily="34" charset="-122"/>
                <a:cs typeface="Aptos" pitchFamily="34" charset="-120"/>
              </a:rPr>
              <a:t>Именно по формуле оценивают, использовано ли изобретение.</a:t>
            </a:r>
            <a:endParaRPr lang="en-US" sz="1800" dirty="0"/>
          </a:p>
        </p:txBody>
      </p:sp>
      <p:sp>
        <p:nvSpPr>
          <p:cNvPr id="10" name="Shape 8"/>
          <p:cNvSpPr/>
          <p:nvPr/>
        </p:nvSpPr>
        <p:spPr>
          <a:xfrm>
            <a:off x="914400" y="3575304"/>
            <a:ext cx="118872" cy="118872"/>
          </a:xfrm>
          <a:prstGeom prst="ellipse">
            <a:avLst/>
          </a:prstGeom>
          <a:solidFill>
            <a:srgbClr val="2A6FDB"/>
          </a:solidFill>
          <a:ln w="12700">
            <a:solidFill>
              <a:srgbClr val="2A6FDB"/>
            </a:solidFill>
            <a:prstDash val="solid"/>
          </a:ln>
        </p:spPr>
      </p:sp>
      <p:sp>
        <p:nvSpPr>
          <p:cNvPr id="11" name="Text 9"/>
          <p:cNvSpPr/>
          <p:nvPr/>
        </p:nvSpPr>
        <p:spPr>
          <a:xfrm>
            <a:off x="1115568" y="3474720"/>
            <a:ext cx="4279392" cy="566928"/>
          </a:xfrm>
          <a:prstGeom prst="rect">
            <a:avLst/>
          </a:prstGeom>
          <a:noFill/>
          <a:ln/>
        </p:spPr>
        <p:txBody>
          <a:bodyPr wrap="square" lIns="0" tIns="0" rIns="0" bIns="0" rtlCol="0" anchor="ctr"/>
          <a:lstStyle/>
          <a:p>
            <a:pPr marL="0" indent="0">
              <a:buNone/>
            </a:pPr>
            <a:r>
              <a:rPr lang="en-US" sz="1800" dirty="0">
                <a:solidFill>
                  <a:srgbClr val="1C2430"/>
                </a:solidFill>
                <a:latin typeface="Aptos" pitchFamily="34" charset="0"/>
                <a:ea typeface="Aptos" pitchFamily="34" charset="-122"/>
                <a:cs typeface="Aptos" pitchFamily="34" charset="-120"/>
              </a:rPr>
              <a:t>Формула должна ясно выражать сущность решения и опираться на описание.</a:t>
            </a:r>
            <a:endParaRPr lang="en-US" sz="1800" dirty="0"/>
          </a:p>
        </p:txBody>
      </p:sp>
      <p:sp>
        <p:nvSpPr>
          <p:cNvPr id="12" name="Text 10"/>
          <p:cNvSpPr/>
          <p:nvPr/>
        </p:nvSpPr>
        <p:spPr>
          <a:xfrm>
            <a:off x="914400" y="4251960"/>
            <a:ext cx="1828800" cy="274320"/>
          </a:xfrm>
          <a:prstGeom prst="rect">
            <a:avLst/>
          </a:prstGeom>
          <a:noFill/>
          <a:ln/>
        </p:spPr>
        <p:txBody>
          <a:bodyPr wrap="square" lIns="0" tIns="0" rIns="0" bIns="0" rtlCol="0" anchor="ctr"/>
          <a:lstStyle/>
          <a:p>
            <a:pPr marL="0" indent="0">
              <a:buNone/>
            </a:pPr>
            <a:r>
              <a:rPr lang="en-US" sz="1400" b="1" dirty="0">
                <a:solidFill>
                  <a:srgbClr val="163B6D"/>
                </a:solidFill>
              </a:rPr>
              <a:t>Практический вывод</a:t>
            </a:r>
            <a:endParaRPr lang="en-US" sz="1400" dirty="0"/>
          </a:p>
        </p:txBody>
      </p:sp>
      <p:sp>
        <p:nvSpPr>
          <p:cNvPr id="13" name="Text 11"/>
          <p:cNvSpPr/>
          <p:nvPr/>
        </p:nvSpPr>
        <p:spPr>
          <a:xfrm>
            <a:off x="914400" y="4526280"/>
            <a:ext cx="4389120" cy="731520"/>
          </a:xfrm>
          <a:prstGeom prst="rect">
            <a:avLst/>
          </a:prstGeom>
          <a:noFill/>
          <a:ln/>
        </p:spPr>
        <p:txBody>
          <a:bodyPr wrap="square" lIns="0" tIns="0" rIns="0" bIns="0" rtlCol="0" anchor="ctr"/>
          <a:lstStyle/>
          <a:p>
            <a:pPr marL="0" indent="0">
              <a:buNone/>
            </a:pPr>
            <a:r>
              <a:rPr lang="en-US" sz="1800" dirty="0">
                <a:solidFill>
                  <a:srgbClr val="22314A"/>
                </a:solidFill>
              </a:rPr>
              <a:t>Слишком узкая формула — легко обойти. Слишком широкая — высок риск отказа или спора.</a:t>
            </a:r>
            <a:endParaRPr lang="en-US" sz="1800" dirty="0"/>
          </a:p>
        </p:txBody>
      </p:sp>
      <p:sp>
        <p:nvSpPr>
          <p:cNvPr id="14" name="Shape 12"/>
          <p:cNvSpPr/>
          <p:nvPr/>
        </p:nvSpPr>
        <p:spPr>
          <a:xfrm>
            <a:off x="5989320" y="1325880"/>
            <a:ext cx="5532120" cy="4526280"/>
          </a:xfrm>
          <a:prstGeom prst="roundRect">
            <a:avLst/>
          </a:prstGeom>
          <a:solidFill>
            <a:srgbClr val="F4F8FF"/>
          </a:solidFill>
          <a:ln w="12700">
            <a:solidFill>
              <a:srgbClr val="D8E1EE"/>
            </a:solidFill>
            <a:prstDash val="solid"/>
          </a:ln>
        </p:spPr>
      </p:sp>
      <p:sp>
        <p:nvSpPr>
          <p:cNvPr id="15" name="Shape 13"/>
          <p:cNvSpPr/>
          <p:nvPr/>
        </p:nvSpPr>
        <p:spPr>
          <a:xfrm>
            <a:off x="6492240" y="1737360"/>
            <a:ext cx="4480560" cy="640080"/>
          </a:xfrm>
          <a:prstGeom prst="roundRect">
            <a:avLst/>
          </a:prstGeom>
          <a:solidFill>
            <a:srgbClr val="FFFFFF"/>
          </a:solidFill>
          <a:ln w="12700">
            <a:solidFill>
              <a:srgbClr val="C9D7EC"/>
            </a:solidFill>
            <a:prstDash val="solid"/>
          </a:ln>
        </p:spPr>
      </p:sp>
      <p:sp>
        <p:nvSpPr>
          <p:cNvPr id="16" name="Text 14"/>
          <p:cNvSpPr/>
          <p:nvPr/>
        </p:nvSpPr>
        <p:spPr>
          <a:xfrm>
            <a:off x="6720840" y="1847088"/>
            <a:ext cx="4023360" cy="182880"/>
          </a:xfrm>
          <a:prstGeom prst="rect">
            <a:avLst/>
          </a:prstGeom>
          <a:noFill/>
          <a:ln/>
        </p:spPr>
        <p:txBody>
          <a:bodyPr wrap="square" lIns="0" tIns="0" rIns="0" bIns="0" rtlCol="0" anchor="ctr"/>
          <a:lstStyle/>
          <a:p>
            <a:pPr marL="0" indent="0">
              <a:buNone/>
            </a:pPr>
            <a:r>
              <a:rPr lang="en-US" sz="1700" b="1" dirty="0">
                <a:solidFill>
                  <a:srgbClr val="163B6D"/>
                </a:solidFill>
              </a:rPr>
              <a:t>Существенные признаки</a:t>
            </a:r>
            <a:endParaRPr lang="en-US" sz="1700" dirty="0"/>
          </a:p>
        </p:txBody>
      </p:sp>
      <p:sp>
        <p:nvSpPr>
          <p:cNvPr id="17" name="Text 15"/>
          <p:cNvSpPr/>
          <p:nvPr/>
        </p:nvSpPr>
        <p:spPr>
          <a:xfrm>
            <a:off x="6720840" y="2084832"/>
            <a:ext cx="4023360" cy="164592"/>
          </a:xfrm>
          <a:prstGeom prst="rect">
            <a:avLst/>
          </a:prstGeom>
          <a:noFill/>
          <a:ln/>
        </p:spPr>
        <p:txBody>
          <a:bodyPr wrap="square" lIns="0" tIns="0" rIns="0" bIns="0" rtlCol="0" anchor="ctr"/>
          <a:lstStyle/>
          <a:p>
            <a:pPr marL="0" indent="0">
              <a:buNone/>
            </a:pPr>
            <a:r>
              <a:rPr lang="en-US" sz="1150" dirty="0">
                <a:solidFill>
                  <a:srgbClr val="65748B"/>
                </a:solidFill>
              </a:rPr>
              <a:t>что обязательно для решения</a:t>
            </a:r>
            <a:endParaRPr lang="en-US" sz="1150" dirty="0"/>
          </a:p>
        </p:txBody>
      </p:sp>
      <p:sp>
        <p:nvSpPr>
          <p:cNvPr id="18" name="Shape 16"/>
          <p:cNvSpPr/>
          <p:nvPr/>
        </p:nvSpPr>
        <p:spPr>
          <a:xfrm>
            <a:off x="6492240" y="2788920"/>
            <a:ext cx="4480560" cy="640080"/>
          </a:xfrm>
          <a:prstGeom prst="roundRect">
            <a:avLst/>
          </a:prstGeom>
          <a:solidFill>
            <a:srgbClr val="FFFFFF"/>
          </a:solidFill>
          <a:ln w="12700">
            <a:solidFill>
              <a:srgbClr val="C9D7EC"/>
            </a:solidFill>
            <a:prstDash val="solid"/>
          </a:ln>
        </p:spPr>
      </p:sp>
      <p:sp>
        <p:nvSpPr>
          <p:cNvPr id="19" name="Text 17"/>
          <p:cNvSpPr/>
          <p:nvPr/>
        </p:nvSpPr>
        <p:spPr>
          <a:xfrm>
            <a:off x="6720840" y="2898648"/>
            <a:ext cx="4023360" cy="182880"/>
          </a:xfrm>
          <a:prstGeom prst="rect">
            <a:avLst/>
          </a:prstGeom>
          <a:noFill/>
          <a:ln/>
        </p:spPr>
        <p:txBody>
          <a:bodyPr wrap="square" lIns="0" tIns="0" rIns="0" bIns="0" rtlCol="0" anchor="ctr"/>
          <a:lstStyle/>
          <a:p>
            <a:pPr marL="0" indent="0">
              <a:buNone/>
            </a:pPr>
            <a:r>
              <a:rPr lang="en-US" sz="1700" b="1" dirty="0">
                <a:solidFill>
                  <a:srgbClr val="163B6D"/>
                </a:solidFill>
              </a:rPr>
              <a:t>Независимый пункт формулы</a:t>
            </a:r>
            <a:endParaRPr lang="en-US" sz="1700" dirty="0"/>
          </a:p>
        </p:txBody>
      </p:sp>
      <p:sp>
        <p:nvSpPr>
          <p:cNvPr id="20" name="Text 18"/>
          <p:cNvSpPr/>
          <p:nvPr/>
        </p:nvSpPr>
        <p:spPr>
          <a:xfrm>
            <a:off x="6720840" y="3136392"/>
            <a:ext cx="4023360" cy="164592"/>
          </a:xfrm>
          <a:prstGeom prst="rect">
            <a:avLst/>
          </a:prstGeom>
          <a:noFill/>
          <a:ln/>
        </p:spPr>
        <p:txBody>
          <a:bodyPr wrap="square" lIns="0" tIns="0" rIns="0" bIns="0" rtlCol="0" anchor="ctr"/>
          <a:lstStyle/>
          <a:p>
            <a:pPr marL="0" indent="0">
              <a:buNone/>
            </a:pPr>
            <a:r>
              <a:rPr lang="en-US" sz="1150" dirty="0">
                <a:solidFill>
                  <a:srgbClr val="65748B"/>
                </a:solidFill>
              </a:rPr>
              <a:t>ядро изобретения</a:t>
            </a:r>
            <a:endParaRPr lang="en-US" sz="1150" dirty="0"/>
          </a:p>
        </p:txBody>
      </p:sp>
      <p:sp>
        <p:nvSpPr>
          <p:cNvPr id="21" name="Shape 19"/>
          <p:cNvSpPr/>
          <p:nvPr/>
        </p:nvSpPr>
        <p:spPr>
          <a:xfrm>
            <a:off x="6492240" y="3840480"/>
            <a:ext cx="4480560" cy="640080"/>
          </a:xfrm>
          <a:prstGeom prst="roundRect">
            <a:avLst/>
          </a:prstGeom>
          <a:solidFill>
            <a:srgbClr val="FFFFFF"/>
          </a:solidFill>
          <a:ln w="12700">
            <a:solidFill>
              <a:srgbClr val="C9D7EC"/>
            </a:solidFill>
            <a:prstDash val="solid"/>
          </a:ln>
        </p:spPr>
      </p:sp>
      <p:sp>
        <p:nvSpPr>
          <p:cNvPr id="22" name="Text 20"/>
          <p:cNvSpPr/>
          <p:nvPr/>
        </p:nvSpPr>
        <p:spPr>
          <a:xfrm>
            <a:off x="6720840" y="3950208"/>
            <a:ext cx="4023360" cy="182880"/>
          </a:xfrm>
          <a:prstGeom prst="rect">
            <a:avLst/>
          </a:prstGeom>
          <a:noFill/>
          <a:ln/>
        </p:spPr>
        <p:txBody>
          <a:bodyPr wrap="square" lIns="0" tIns="0" rIns="0" bIns="0" rtlCol="0" anchor="ctr"/>
          <a:lstStyle/>
          <a:p>
            <a:pPr marL="0" indent="0">
              <a:buNone/>
            </a:pPr>
            <a:r>
              <a:rPr lang="en-US" sz="1700" b="1" dirty="0">
                <a:solidFill>
                  <a:srgbClr val="163B6D"/>
                </a:solidFill>
              </a:rPr>
              <a:t>Объем правовой охраны</a:t>
            </a:r>
            <a:endParaRPr lang="en-US" sz="1700" dirty="0"/>
          </a:p>
        </p:txBody>
      </p:sp>
      <p:sp>
        <p:nvSpPr>
          <p:cNvPr id="23" name="Text 21"/>
          <p:cNvSpPr/>
          <p:nvPr/>
        </p:nvSpPr>
        <p:spPr>
          <a:xfrm>
            <a:off x="6720840" y="4187952"/>
            <a:ext cx="4023360" cy="164592"/>
          </a:xfrm>
          <a:prstGeom prst="rect">
            <a:avLst/>
          </a:prstGeom>
          <a:noFill/>
          <a:ln/>
        </p:spPr>
        <p:txBody>
          <a:bodyPr wrap="square" lIns="0" tIns="0" rIns="0" bIns="0" rtlCol="0" anchor="ctr"/>
          <a:lstStyle/>
          <a:p>
            <a:pPr marL="0" indent="0">
              <a:buNone/>
            </a:pPr>
            <a:r>
              <a:rPr lang="en-US" sz="1150" dirty="0">
                <a:solidFill>
                  <a:srgbClr val="65748B"/>
                </a:solidFill>
              </a:rPr>
              <a:t>что охраняется патентом</a:t>
            </a:r>
            <a:endParaRPr lang="en-US" sz="1150" dirty="0"/>
          </a:p>
        </p:txBody>
      </p:sp>
      <p:sp>
        <p:nvSpPr>
          <p:cNvPr id="24" name="Shape 22"/>
          <p:cNvSpPr/>
          <p:nvPr/>
        </p:nvSpPr>
        <p:spPr>
          <a:xfrm>
            <a:off x="6492240" y="4892040"/>
            <a:ext cx="4480560" cy="640080"/>
          </a:xfrm>
          <a:prstGeom prst="roundRect">
            <a:avLst/>
          </a:prstGeom>
          <a:solidFill>
            <a:srgbClr val="FFFFFF"/>
          </a:solidFill>
          <a:ln w="12700">
            <a:solidFill>
              <a:srgbClr val="C9D7EC"/>
            </a:solidFill>
            <a:prstDash val="solid"/>
          </a:ln>
        </p:spPr>
      </p:sp>
      <p:sp>
        <p:nvSpPr>
          <p:cNvPr id="25" name="Text 23"/>
          <p:cNvSpPr/>
          <p:nvPr/>
        </p:nvSpPr>
        <p:spPr>
          <a:xfrm>
            <a:off x="6720840" y="5001768"/>
            <a:ext cx="4023360" cy="182880"/>
          </a:xfrm>
          <a:prstGeom prst="rect">
            <a:avLst/>
          </a:prstGeom>
          <a:noFill/>
          <a:ln/>
        </p:spPr>
        <p:txBody>
          <a:bodyPr wrap="square" lIns="0" tIns="0" rIns="0" bIns="0" rtlCol="0" anchor="ctr"/>
          <a:lstStyle/>
          <a:p>
            <a:pPr marL="0" indent="0">
              <a:buNone/>
            </a:pPr>
            <a:r>
              <a:rPr lang="en-US" sz="1700" b="1" dirty="0">
                <a:solidFill>
                  <a:srgbClr val="163B6D"/>
                </a:solidFill>
              </a:rPr>
              <a:t>Проверка использования</a:t>
            </a:r>
            <a:endParaRPr lang="en-US" sz="1700" dirty="0"/>
          </a:p>
        </p:txBody>
      </p:sp>
      <p:sp>
        <p:nvSpPr>
          <p:cNvPr id="26" name="Text 24"/>
          <p:cNvSpPr/>
          <p:nvPr/>
        </p:nvSpPr>
        <p:spPr>
          <a:xfrm>
            <a:off x="6720840" y="5239512"/>
            <a:ext cx="4023360" cy="164592"/>
          </a:xfrm>
          <a:prstGeom prst="rect">
            <a:avLst/>
          </a:prstGeom>
          <a:noFill/>
          <a:ln/>
        </p:spPr>
        <p:txBody>
          <a:bodyPr wrap="square" lIns="0" tIns="0" rIns="0" bIns="0" rtlCol="0" anchor="ctr"/>
          <a:lstStyle/>
          <a:p>
            <a:pPr marL="0" indent="0">
              <a:buNone/>
            </a:pPr>
            <a:r>
              <a:rPr lang="en-US" sz="1150" dirty="0">
                <a:solidFill>
                  <a:srgbClr val="65748B"/>
                </a:solidFill>
              </a:rPr>
              <a:t>есть ли все признаки или эквиваленты</a:t>
            </a:r>
            <a:endParaRPr lang="en-US" sz="1150" dirty="0"/>
          </a:p>
        </p:txBody>
      </p:sp>
      <p:sp>
        <p:nvSpPr>
          <p:cNvPr id="27" name="Shape 25"/>
          <p:cNvSpPr/>
          <p:nvPr/>
        </p:nvSpPr>
        <p:spPr>
          <a:xfrm>
            <a:off x="8567928" y="2441448"/>
            <a:ext cx="320040" cy="256032"/>
          </a:xfrm>
          <a:prstGeom prst="chevron">
            <a:avLst/>
          </a:prstGeom>
          <a:solidFill>
            <a:srgbClr val="B6C7E6"/>
          </a:solidFill>
          <a:ln w="12700">
            <a:solidFill>
              <a:srgbClr val="B6C7E6"/>
            </a:solidFill>
            <a:prstDash val="solid"/>
          </a:ln>
        </p:spPr>
      </p:sp>
      <p:sp>
        <p:nvSpPr>
          <p:cNvPr id="28" name="Shape 26"/>
          <p:cNvSpPr/>
          <p:nvPr/>
        </p:nvSpPr>
        <p:spPr>
          <a:xfrm>
            <a:off x="8567928" y="3493008"/>
            <a:ext cx="320040" cy="256032"/>
          </a:xfrm>
          <a:prstGeom prst="chevron">
            <a:avLst/>
          </a:prstGeom>
          <a:solidFill>
            <a:srgbClr val="B6C7E6"/>
          </a:solidFill>
          <a:ln w="12700">
            <a:solidFill>
              <a:srgbClr val="B6C7E6"/>
            </a:solidFill>
            <a:prstDash val="solid"/>
          </a:ln>
        </p:spPr>
      </p:sp>
      <p:sp>
        <p:nvSpPr>
          <p:cNvPr id="29" name="Shape 27"/>
          <p:cNvSpPr/>
          <p:nvPr/>
        </p:nvSpPr>
        <p:spPr>
          <a:xfrm>
            <a:off x="8567928" y="4544568"/>
            <a:ext cx="320040" cy="256032"/>
          </a:xfrm>
          <a:prstGeom prst="chevron">
            <a:avLst/>
          </a:prstGeom>
          <a:solidFill>
            <a:srgbClr val="B6C7E6"/>
          </a:solidFill>
          <a:ln w="12700">
            <a:solidFill>
              <a:srgbClr val="B6C7E6"/>
            </a:solidFill>
            <a:prstDash val="solid"/>
          </a:ln>
        </p:spPr>
      </p:sp>
      <p:sp>
        <p:nvSpPr>
          <p:cNvPr id="30" name="Text 28"/>
          <p:cNvSpPr/>
          <p:nvPr/>
        </p:nvSpPr>
        <p:spPr>
          <a:xfrm>
            <a:off x="8686800" y="1389888"/>
            <a:ext cx="2148840" cy="310896"/>
          </a:xfrm>
          <a:prstGeom prst="rect">
            <a:avLst/>
          </a:prstGeom>
          <a:solidFill>
            <a:srgbClr val="163B6D"/>
          </a:solidFill>
          <a:ln>
            <a:solidFill>
              <a:srgbClr val="163B6D"/>
            </a:solidFill>
          </a:ln>
        </p:spPr>
        <p:txBody>
          <a:bodyPr wrap="square" lIns="254" tIns="254" rIns="254" bIns="254" rtlCol="0" anchor="ctr"/>
          <a:lstStyle/>
          <a:p>
            <a:pPr marL="0" indent="0" algn="ctr">
              <a:buNone/>
            </a:pPr>
            <a:r>
              <a:rPr lang="en-US" sz="1100" b="1" dirty="0">
                <a:solidFill>
                  <a:srgbClr val="FFFFFF"/>
                </a:solidFill>
                <a:latin typeface="Aptos" pitchFamily="34" charset="0"/>
                <a:ea typeface="Aptos" pitchFamily="34" charset="-122"/>
                <a:cs typeface="Aptos" pitchFamily="34" charset="-120"/>
              </a:rPr>
              <a:t>Логика защиты</a:t>
            </a:r>
            <a:endParaRPr lang="en-US" sz="1100" dirty="0"/>
          </a:p>
        </p:txBody>
      </p:sp>
      <p:sp>
        <p:nvSpPr>
          <p:cNvPr id="31" name="Slide Number Placeholder 0"/>
          <p:cNvSpPr>
            <a:spLocks noGrp="1"/>
          </p:cNvSpPr>
          <p:nvPr>
            <p:ph type="sldNum" sz="quarter" idx="4294967295"/>
          </p:nvPr>
        </p:nvSpPr>
        <p:spPr>
          <a:xfrm>
            <a:off x="11612880" y="6446520"/>
            <a:ext cx="256032" cy="182880"/>
          </a:xfrm>
          <a:prstGeom prst="rect">
            <a:avLst/>
          </a:prstGeom>
          <a:extLst>
            <a:ext uri="{C572A759-6A51-4108-AA02-DFA0A04FC94B}">
              <ma14:wrappingTextBoxFlag xmlns="" xmlns:ma14="http://schemas.microsoft.com/office/mac/drawingml/2011/main" val="0"/>
            </a:ext>
          </a:extLst>
        </p:spPr>
        <p:txBody>
          <a:bodyPr/>
          <a:lstStyle>
            <a:lvl1pPr>
              <a:defRPr sz="850">
                <a:solidFill>
                  <a:srgbClr val="7A8699"/>
                </a:solidFill>
                <a:latin typeface="Aptos"/>
                <a:ea typeface="Aptos"/>
                <a:cs typeface="Aptos"/>
              </a:defRPr>
            </a:lvl1pPr>
          </a:lstStyle>
          <a:p>
            <a:pPr algn="r"/>
            <a:fld id="{F7021451-1387-4CA6-816F-3879F97B5CBC}" type="slidenum">
              <a:rPr lang="en-US" b="0"/>
              <a:t>2</a:t>
            </a:fld>
            <a:endParaRPr lang="en-US"/>
          </a:p>
        </p:txBody>
      </p:sp>
    </p:spTree>
    <p:extLst>
      <p:ext uri="{BB962C8B-B14F-4D97-AF65-F5344CB8AC3E}">
        <p14:creationId xmlns:p14="http://schemas.microsoft.com/office/powerpoint/2010/main" val="28602365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85800" y="411480"/>
            <a:ext cx="7955280" cy="457200"/>
          </a:xfrm>
          <a:prstGeom prst="rect">
            <a:avLst/>
          </a:prstGeom>
          <a:noFill/>
          <a:ln/>
        </p:spPr>
        <p:txBody>
          <a:bodyPr wrap="square" lIns="0" tIns="0" rIns="0" bIns="0" rtlCol="0" anchor="ctr"/>
          <a:lstStyle/>
          <a:p>
            <a:pPr marL="0" indent="0">
              <a:buNone/>
            </a:pPr>
            <a:r>
              <a:rPr lang="en-US" sz="2400" b="1" dirty="0">
                <a:solidFill>
                  <a:srgbClr val="163B6D"/>
                </a:solidFill>
                <a:latin typeface="Aptos Display" pitchFamily="34" charset="0"/>
                <a:ea typeface="Aptos Display" pitchFamily="34" charset="-122"/>
                <a:cs typeface="Aptos Display" pitchFamily="34" charset="-120"/>
              </a:rPr>
              <a:t>2. Как строится формула</a:t>
            </a:r>
            <a:endParaRPr lang="en-US" sz="2400" dirty="0"/>
          </a:p>
        </p:txBody>
      </p:sp>
      <p:sp>
        <p:nvSpPr>
          <p:cNvPr id="3" name="Text 1"/>
          <p:cNvSpPr/>
          <p:nvPr/>
        </p:nvSpPr>
        <p:spPr>
          <a:xfrm>
            <a:off x="713232" y="896112"/>
            <a:ext cx="8412480" cy="274320"/>
          </a:xfrm>
          <a:prstGeom prst="rect">
            <a:avLst/>
          </a:prstGeom>
          <a:noFill/>
          <a:ln/>
        </p:spPr>
        <p:txBody>
          <a:bodyPr wrap="square" lIns="0" tIns="0" rIns="0" bIns="0" rtlCol="0" anchor="ctr"/>
          <a:lstStyle/>
          <a:p>
            <a:pPr marL="0" indent="0">
              <a:buNone/>
            </a:pPr>
            <a:r>
              <a:rPr lang="en-US" sz="1050" dirty="0">
                <a:solidFill>
                  <a:srgbClr val="65748B"/>
                </a:solidFill>
                <a:latin typeface="Aptos" pitchFamily="34" charset="0"/>
                <a:ea typeface="Aptos" pitchFamily="34" charset="-122"/>
                <a:cs typeface="Aptos" pitchFamily="34" charset="-120"/>
              </a:rPr>
              <a:t>Независимый пункт задает ядро, зависимые — частные варианты</a:t>
            </a:r>
            <a:endParaRPr lang="en-US" sz="1050" dirty="0"/>
          </a:p>
        </p:txBody>
      </p:sp>
      <p:sp>
        <p:nvSpPr>
          <p:cNvPr id="4" name="Shape 2"/>
          <p:cNvSpPr/>
          <p:nvPr/>
        </p:nvSpPr>
        <p:spPr>
          <a:xfrm>
            <a:off x="658368" y="1298448"/>
            <a:ext cx="6446520" cy="4590288"/>
          </a:xfrm>
          <a:prstGeom prst="roundRect">
            <a:avLst/>
          </a:prstGeom>
          <a:solidFill>
            <a:srgbClr val="FFFFFF"/>
          </a:solidFill>
          <a:ln w="12700">
            <a:solidFill>
              <a:srgbClr val="D8E1EE"/>
            </a:solidFill>
            <a:prstDash val="solid"/>
          </a:ln>
        </p:spPr>
      </p:sp>
      <p:sp>
        <p:nvSpPr>
          <p:cNvPr id="5" name="Text 3"/>
          <p:cNvSpPr/>
          <p:nvPr/>
        </p:nvSpPr>
        <p:spPr>
          <a:xfrm>
            <a:off x="4892040" y="1536192"/>
            <a:ext cx="1325880" cy="310896"/>
          </a:xfrm>
          <a:prstGeom prst="rect">
            <a:avLst/>
          </a:prstGeom>
          <a:solidFill>
            <a:srgbClr val="1F8A50"/>
          </a:solidFill>
          <a:ln>
            <a:solidFill>
              <a:srgbClr val="1F8A50"/>
            </a:solidFill>
          </a:ln>
        </p:spPr>
        <p:txBody>
          <a:bodyPr wrap="square" lIns="254" tIns="254" rIns="254" bIns="254" rtlCol="0" anchor="ctr"/>
          <a:lstStyle/>
          <a:p>
            <a:pPr marL="0" indent="0" algn="ctr">
              <a:buNone/>
            </a:pPr>
            <a:r>
              <a:rPr lang="en-US" sz="1100" b="1" dirty="0">
                <a:solidFill>
                  <a:srgbClr val="FFFFFF"/>
                </a:solidFill>
                <a:latin typeface="Aptos" pitchFamily="34" charset="0"/>
                <a:ea typeface="Aptos" pitchFamily="34" charset="-122"/>
                <a:cs typeface="Aptos" pitchFamily="34" charset="-120"/>
              </a:rPr>
              <a:t>Пример</a:t>
            </a:r>
            <a:endParaRPr lang="en-US" sz="1100" dirty="0"/>
          </a:p>
        </p:txBody>
      </p:sp>
      <p:sp>
        <p:nvSpPr>
          <p:cNvPr id="6" name="Text 4"/>
          <p:cNvSpPr/>
          <p:nvPr/>
        </p:nvSpPr>
        <p:spPr>
          <a:xfrm>
            <a:off x="932688" y="2139696"/>
            <a:ext cx="5897880" cy="1078992"/>
          </a:xfrm>
          <a:prstGeom prst="rect">
            <a:avLst/>
          </a:prstGeom>
          <a:noFill/>
          <a:ln/>
        </p:spPr>
        <p:txBody>
          <a:bodyPr wrap="square" lIns="762" tIns="762" rIns="762" bIns="762" rtlCol="0" anchor="ctr"/>
          <a:lstStyle/>
          <a:p>
            <a:pPr marL="0" indent="0">
              <a:buNone/>
            </a:pPr>
            <a:r>
              <a:rPr lang="en-US" sz="1850" dirty="0">
                <a:solidFill>
                  <a:srgbClr val="1C2430"/>
                </a:solidFill>
              </a:rPr>
              <a:t>1. Устройство для фильтрации жидкости, содержащее корпус, входной канал, выходной канал и фильтрующий элемент, отличающееся тем, что фильтрующий элемент выполнен сменным и установлен в картридже.</a:t>
            </a:r>
            <a:endParaRPr lang="en-US" sz="1850" dirty="0"/>
          </a:p>
        </p:txBody>
      </p:sp>
      <p:sp>
        <p:nvSpPr>
          <p:cNvPr id="7" name="Text 5"/>
          <p:cNvSpPr/>
          <p:nvPr/>
        </p:nvSpPr>
        <p:spPr>
          <a:xfrm>
            <a:off x="932688" y="3822192"/>
            <a:ext cx="5669280" cy="566928"/>
          </a:xfrm>
          <a:prstGeom prst="rect">
            <a:avLst/>
          </a:prstGeom>
          <a:noFill/>
          <a:ln/>
        </p:spPr>
        <p:txBody>
          <a:bodyPr wrap="square" lIns="508" tIns="508" rIns="508" bIns="508" rtlCol="0" anchor="ctr"/>
          <a:lstStyle/>
          <a:p>
            <a:pPr marL="0" indent="0">
              <a:buNone/>
            </a:pPr>
            <a:r>
              <a:rPr lang="en-US" sz="1700" dirty="0">
                <a:solidFill>
                  <a:srgbClr val="22314A"/>
                </a:solidFill>
              </a:rPr>
              <a:t>2. Устройство по п. 1, отличающееся тем, что картридж снабжен индикатором загрязнения.</a:t>
            </a:r>
            <a:endParaRPr lang="en-US" sz="1700" dirty="0"/>
          </a:p>
        </p:txBody>
      </p:sp>
      <p:sp>
        <p:nvSpPr>
          <p:cNvPr id="8" name="Text 6"/>
          <p:cNvSpPr/>
          <p:nvPr/>
        </p:nvSpPr>
        <p:spPr>
          <a:xfrm>
            <a:off x="932688" y="4572000"/>
            <a:ext cx="5669280" cy="566928"/>
          </a:xfrm>
          <a:prstGeom prst="rect">
            <a:avLst/>
          </a:prstGeom>
          <a:noFill/>
          <a:ln/>
        </p:spPr>
        <p:txBody>
          <a:bodyPr wrap="square" lIns="508" tIns="508" rIns="508" bIns="508" rtlCol="0" anchor="ctr"/>
          <a:lstStyle/>
          <a:p>
            <a:pPr marL="0" indent="0">
              <a:buNone/>
            </a:pPr>
            <a:r>
              <a:rPr lang="en-US" sz="1700" dirty="0">
                <a:solidFill>
                  <a:srgbClr val="22314A"/>
                </a:solidFill>
              </a:rPr>
              <a:t>3. Устройство по п. 1, отличающееся тем, что фильтрующий элемент выполнен из композитного материала.</a:t>
            </a:r>
            <a:endParaRPr lang="en-US" sz="1700" dirty="0"/>
          </a:p>
        </p:txBody>
      </p:sp>
      <p:sp>
        <p:nvSpPr>
          <p:cNvPr id="9" name="Text 7"/>
          <p:cNvSpPr/>
          <p:nvPr/>
        </p:nvSpPr>
        <p:spPr>
          <a:xfrm>
            <a:off x="1097280" y="1527048"/>
            <a:ext cx="1600200" cy="310896"/>
          </a:xfrm>
          <a:prstGeom prst="rect">
            <a:avLst/>
          </a:prstGeom>
          <a:solidFill>
            <a:srgbClr val="1F8A50"/>
          </a:solidFill>
          <a:ln>
            <a:solidFill>
              <a:srgbClr val="1F8A50"/>
            </a:solidFill>
          </a:ln>
        </p:spPr>
        <p:txBody>
          <a:bodyPr wrap="square" lIns="254" tIns="254" rIns="254" bIns="254" rtlCol="0" anchor="ctr"/>
          <a:lstStyle/>
          <a:p>
            <a:pPr marL="0" indent="0" algn="ctr">
              <a:buNone/>
            </a:pPr>
            <a:r>
              <a:rPr lang="en-US" sz="1100" b="1" dirty="0">
                <a:solidFill>
                  <a:srgbClr val="FFFFFF"/>
                </a:solidFill>
                <a:latin typeface="Aptos" pitchFamily="34" charset="0"/>
                <a:ea typeface="Aptos" pitchFamily="34" charset="-122"/>
                <a:cs typeface="Aptos" pitchFamily="34" charset="-120"/>
              </a:rPr>
              <a:t>Независимый пункт</a:t>
            </a:r>
            <a:endParaRPr lang="en-US" sz="1100" dirty="0"/>
          </a:p>
        </p:txBody>
      </p:sp>
      <p:sp>
        <p:nvSpPr>
          <p:cNvPr id="10" name="Text 8"/>
          <p:cNvSpPr/>
          <p:nvPr/>
        </p:nvSpPr>
        <p:spPr>
          <a:xfrm>
            <a:off x="932688" y="3401568"/>
            <a:ext cx="1554480" cy="310896"/>
          </a:xfrm>
          <a:prstGeom prst="rect">
            <a:avLst/>
          </a:prstGeom>
          <a:solidFill>
            <a:srgbClr val="2A6FDB"/>
          </a:solidFill>
          <a:ln>
            <a:solidFill>
              <a:srgbClr val="2A6FDB"/>
            </a:solidFill>
          </a:ln>
        </p:spPr>
        <p:txBody>
          <a:bodyPr wrap="square" lIns="254" tIns="254" rIns="254" bIns="254" rtlCol="0" anchor="ctr"/>
          <a:lstStyle/>
          <a:p>
            <a:pPr marL="0" indent="0" algn="ctr">
              <a:buNone/>
            </a:pPr>
            <a:r>
              <a:rPr lang="en-US" sz="1100" b="1" dirty="0">
                <a:solidFill>
                  <a:srgbClr val="FFFFFF"/>
                </a:solidFill>
                <a:latin typeface="Aptos" pitchFamily="34" charset="0"/>
                <a:ea typeface="Aptos" pitchFamily="34" charset="-122"/>
                <a:cs typeface="Aptos" pitchFamily="34" charset="-120"/>
              </a:rPr>
              <a:t>Зависимые пункты</a:t>
            </a:r>
            <a:endParaRPr lang="en-US" sz="1100" dirty="0"/>
          </a:p>
        </p:txBody>
      </p:sp>
      <p:sp>
        <p:nvSpPr>
          <p:cNvPr id="11" name="Shape 9"/>
          <p:cNvSpPr/>
          <p:nvPr/>
        </p:nvSpPr>
        <p:spPr>
          <a:xfrm>
            <a:off x="7315200" y="1298448"/>
            <a:ext cx="4206240" cy="4590288"/>
          </a:xfrm>
          <a:prstGeom prst="roundRect">
            <a:avLst/>
          </a:prstGeom>
          <a:solidFill>
            <a:srgbClr val="F4F8FF"/>
          </a:solidFill>
          <a:ln w="12700">
            <a:solidFill>
              <a:srgbClr val="D8E1EE"/>
            </a:solidFill>
            <a:prstDash val="solid"/>
          </a:ln>
        </p:spPr>
      </p:sp>
      <p:sp>
        <p:nvSpPr>
          <p:cNvPr id="12" name="Text 10"/>
          <p:cNvSpPr/>
          <p:nvPr/>
        </p:nvSpPr>
        <p:spPr>
          <a:xfrm>
            <a:off x="7543800" y="1536192"/>
            <a:ext cx="1783080" cy="310896"/>
          </a:xfrm>
          <a:prstGeom prst="rect">
            <a:avLst/>
          </a:prstGeom>
          <a:solidFill>
            <a:srgbClr val="163B6D"/>
          </a:solidFill>
          <a:ln>
            <a:solidFill>
              <a:srgbClr val="163B6D"/>
            </a:solidFill>
          </a:ln>
        </p:spPr>
        <p:txBody>
          <a:bodyPr wrap="square" lIns="254" tIns="254" rIns="254" bIns="254" rtlCol="0" anchor="ctr"/>
          <a:lstStyle/>
          <a:p>
            <a:pPr marL="0" indent="0" algn="ctr">
              <a:buNone/>
            </a:pPr>
            <a:r>
              <a:rPr lang="en-US" sz="1100" b="1" dirty="0">
                <a:solidFill>
                  <a:srgbClr val="FFFFFF"/>
                </a:solidFill>
                <a:latin typeface="Aptos" pitchFamily="34" charset="0"/>
                <a:ea typeface="Aptos" pitchFamily="34" charset="-122"/>
                <a:cs typeface="Aptos" pitchFamily="34" charset="-120"/>
              </a:rPr>
              <a:t>Правила</a:t>
            </a:r>
            <a:endParaRPr lang="en-US" sz="1100" dirty="0"/>
          </a:p>
        </p:txBody>
      </p:sp>
      <p:sp>
        <p:nvSpPr>
          <p:cNvPr id="13" name="Shape 11"/>
          <p:cNvSpPr/>
          <p:nvPr/>
        </p:nvSpPr>
        <p:spPr>
          <a:xfrm>
            <a:off x="7516368" y="2002536"/>
            <a:ext cx="118872" cy="118872"/>
          </a:xfrm>
          <a:prstGeom prst="ellipse">
            <a:avLst/>
          </a:prstGeom>
          <a:solidFill>
            <a:srgbClr val="2A6FDB"/>
          </a:solidFill>
          <a:ln w="12700">
            <a:solidFill>
              <a:srgbClr val="2A6FDB"/>
            </a:solidFill>
            <a:prstDash val="solid"/>
          </a:ln>
        </p:spPr>
      </p:sp>
      <p:sp>
        <p:nvSpPr>
          <p:cNvPr id="14" name="Text 12"/>
          <p:cNvSpPr/>
          <p:nvPr/>
        </p:nvSpPr>
        <p:spPr>
          <a:xfrm>
            <a:off x="7717536" y="1901952"/>
            <a:ext cx="3410712" cy="566928"/>
          </a:xfrm>
          <a:prstGeom prst="rect">
            <a:avLst/>
          </a:prstGeom>
          <a:noFill/>
          <a:ln/>
        </p:spPr>
        <p:txBody>
          <a:bodyPr wrap="square" lIns="0" tIns="0" rIns="0" bIns="0" rtlCol="0" anchor="ctr"/>
          <a:lstStyle/>
          <a:p>
            <a:pPr marL="0" indent="0">
              <a:buNone/>
            </a:pPr>
            <a:r>
              <a:rPr lang="en-US" sz="1650" dirty="0">
                <a:solidFill>
                  <a:srgbClr val="1C2430"/>
                </a:solidFill>
                <a:latin typeface="Aptos" pitchFamily="34" charset="0"/>
                <a:ea typeface="Aptos" pitchFamily="34" charset="-122"/>
                <a:cs typeface="Aptos" pitchFamily="34" charset="-120"/>
              </a:rPr>
              <a:t>Каждый пункт формулы — одно предложение.</a:t>
            </a:r>
            <a:endParaRPr lang="en-US" sz="1650" dirty="0"/>
          </a:p>
        </p:txBody>
      </p:sp>
      <p:sp>
        <p:nvSpPr>
          <p:cNvPr id="15" name="Shape 13"/>
          <p:cNvSpPr/>
          <p:nvPr/>
        </p:nvSpPr>
        <p:spPr>
          <a:xfrm>
            <a:off x="7516368" y="2715768"/>
            <a:ext cx="118872" cy="118872"/>
          </a:xfrm>
          <a:prstGeom prst="ellipse">
            <a:avLst/>
          </a:prstGeom>
          <a:solidFill>
            <a:srgbClr val="2A6FDB"/>
          </a:solidFill>
          <a:ln w="12700">
            <a:solidFill>
              <a:srgbClr val="2A6FDB"/>
            </a:solidFill>
            <a:prstDash val="solid"/>
          </a:ln>
        </p:spPr>
      </p:sp>
      <p:sp>
        <p:nvSpPr>
          <p:cNvPr id="16" name="Text 14"/>
          <p:cNvSpPr/>
          <p:nvPr/>
        </p:nvSpPr>
        <p:spPr>
          <a:xfrm>
            <a:off x="7717536" y="2615184"/>
            <a:ext cx="3410712" cy="566928"/>
          </a:xfrm>
          <a:prstGeom prst="rect">
            <a:avLst/>
          </a:prstGeom>
          <a:noFill/>
          <a:ln/>
        </p:spPr>
        <p:txBody>
          <a:bodyPr wrap="square" lIns="0" tIns="0" rIns="0" bIns="0" rtlCol="0" anchor="ctr"/>
          <a:lstStyle/>
          <a:p>
            <a:pPr marL="0" indent="0">
              <a:buNone/>
            </a:pPr>
            <a:r>
              <a:rPr lang="en-US" sz="1650" dirty="0">
                <a:solidFill>
                  <a:srgbClr val="1C2430"/>
                </a:solidFill>
                <a:latin typeface="Aptos" pitchFamily="34" charset="0"/>
                <a:ea typeface="Aptos" pitchFamily="34" charset="-122"/>
                <a:cs typeface="Aptos" pitchFamily="34" charset="-120"/>
              </a:rPr>
              <a:t>Независимый пункт относится только к одному изобретению.</a:t>
            </a:r>
            <a:endParaRPr lang="en-US" sz="1650" dirty="0"/>
          </a:p>
        </p:txBody>
      </p:sp>
      <p:sp>
        <p:nvSpPr>
          <p:cNvPr id="17" name="Shape 15"/>
          <p:cNvSpPr/>
          <p:nvPr/>
        </p:nvSpPr>
        <p:spPr>
          <a:xfrm>
            <a:off x="7516368" y="3429000"/>
            <a:ext cx="118872" cy="118872"/>
          </a:xfrm>
          <a:prstGeom prst="ellipse">
            <a:avLst/>
          </a:prstGeom>
          <a:solidFill>
            <a:srgbClr val="2A6FDB"/>
          </a:solidFill>
          <a:ln w="12700">
            <a:solidFill>
              <a:srgbClr val="2A6FDB"/>
            </a:solidFill>
            <a:prstDash val="solid"/>
          </a:ln>
        </p:spPr>
      </p:sp>
      <p:sp>
        <p:nvSpPr>
          <p:cNvPr id="18" name="Text 16"/>
          <p:cNvSpPr/>
          <p:nvPr/>
        </p:nvSpPr>
        <p:spPr>
          <a:xfrm>
            <a:off x="7717536" y="3328416"/>
            <a:ext cx="3410712" cy="566928"/>
          </a:xfrm>
          <a:prstGeom prst="rect">
            <a:avLst/>
          </a:prstGeom>
          <a:noFill/>
          <a:ln/>
        </p:spPr>
        <p:txBody>
          <a:bodyPr wrap="square" lIns="0" tIns="0" rIns="0" bIns="0" rtlCol="0" anchor="ctr"/>
          <a:lstStyle/>
          <a:p>
            <a:pPr marL="0" indent="0">
              <a:buNone/>
            </a:pPr>
            <a:r>
              <a:rPr lang="en-US" sz="1650" dirty="0">
                <a:solidFill>
                  <a:srgbClr val="1C2430"/>
                </a:solidFill>
                <a:latin typeface="Aptos" pitchFamily="34" charset="0"/>
                <a:ea typeface="Aptos" pitchFamily="34" charset="-122"/>
                <a:cs typeface="Aptos" pitchFamily="34" charset="-120"/>
              </a:rPr>
              <a:t>Зависимый пункт ссылается на тот пункт, который он уточняет.</a:t>
            </a:r>
            <a:endParaRPr lang="en-US" sz="1650" dirty="0"/>
          </a:p>
        </p:txBody>
      </p:sp>
      <p:sp>
        <p:nvSpPr>
          <p:cNvPr id="19" name="Shape 17"/>
          <p:cNvSpPr/>
          <p:nvPr/>
        </p:nvSpPr>
        <p:spPr>
          <a:xfrm>
            <a:off x="7516368" y="4142232"/>
            <a:ext cx="118872" cy="118872"/>
          </a:xfrm>
          <a:prstGeom prst="ellipse">
            <a:avLst/>
          </a:prstGeom>
          <a:solidFill>
            <a:srgbClr val="2A6FDB"/>
          </a:solidFill>
          <a:ln w="12700">
            <a:solidFill>
              <a:srgbClr val="2A6FDB"/>
            </a:solidFill>
            <a:prstDash val="solid"/>
          </a:ln>
        </p:spPr>
      </p:sp>
      <p:sp>
        <p:nvSpPr>
          <p:cNvPr id="20" name="Text 18"/>
          <p:cNvSpPr/>
          <p:nvPr/>
        </p:nvSpPr>
        <p:spPr>
          <a:xfrm>
            <a:off x="7717536" y="4041648"/>
            <a:ext cx="3410712" cy="566928"/>
          </a:xfrm>
          <a:prstGeom prst="rect">
            <a:avLst/>
          </a:prstGeom>
          <a:noFill/>
          <a:ln/>
        </p:spPr>
        <p:txBody>
          <a:bodyPr wrap="square" lIns="0" tIns="0" rIns="0" bIns="0" rtlCol="0" anchor="ctr"/>
          <a:lstStyle/>
          <a:p>
            <a:pPr marL="0" indent="0">
              <a:buNone/>
            </a:pPr>
            <a:r>
              <a:rPr lang="en-US" sz="1650" dirty="0">
                <a:solidFill>
                  <a:srgbClr val="1C2430"/>
                </a:solidFill>
                <a:latin typeface="Aptos" pitchFamily="34" charset="0"/>
                <a:ea typeface="Aptos" pitchFamily="34" charset="-122"/>
                <a:cs typeface="Aptos" pitchFamily="34" charset="-120"/>
              </a:rPr>
              <a:t>Зависимый пункт не должен исключать или заменять признак независимого пункта.</a:t>
            </a:r>
            <a:endParaRPr lang="en-US" sz="1650" dirty="0"/>
          </a:p>
        </p:txBody>
      </p:sp>
      <p:sp>
        <p:nvSpPr>
          <p:cNvPr id="21" name="Shape 19"/>
          <p:cNvSpPr/>
          <p:nvPr/>
        </p:nvSpPr>
        <p:spPr>
          <a:xfrm>
            <a:off x="7516368" y="4855464"/>
            <a:ext cx="118872" cy="118872"/>
          </a:xfrm>
          <a:prstGeom prst="ellipse">
            <a:avLst/>
          </a:prstGeom>
          <a:solidFill>
            <a:srgbClr val="2A6FDB"/>
          </a:solidFill>
          <a:ln w="12700">
            <a:solidFill>
              <a:srgbClr val="2A6FDB"/>
            </a:solidFill>
            <a:prstDash val="solid"/>
          </a:ln>
        </p:spPr>
      </p:sp>
      <p:sp>
        <p:nvSpPr>
          <p:cNvPr id="22" name="Text 20"/>
          <p:cNvSpPr/>
          <p:nvPr/>
        </p:nvSpPr>
        <p:spPr>
          <a:xfrm>
            <a:off x="7717536" y="4754880"/>
            <a:ext cx="3410712" cy="566928"/>
          </a:xfrm>
          <a:prstGeom prst="rect">
            <a:avLst/>
          </a:prstGeom>
          <a:noFill/>
          <a:ln/>
        </p:spPr>
        <p:txBody>
          <a:bodyPr wrap="square" lIns="0" tIns="0" rIns="0" bIns="0" rtlCol="0" anchor="ctr"/>
          <a:lstStyle/>
          <a:p>
            <a:pPr marL="0" indent="0">
              <a:buNone/>
            </a:pPr>
            <a:r>
              <a:rPr lang="en-US" sz="1650" dirty="0">
                <a:solidFill>
                  <a:srgbClr val="1C2430"/>
                </a:solidFill>
                <a:latin typeface="Aptos" pitchFamily="34" charset="0"/>
                <a:ea typeface="Aptos" pitchFamily="34" charset="-122"/>
                <a:cs typeface="Aptos" pitchFamily="34" charset="-120"/>
              </a:rPr>
              <a:t>Одна формула может быть однозвенной или многозвенной.</a:t>
            </a:r>
            <a:endParaRPr lang="en-US" sz="1650" dirty="0"/>
          </a:p>
        </p:txBody>
      </p:sp>
      <p:sp>
        <p:nvSpPr>
          <p:cNvPr id="25" name="Slide Number Placeholder 0"/>
          <p:cNvSpPr>
            <a:spLocks noGrp="1"/>
          </p:cNvSpPr>
          <p:nvPr>
            <p:ph type="sldNum" sz="quarter" idx="4294967295"/>
          </p:nvPr>
        </p:nvSpPr>
        <p:spPr>
          <a:xfrm>
            <a:off x="11612880" y="6446520"/>
            <a:ext cx="256032"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699"/>
                </a:solidFill>
                <a:latin typeface="Aptos"/>
                <a:ea typeface="Aptos"/>
                <a:cs typeface="Aptos"/>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85800" y="411480"/>
            <a:ext cx="7955280" cy="457200"/>
          </a:xfrm>
          <a:prstGeom prst="rect">
            <a:avLst/>
          </a:prstGeom>
          <a:noFill/>
          <a:ln/>
        </p:spPr>
        <p:txBody>
          <a:bodyPr wrap="square" lIns="0" tIns="0" rIns="0" bIns="0" rtlCol="0" anchor="ctr"/>
          <a:lstStyle/>
          <a:p>
            <a:pPr marL="0" indent="0">
              <a:buNone/>
            </a:pPr>
            <a:r>
              <a:rPr lang="en-US" sz="2400" b="1" dirty="0">
                <a:solidFill>
                  <a:srgbClr val="163B6D"/>
                </a:solidFill>
                <a:latin typeface="Aptos Display" pitchFamily="34" charset="0"/>
                <a:ea typeface="Aptos Display" pitchFamily="34" charset="-122"/>
                <a:cs typeface="Aptos Display" pitchFamily="34" charset="-120"/>
              </a:rPr>
              <a:t>3. Что делает формулу сильной</a:t>
            </a:r>
            <a:endParaRPr lang="en-US" sz="2400" dirty="0"/>
          </a:p>
        </p:txBody>
      </p:sp>
      <p:sp>
        <p:nvSpPr>
          <p:cNvPr id="3" name="Text 1"/>
          <p:cNvSpPr/>
          <p:nvPr/>
        </p:nvSpPr>
        <p:spPr>
          <a:xfrm>
            <a:off x="713232" y="896112"/>
            <a:ext cx="8412480" cy="274320"/>
          </a:xfrm>
          <a:prstGeom prst="rect">
            <a:avLst/>
          </a:prstGeom>
          <a:noFill/>
          <a:ln/>
        </p:spPr>
        <p:txBody>
          <a:bodyPr wrap="square" lIns="0" tIns="0" rIns="0" bIns="0" rtlCol="0" anchor="ctr"/>
          <a:lstStyle/>
          <a:p>
            <a:pPr marL="0" indent="0">
              <a:buNone/>
            </a:pPr>
            <a:r>
              <a:rPr lang="en-US" sz="1050" dirty="0">
                <a:solidFill>
                  <a:srgbClr val="65748B"/>
                </a:solidFill>
                <a:latin typeface="Aptos" pitchFamily="34" charset="0"/>
                <a:ea typeface="Aptos" pitchFamily="34" charset="-122"/>
                <a:cs typeface="Aptos" pitchFamily="34" charset="-120"/>
              </a:rPr>
              <a:t>И какие ошибки чаще всего мешают патентованию и защите</a:t>
            </a:r>
            <a:endParaRPr lang="en-US" sz="1050" dirty="0"/>
          </a:p>
        </p:txBody>
      </p:sp>
      <p:sp>
        <p:nvSpPr>
          <p:cNvPr id="4" name="Shape 2"/>
          <p:cNvSpPr/>
          <p:nvPr/>
        </p:nvSpPr>
        <p:spPr>
          <a:xfrm>
            <a:off x="658368" y="1325880"/>
            <a:ext cx="5440680" cy="4572000"/>
          </a:xfrm>
          <a:prstGeom prst="roundRect">
            <a:avLst/>
          </a:prstGeom>
          <a:solidFill>
            <a:srgbClr val="ECF8F0"/>
          </a:solidFill>
          <a:ln w="12700">
            <a:solidFill>
              <a:srgbClr val="B8E2C7"/>
            </a:solidFill>
            <a:prstDash val="solid"/>
          </a:ln>
        </p:spPr>
      </p:sp>
      <p:sp>
        <p:nvSpPr>
          <p:cNvPr id="5" name="Text 3"/>
          <p:cNvSpPr/>
          <p:nvPr/>
        </p:nvSpPr>
        <p:spPr>
          <a:xfrm>
            <a:off x="2468880" y="1467612"/>
            <a:ext cx="1188720" cy="310896"/>
          </a:xfrm>
          <a:prstGeom prst="rect">
            <a:avLst/>
          </a:prstGeom>
          <a:solidFill>
            <a:srgbClr val="1F8A50"/>
          </a:solidFill>
          <a:ln>
            <a:solidFill>
              <a:srgbClr val="1F8A50"/>
            </a:solidFill>
          </a:ln>
        </p:spPr>
        <p:txBody>
          <a:bodyPr wrap="square" lIns="254" tIns="254" rIns="254" bIns="254" rtlCol="0" anchor="ctr"/>
          <a:lstStyle/>
          <a:p>
            <a:pPr marL="0" indent="0" algn="ctr">
              <a:buNone/>
            </a:pPr>
            <a:r>
              <a:rPr lang="en-US" sz="1100" b="1" dirty="0">
                <a:solidFill>
                  <a:srgbClr val="FFFFFF"/>
                </a:solidFill>
                <a:latin typeface="Aptos" pitchFamily="34" charset="0"/>
                <a:ea typeface="Aptos" pitchFamily="34" charset="-122"/>
                <a:cs typeface="Aptos" pitchFamily="34" charset="-120"/>
              </a:rPr>
              <a:t>Нужно</a:t>
            </a:r>
            <a:endParaRPr lang="en-US" sz="1100" dirty="0"/>
          </a:p>
        </p:txBody>
      </p:sp>
      <p:sp>
        <p:nvSpPr>
          <p:cNvPr id="6" name="Shape 4"/>
          <p:cNvSpPr/>
          <p:nvPr/>
        </p:nvSpPr>
        <p:spPr>
          <a:xfrm>
            <a:off x="914400" y="2002536"/>
            <a:ext cx="118872" cy="118872"/>
          </a:xfrm>
          <a:prstGeom prst="ellipse">
            <a:avLst/>
          </a:prstGeom>
          <a:solidFill>
            <a:srgbClr val="2A6FDB"/>
          </a:solidFill>
          <a:ln w="12700">
            <a:solidFill>
              <a:srgbClr val="2A6FDB"/>
            </a:solidFill>
            <a:prstDash val="solid"/>
          </a:ln>
        </p:spPr>
      </p:sp>
      <p:sp>
        <p:nvSpPr>
          <p:cNvPr id="7" name="Text 5"/>
          <p:cNvSpPr/>
          <p:nvPr/>
        </p:nvSpPr>
        <p:spPr>
          <a:xfrm>
            <a:off x="1115568" y="1901952"/>
            <a:ext cx="4553712" cy="566928"/>
          </a:xfrm>
          <a:prstGeom prst="rect">
            <a:avLst/>
          </a:prstGeom>
          <a:noFill/>
          <a:ln/>
        </p:spPr>
        <p:txBody>
          <a:bodyPr wrap="square" lIns="0" tIns="0" rIns="0" bIns="0" rtlCol="0" anchor="ctr"/>
          <a:lstStyle/>
          <a:p>
            <a:pPr marL="0" indent="0">
              <a:buNone/>
            </a:pPr>
            <a:r>
              <a:rPr lang="en-US" sz="1750" dirty="0">
                <a:solidFill>
                  <a:srgbClr val="1C2430"/>
                </a:solidFill>
                <a:latin typeface="Aptos" pitchFamily="34" charset="0"/>
                <a:ea typeface="Aptos" pitchFamily="34" charset="-122"/>
                <a:cs typeface="Aptos" pitchFamily="34" charset="-120"/>
              </a:rPr>
              <a:t>Включать в независимый пункт только существенные признаки.</a:t>
            </a:r>
            <a:endParaRPr lang="en-US" sz="1750" dirty="0"/>
          </a:p>
        </p:txBody>
      </p:sp>
      <p:sp>
        <p:nvSpPr>
          <p:cNvPr id="8" name="Shape 6"/>
          <p:cNvSpPr/>
          <p:nvPr/>
        </p:nvSpPr>
        <p:spPr>
          <a:xfrm>
            <a:off x="914400" y="2734056"/>
            <a:ext cx="118872" cy="118872"/>
          </a:xfrm>
          <a:prstGeom prst="ellipse">
            <a:avLst/>
          </a:prstGeom>
          <a:solidFill>
            <a:srgbClr val="2A6FDB"/>
          </a:solidFill>
          <a:ln w="12700">
            <a:solidFill>
              <a:srgbClr val="2A6FDB"/>
            </a:solidFill>
            <a:prstDash val="solid"/>
          </a:ln>
        </p:spPr>
      </p:sp>
      <p:sp>
        <p:nvSpPr>
          <p:cNvPr id="9" name="Text 7"/>
          <p:cNvSpPr/>
          <p:nvPr/>
        </p:nvSpPr>
        <p:spPr>
          <a:xfrm>
            <a:off x="1115568" y="2633472"/>
            <a:ext cx="4553712" cy="566928"/>
          </a:xfrm>
          <a:prstGeom prst="rect">
            <a:avLst/>
          </a:prstGeom>
          <a:noFill/>
          <a:ln/>
        </p:spPr>
        <p:txBody>
          <a:bodyPr wrap="square" lIns="0" tIns="0" rIns="0" bIns="0" rtlCol="0" anchor="ctr"/>
          <a:lstStyle/>
          <a:p>
            <a:pPr marL="0" indent="0">
              <a:buNone/>
            </a:pPr>
            <a:r>
              <a:rPr lang="en-US" sz="1750" dirty="0">
                <a:solidFill>
                  <a:srgbClr val="1C2430"/>
                </a:solidFill>
                <a:latin typeface="Aptos" pitchFamily="34" charset="0"/>
                <a:ea typeface="Aptos" pitchFamily="34" charset="-122"/>
                <a:cs typeface="Aptos" pitchFamily="34" charset="-120"/>
              </a:rPr>
              <a:t>Показывать причинную связь между признаками и техническим результатом.</a:t>
            </a:r>
            <a:endParaRPr lang="en-US" sz="1750" dirty="0"/>
          </a:p>
        </p:txBody>
      </p:sp>
      <p:sp>
        <p:nvSpPr>
          <p:cNvPr id="10" name="Shape 8"/>
          <p:cNvSpPr/>
          <p:nvPr/>
        </p:nvSpPr>
        <p:spPr>
          <a:xfrm>
            <a:off x="914400" y="3465576"/>
            <a:ext cx="118872" cy="118872"/>
          </a:xfrm>
          <a:prstGeom prst="ellipse">
            <a:avLst/>
          </a:prstGeom>
          <a:solidFill>
            <a:srgbClr val="2A6FDB"/>
          </a:solidFill>
          <a:ln w="12700">
            <a:solidFill>
              <a:srgbClr val="2A6FDB"/>
            </a:solidFill>
            <a:prstDash val="solid"/>
          </a:ln>
        </p:spPr>
      </p:sp>
      <p:sp>
        <p:nvSpPr>
          <p:cNvPr id="11" name="Text 9"/>
          <p:cNvSpPr/>
          <p:nvPr/>
        </p:nvSpPr>
        <p:spPr>
          <a:xfrm>
            <a:off x="1115568" y="3364992"/>
            <a:ext cx="4553712" cy="566928"/>
          </a:xfrm>
          <a:prstGeom prst="rect">
            <a:avLst/>
          </a:prstGeom>
          <a:noFill/>
          <a:ln/>
        </p:spPr>
        <p:txBody>
          <a:bodyPr wrap="square" lIns="0" tIns="0" rIns="0" bIns="0" rtlCol="0" anchor="ctr"/>
          <a:lstStyle/>
          <a:p>
            <a:pPr marL="0" indent="0">
              <a:buNone/>
            </a:pPr>
            <a:r>
              <a:rPr lang="en-US" sz="1750" dirty="0">
                <a:solidFill>
                  <a:srgbClr val="1C2430"/>
                </a:solidFill>
                <a:latin typeface="Aptos" pitchFamily="34" charset="0"/>
                <a:ea typeface="Aptos" pitchFamily="34" charset="-122"/>
                <a:cs typeface="Aptos" pitchFamily="34" charset="-120"/>
              </a:rPr>
              <a:t>Использовать ясные, единообразные термины.</a:t>
            </a:r>
            <a:endParaRPr lang="en-US" sz="1750" dirty="0"/>
          </a:p>
        </p:txBody>
      </p:sp>
      <p:sp>
        <p:nvSpPr>
          <p:cNvPr id="12" name="Shape 10"/>
          <p:cNvSpPr/>
          <p:nvPr/>
        </p:nvSpPr>
        <p:spPr>
          <a:xfrm>
            <a:off x="914400" y="4197096"/>
            <a:ext cx="118872" cy="118872"/>
          </a:xfrm>
          <a:prstGeom prst="ellipse">
            <a:avLst/>
          </a:prstGeom>
          <a:solidFill>
            <a:srgbClr val="2A6FDB"/>
          </a:solidFill>
          <a:ln w="12700">
            <a:solidFill>
              <a:srgbClr val="2A6FDB"/>
            </a:solidFill>
            <a:prstDash val="solid"/>
          </a:ln>
        </p:spPr>
      </p:sp>
      <p:sp>
        <p:nvSpPr>
          <p:cNvPr id="13" name="Text 11"/>
          <p:cNvSpPr/>
          <p:nvPr/>
        </p:nvSpPr>
        <p:spPr>
          <a:xfrm>
            <a:off x="1115568" y="4096512"/>
            <a:ext cx="4553712" cy="566928"/>
          </a:xfrm>
          <a:prstGeom prst="rect">
            <a:avLst/>
          </a:prstGeom>
          <a:noFill/>
          <a:ln/>
        </p:spPr>
        <p:txBody>
          <a:bodyPr wrap="square" lIns="0" tIns="0" rIns="0" bIns="0" rtlCol="0" anchor="ctr"/>
          <a:lstStyle/>
          <a:p>
            <a:pPr marL="0" indent="0">
              <a:buNone/>
            </a:pPr>
            <a:r>
              <a:rPr lang="en-US" sz="1750" dirty="0">
                <a:solidFill>
                  <a:srgbClr val="1C2430"/>
                </a:solidFill>
                <a:latin typeface="Aptos" pitchFamily="34" charset="0"/>
                <a:ea typeface="Aptos" pitchFamily="34" charset="-122"/>
                <a:cs typeface="Aptos" pitchFamily="34" charset="-120"/>
              </a:rPr>
              <a:t>Подтверждать заявленный объем охраны описанием и примерами.</a:t>
            </a:r>
            <a:endParaRPr lang="en-US" sz="1750" dirty="0"/>
          </a:p>
        </p:txBody>
      </p:sp>
      <p:sp>
        <p:nvSpPr>
          <p:cNvPr id="14" name="Shape 12"/>
          <p:cNvSpPr/>
          <p:nvPr/>
        </p:nvSpPr>
        <p:spPr>
          <a:xfrm>
            <a:off x="6355080" y="1325880"/>
            <a:ext cx="5166360" cy="4572000"/>
          </a:xfrm>
          <a:prstGeom prst="roundRect">
            <a:avLst/>
          </a:prstGeom>
          <a:solidFill>
            <a:srgbClr val="FDEEEE"/>
          </a:solidFill>
          <a:ln w="12700">
            <a:solidFill>
              <a:srgbClr val="F0C4C4"/>
            </a:solidFill>
            <a:prstDash val="solid"/>
          </a:ln>
        </p:spPr>
      </p:sp>
      <p:sp>
        <p:nvSpPr>
          <p:cNvPr id="15" name="Text 13"/>
          <p:cNvSpPr/>
          <p:nvPr/>
        </p:nvSpPr>
        <p:spPr>
          <a:xfrm>
            <a:off x="8001000" y="1426718"/>
            <a:ext cx="1417320" cy="310896"/>
          </a:xfrm>
          <a:prstGeom prst="rect">
            <a:avLst/>
          </a:prstGeom>
          <a:solidFill>
            <a:srgbClr val="D54C4C"/>
          </a:solidFill>
          <a:ln>
            <a:solidFill>
              <a:srgbClr val="D54C4C"/>
            </a:solidFill>
          </a:ln>
        </p:spPr>
        <p:txBody>
          <a:bodyPr wrap="square" lIns="254" tIns="254" rIns="254" bIns="254" rtlCol="0" anchor="ctr"/>
          <a:lstStyle/>
          <a:p>
            <a:pPr marL="0" indent="0" algn="ctr">
              <a:buNone/>
            </a:pPr>
            <a:r>
              <a:rPr lang="en-US" sz="1100" b="1" dirty="0">
                <a:solidFill>
                  <a:srgbClr val="FFFFFF"/>
                </a:solidFill>
                <a:latin typeface="Aptos" pitchFamily="34" charset="0"/>
                <a:ea typeface="Aptos" pitchFamily="34" charset="-122"/>
                <a:cs typeface="Aptos" pitchFamily="34" charset="-120"/>
              </a:rPr>
              <a:t>Ошибка</a:t>
            </a:r>
            <a:endParaRPr lang="en-US" sz="1100" dirty="0"/>
          </a:p>
        </p:txBody>
      </p:sp>
      <p:sp>
        <p:nvSpPr>
          <p:cNvPr id="16" name="Shape 14"/>
          <p:cNvSpPr/>
          <p:nvPr/>
        </p:nvSpPr>
        <p:spPr>
          <a:xfrm>
            <a:off x="6601968" y="2002536"/>
            <a:ext cx="118872" cy="118872"/>
          </a:xfrm>
          <a:prstGeom prst="ellipse">
            <a:avLst/>
          </a:prstGeom>
          <a:solidFill>
            <a:srgbClr val="2A6FDB"/>
          </a:solidFill>
          <a:ln w="12700">
            <a:solidFill>
              <a:srgbClr val="2A6FDB"/>
            </a:solidFill>
            <a:prstDash val="solid"/>
          </a:ln>
        </p:spPr>
      </p:sp>
      <p:sp>
        <p:nvSpPr>
          <p:cNvPr id="17" name="Text 15"/>
          <p:cNvSpPr/>
          <p:nvPr/>
        </p:nvSpPr>
        <p:spPr>
          <a:xfrm>
            <a:off x="6803136" y="1901952"/>
            <a:ext cx="4325112" cy="566928"/>
          </a:xfrm>
          <a:prstGeom prst="rect">
            <a:avLst/>
          </a:prstGeom>
          <a:noFill/>
          <a:ln/>
        </p:spPr>
        <p:txBody>
          <a:bodyPr wrap="square" lIns="0" tIns="0" rIns="0" bIns="0" rtlCol="0" anchor="ctr"/>
          <a:lstStyle/>
          <a:p>
            <a:pPr marL="0" indent="0">
              <a:buNone/>
            </a:pPr>
            <a:r>
              <a:rPr lang="en-US" sz="1750" dirty="0">
                <a:solidFill>
                  <a:srgbClr val="1C2430"/>
                </a:solidFill>
                <a:latin typeface="Aptos" pitchFamily="34" charset="0"/>
                <a:ea typeface="Aptos" pitchFamily="34" charset="-122"/>
                <a:cs typeface="Aptos" pitchFamily="34" charset="-120"/>
              </a:rPr>
              <a:t>В независимом пункте отсутствует признак, без которого результат не достигается.</a:t>
            </a:r>
            <a:endParaRPr lang="en-US" sz="1750" dirty="0"/>
          </a:p>
        </p:txBody>
      </p:sp>
      <p:sp>
        <p:nvSpPr>
          <p:cNvPr id="18" name="Shape 16"/>
          <p:cNvSpPr/>
          <p:nvPr/>
        </p:nvSpPr>
        <p:spPr>
          <a:xfrm>
            <a:off x="6601968" y="2734056"/>
            <a:ext cx="118872" cy="118872"/>
          </a:xfrm>
          <a:prstGeom prst="ellipse">
            <a:avLst/>
          </a:prstGeom>
          <a:solidFill>
            <a:srgbClr val="2A6FDB"/>
          </a:solidFill>
          <a:ln w="12700">
            <a:solidFill>
              <a:srgbClr val="2A6FDB"/>
            </a:solidFill>
            <a:prstDash val="solid"/>
          </a:ln>
        </p:spPr>
      </p:sp>
      <p:sp>
        <p:nvSpPr>
          <p:cNvPr id="19" name="Text 17"/>
          <p:cNvSpPr/>
          <p:nvPr/>
        </p:nvSpPr>
        <p:spPr>
          <a:xfrm>
            <a:off x="6803136" y="2633472"/>
            <a:ext cx="4325112" cy="566928"/>
          </a:xfrm>
          <a:prstGeom prst="rect">
            <a:avLst/>
          </a:prstGeom>
          <a:noFill/>
          <a:ln/>
        </p:spPr>
        <p:txBody>
          <a:bodyPr wrap="square" lIns="0" tIns="0" rIns="0" bIns="0" rtlCol="0" anchor="ctr"/>
          <a:lstStyle/>
          <a:p>
            <a:pPr marL="0" indent="0">
              <a:buNone/>
            </a:pPr>
            <a:r>
              <a:rPr lang="en-US" sz="1750" dirty="0">
                <a:solidFill>
                  <a:srgbClr val="1C2430"/>
                </a:solidFill>
                <a:latin typeface="Aptos" pitchFamily="34" charset="0"/>
                <a:ea typeface="Aptos" pitchFamily="34" charset="-122"/>
                <a:cs typeface="Aptos" pitchFamily="34" charset="-120"/>
              </a:rPr>
              <a:t>Зависимый пункт фактически заменяет или убирает признак независимого.</a:t>
            </a:r>
            <a:endParaRPr lang="en-US" sz="1750" dirty="0"/>
          </a:p>
        </p:txBody>
      </p:sp>
      <p:sp>
        <p:nvSpPr>
          <p:cNvPr id="20" name="Shape 18"/>
          <p:cNvSpPr/>
          <p:nvPr/>
        </p:nvSpPr>
        <p:spPr>
          <a:xfrm>
            <a:off x="6601968" y="3465576"/>
            <a:ext cx="118872" cy="118872"/>
          </a:xfrm>
          <a:prstGeom prst="ellipse">
            <a:avLst/>
          </a:prstGeom>
          <a:solidFill>
            <a:srgbClr val="2A6FDB"/>
          </a:solidFill>
          <a:ln w="12700">
            <a:solidFill>
              <a:srgbClr val="2A6FDB"/>
            </a:solidFill>
            <a:prstDash val="solid"/>
          </a:ln>
        </p:spPr>
      </p:sp>
      <p:sp>
        <p:nvSpPr>
          <p:cNvPr id="21" name="Text 19"/>
          <p:cNvSpPr/>
          <p:nvPr/>
        </p:nvSpPr>
        <p:spPr>
          <a:xfrm>
            <a:off x="6803136" y="3364992"/>
            <a:ext cx="4325112" cy="566928"/>
          </a:xfrm>
          <a:prstGeom prst="rect">
            <a:avLst/>
          </a:prstGeom>
          <a:noFill/>
          <a:ln/>
        </p:spPr>
        <p:txBody>
          <a:bodyPr wrap="square" lIns="0" tIns="0" rIns="0" bIns="0" rtlCol="0" anchor="ctr"/>
          <a:lstStyle/>
          <a:p>
            <a:pPr marL="0" indent="0">
              <a:buNone/>
            </a:pPr>
            <a:r>
              <a:rPr lang="en-US" sz="1750" dirty="0">
                <a:solidFill>
                  <a:srgbClr val="1C2430"/>
                </a:solidFill>
                <a:latin typeface="Aptos" pitchFamily="34" charset="0"/>
                <a:ea typeface="Aptos" pitchFamily="34" charset="-122"/>
                <a:cs typeface="Aptos" pitchFamily="34" charset="-120"/>
              </a:rPr>
              <a:t>Формула описывает эффект или цель, но не технические признаки объекта.</a:t>
            </a:r>
            <a:endParaRPr lang="en-US" sz="1750" dirty="0"/>
          </a:p>
        </p:txBody>
      </p:sp>
      <p:sp>
        <p:nvSpPr>
          <p:cNvPr id="22" name="Shape 20"/>
          <p:cNvSpPr/>
          <p:nvPr/>
        </p:nvSpPr>
        <p:spPr>
          <a:xfrm>
            <a:off x="6601968" y="4197096"/>
            <a:ext cx="118872" cy="118872"/>
          </a:xfrm>
          <a:prstGeom prst="ellipse">
            <a:avLst/>
          </a:prstGeom>
          <a:solidFill>
            <a:srgbClr val="2A6FDB"/>
          </a:solidFill>
          <a:ln w="12700">
            <a:solidFill>
              <a:srgbClr val="2A6FDB"/>
            </a:solidFill>
            <a:prstDash val="solid"/>
          </a:ln>
        </p:spPr>
      </p:sp>
      <p:sp>
        <p:nvSpPr>
          <p:cNvPr id="23" name="Text 21"/>
          <p:cNvSpPr/>
          <p:nvPr/>
        </p:nvSpPr>
        <p:spPr>
          <a:xfrm>
            <a:off x="6803136" y="4096512"/>
            <a:ext cx="4325112" cy="566928"/>
          </a:xfrm>
          <a:prstGeom prst="rect">
            <a:avLst/>
          </a:prstGeom>
          <a:noFill/>
          <a:ln/>
        </p:spPr>
        <p:txBody>
          <a:bodyPr wrap="square" lIns="0" tIns="0" rIns="0" bIns="0" rtlCol="0" anchor="ctr"/>
          <a:lstStyle/>
          <a:p>
            <a:pPr marL="0" indent="0">
              <a:buNone/>
            </a:pPr>
            <a:r>
              <a:rPr lang="en-US" sz="1750" dirty="0">
                <a:solidFill>
                  <a:srgbClr val="1C2430"/>
                </a:solidFill>
                <a:latin typeface="Aptos" pitchFamily="34" charset="0"/>
                <a:ea typeface="Aptos" pitchFamily="34" charset="-122"/>
                <a:cs typeface="Aptos" pitchFamily="34" charset="-120"/>
              </a:rPr>
              <a:t>Объем формулы шире, чем раскрытие в описании.</a:t>
            </a:r>
            <a:endParaRPr lang="en-US" sz="1750" dirty="0"/>
          </a:p>
        </p:txBody>
      </p:sp>
      <p:sp>
        <p:nvSpPr>
          <p:cNvPr id="24" name="Text 22"/>
          <p:cNvSpPr/>
          <p:nvPr/>
        </p:nvSpPr>
        <p:spPr>
          <a:xfrm>
            <a:off x="914400" y="6144768"/>
            <a:ext cx="10241280" cy="274320"/>
          </a:xfrm>
          <a:prstGeom prst="rect">
            <a:avLst/>
          </a:prstGeom>
          <a:noFill/>
          <a:ln/>
        </p:spPr>
        <p:txBody>
          <a:bodyPr wrap="square" lIns="0" tIns="0" rIns="0" bIns="0" rtlCol="0" anchor="ctr"/>
          <a:lstStyle/>
          <a:p>
            <a:pPr marL="0" indent="0">
              <a:buNone/>
            </a:pPr>
            <a:r>
              <a:rPr lang="en-US" sz="1550" i="1" dirty="0">
                <a:solidFill>
                  <a:srgbClr val="65748B"/>
                </a:solidFill>
              </a:rPr>
              <a:t>Хорошая формула — это баланс между достаточной широтой и доказуемой технической сущностью.</a:t>
            </a:r>
            <a:endParaRPr lang="en-US" sz="1550" dirty="0"/>
          </a:p>
        </p:txBody>
      </p:sp>
      <p:sp>
        <p:nvSpPr>
          <p:cNvPr id="25" name="Slide Number Placeholder 0"/>
          <p:cNvSpPr>
            <a:spLocks noGrp="1"/>
          </p:cNvSpPr>
          <p:nvPr>
            <p:ph type="sldNum" sz="quarter" idx="4294967295"/>
          </p:nvPr>
        </p:nvSpPr>
        <p:spPr>
          <a:xfrm>
            <a:off x="11612880" y="6446520"/>
            <a:ext cx="256032"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699"/>
                </a:solidFill>
                <a:latin typeface="Aptos"/>
                <a:ea typeface="Aptos"/>
                <a:cs typeface="Aptos"/>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85800" y="411480"/>
            <a:ext cx="7955280" cy="457200"/>
          </a:xfrm>
          <a:prstGeom prst="rect">
            <a:avLst/>
          </a:prstGeom>
          <a:noFill/>
          <a:ln/>
        </p:spPr>
        <p:txBody>
          <a:bodyPr wrap="square" lIns="0" tIns="0" rIns="0" bIns="0" rtlCol="0" anchor="ctr"/>
          <a:lstStyle/>
          <a:p>
            <a:pPr marL="0" indent="0">
              <a:buNone/>
            </a:pPr>
            <a:r>
              <a:rPr lang="en-US" sz="2400" b="1" dirty="0">
                <a:solidFill>
                  <a:srgbClr val="163B6D"/>
                </a:solidFill>
                <a:latin typeface="Aptos Display" pitchFamily="34" charset="0"/>
                <a:ea typeface="Aptos Display" pitchFamily="34" charset="-122"/>
                <a:cs typeface="Aptos Display" pitchFamily="34" charset="-120"/>
              </a:rPr>
              <a:t>4. Служебное изобретение: когда оно возникает</a:t>
            </a:r>
            <a:endParaRPr lang="en-US" sz="2400" dirty="0"/>
          </a:p>
        </p:txBody>
      </p:sp>
      <p:sp>
        <p:nvSpPr>
          <p:cNvPr id="3" name="Text 1"/>
          <p:cNvSpPr/>
          <p:nvPr/>
        </p:nvSpPr>
        <p:spPr>
          <a:xfrm>
            <a:off x="713232" y="896112"/>
            <a:ext cx="8412480" cy="274320"/>
          </a:xfrm>
          <a:prstGeom prst="rect">
            <a:avLst/>
          </a:prstGeom>
          <a:noFill/>
          <a:ln/>
        </p:spPr>
        <p:txBody>
          <a:bodyPr wrap="square" lIns="0" tIns="0" rIns="0" bIns="0" rtlCol="0" anchor="ctr"/>
          <a:lstStyle/>
          <a:p>
            <a:pPr marL="0" indent="0">
              <a:buNone/>
            </a:pPr>
            <a:r>
              <a:rPr lang="en-US" sz="1050" dirty="0">
                <a:solidFill>
                  <a:srgbClr val="65748B"/>
                </a:solidFill>
                <a:latin typeface="Aptos" pitchFamily="34" charset="0"/>
                <a:ea typeface="Aptos" pitchFamily="34" charset="-122"/>
                <a:cs typeface="Aptos" pitchFamily="34" charset="-120"/>
              </a:rPr>
              <a:t>Главный критерий — связь с трудовыми обязанностями или конкретным заданием работодателя</a:t>
            </a:r>
            <a:endParaRPr lang="en-US" sz="1050" dirty="0"/>
          </a:p>
        </p:txBody>
      </p:sp>
      <p:sp>
        <p:nvSpPr>
          <p:cNvPr id="4" name="Shape 2"/>
          <p:cNvSpPr/>
          <p:nvPr/>
        </p:nvSpPr>
        <p:spPr>
          <a:xfrm>
            <a:off x="658368" y="1298448"/>
            <a:ext cx="4709160" cy="4645152"/>
          </a:xfrm>
          <a:prstGeom prst="roundRect">
            <a:avLst/>
          </a:prstGeom>
          <a:solidFill>
            <a:srgbClr val="FFFFFF"/>
          </a:solidFill>
          <a:ln w="12700">
            <a:solidFill>
              <a:srgbClr val="D8E1EE"/>
            </a:solidFill>
            <a:prstDash val="solid"/>
          </a:ln>
        </p:spPr>
      </p:sp>
      <p:sp>
        <p:nvSpPr>
          <p:cNvPr id="5" name="Text 3"/>
          <p:cNvSpPr/>
          <p:nvPr/>
        </p:nvSpPr>
        <p:spPr>
          <a:xfrm>
            <a:off x="1988820" y="1472184"/>
            <a:ext cx="1920240" cy="310896"/>
          </a:xfrm>
          <a:prstGeom prst="rect">
            <a:avLst/>
          </a:prstGeom>
          <a:solidFill>
            <a:srgbClr val="163B6D"/>
          </a:solidFill>
          <a:ln>
            <a:solidFill>
              <a:srgbClr val="163B6D"/>
            </a:solidFill>
          </a:ln>
        </p:spPr>
        <p:txBody>
          <a:bodyPr wrap="square" lIns="254" tIns="254" rIns="254" bIns="254" rtlCol="0" anchor="ctr"/>
          <a:lstStyle/>
          <a:p>
            <a:pPr marL="0" indent="0" algn="ctr">
              <a:buNone/>
            </a:pPr>
            <a:r>
              <a:rPr lang="en-US" sz="1100" b="1" dirty="0">
                <a:solidFill>
                  <a:srgbClr val="FFFFFF"/>
                </a:solidFill>
                <a:latin typeface="Aptos" pitchFamily="34" charset="0"/>
                <a:ea typeface="Aptos" pitchFamily="34" charset="-122"/>
                <a:cs typeface="Aptos" pitchFamily="34" charset="-120"/>
              </a:rPr>
              <a:t>Условия</a:t>
            </a:r>
            <a:endParaRPr lang="en-US" sz="1100" dirty="0"/>
          </a:p>
        </p:txBody>
      </p:sp>
      <p:sp>
        <p:nvSpPr>
          <p:cNvPr id="6" name="Shape 4"/>
          <p:cNvSpPr/>
          <p:nvPr/>
        </p:nvSpPr>
        <p:spPr>
          <a:xfrm>
            <a:off x="914400" y="2089404"/>
            <a:ext cx="118872" cy="118872"/>
          </a:xfrm>
          <a:prstGeom prst="ellipse">
            <a:avLst/>
          </a:prstGeom>
          <a:solidFill>
            <a:srgbClr val="2A6FDB"/>
          </a:solidFill>
          <a:ln w="12700">
            <a:solidFill>
              <a:srgbClr val="2A6FDB"/>
            </a:solidFill>
            <a:prstDash val="solid"/>
          </a:ln>
        </p:spPr>
      </p:sp>
      <p:sp>
        <p:nvSpPr>
          <p:cNvPr id="7" name="Text 5"/>
          <p:cNvSpPr/>
          <p:nvPr/>
        </p:nvSpPr>
        <p:spPr>
          <a:xfrm>
            <a:off x="1115568" y="1874520"/>
            <a:ext cx="3959352" cy="566928"/>
          </a:xfrm>
          <a:prstGeom prst="rect">
            <a:avLst/>
          </a:prstGeom>
          <a:noFill/>
          <a:ln/>
        </p:spPr>
        <p:txBody>
          <a:bodyPr wrap="square" lIns="0" tIns="0" rIns="0" bIns="0" rtlCol="0" anchor="ctr"/>
          <a:lstStyle/>
          <a:p>
            <a:pPr marL="0" indent="0">
              <a:buNone/>
            </a:pPr>
            <a:r>
              <a:rPr lang="en-US" sz="1800" dirty="0">
                <a:solidFill>
                  <a:srgbClr val="1C2430"/>
                </a:solidFill>
                <a:latin typeface="Aptos" pitchFamily="34" charset="0"/>
                <a:ea typeface="Aptos" pitchFamily="34" charset="-122"/>
                <a:cs typeface="Aptos" pitchFamily="34" charset="-120"/>
              </a:rPr>
              <a:t>Изобретение создано работником.</a:t>
            </a:r>
            <a:endParaRPr lang="en-US" sz="1800" dirty="0"/>
          </a:p>
        </p:txBody>
      </p:sp>
      <p:sp>
        <p:nvSpPr>
          <p:cNvPr id="8" name="Shape 6"/>
          <p:cNvSpPr/>
          <p:nvPr/>
        </p:nvSpPr>
        <p:spPr>
          <a:xfrm>
            <a:off x="914400" y="2407412"/>
            <a:ext cx="118872" cy="118872"/>
          </a:xfrm>
          <a:prstGeom prst="ellipse">
            <a:avLst/>
          </a:prstGeom>
          <a:solidFill>
            <a:srgbClr val="2A6FDB"/>
          </a:solidFill>
          <a:ln w="12700">
            <a:solidFill>
              <a:srgbClr val="2A6FDB"/>
            </a:solidFill>
            <a:prstDash val="solid"/>
          </a:ln>
        </p:spPr>
      </p:sp>
      <p:sp>
        <p:nvSpPr>
          <p:cNvPr id="9" name="Text 7"/>
          <p:cNvSpPr/>
          <p:nvPr/>
        </p:nvSpPr>
        <p:spPr>
          <a:xfrm>
            <a:off x="1115568" y="2459228"/>
            <a:ext cx="3959352" cy="566928"/>
          </a:xfrm>
          <a:prstGeom prst="rect">
            <a:avLst/>
          </a:prstGeom>
          <a:noFill/>
          <a:ln/>
        </p:spPr>
        <p:txBody>
          <a:bodyPr wrap="square" lIns="0" tIns="0" rIns="0" bIns="0" rtlCol="0" anchor="ctr"/>
          <a:lstStyle/>
          <a:p>
            <a:pPr marL="0" indent="0">
              <a:buNone/>
            </a:pPr>
            <a:r>
              <a:rPr lang="en-US" sz="1800" dirty="0">
                <a:solidFill>
                  <a:srgbClr val="1C2430"/>
                </a:solidFill>
                <a:latin typeface="Aptos" pitchFamily="34" charset="0"/>
                <a:ea typeface="Aptos" pitchFamily="34" charset="-122"/>
                <a:cs typeface="Aptos" pitchFamily="34" charset="-120"/>
              </a:rPr>
              <a:t>Создание связано с трудовыми обязанностями или конкретным заданием работодателя.</a:t>
            </a:r>
            <a:endParaRPr lang="en-US" sz="1800" dirty="0"/>
          </a:p>
        </p:txBody>
      </p:sp>
      <p:sp>
        <p:nvSpPr>
          <p:cNvPr id="10" name="Shape 8"/>
          <p:cNvSpPr/>
          <p:nvPr/>
        </p:nvSpPr>
        <p:spPr>
          <a:xfrm>
            <a:off x="914400" y="3347720"/>
            <a:ext cx="118872" cy="118872"/>
          </a:xfrm>
          <a:prstGeom prst="ellipse">
            <a:avLst/>
          </a:prstGeom>
          <a:solidFill>
            <a:srgbClr val="2A6FDB"/>
          </a:solidFill>
          <a:ln w="12700">
            <a:solidFill>
              <a:srgbClr val="2A6FDB"/>
            </a:solidFill>
            <a:prstDash val="solid"/>
          </a:ln>
        </p:spPr>
      </p:sp>
      <p:sp>
        <p:nvSpPr>
          <p:cNvPr id="11" name="Text 9"/>
          <p:cNvSpPr/>
          <p:nvPr/>
        </p:nvSpPr>
        <p:spPr>
          <a:xfrm>
            <a:off x="1115568" y="3374136"/>
            <a:ext cx="3959352" cy="566928"/>
          </a:xfrm>
          <a:prstGeom prst="rect">
            <a:avLst/>
          </a:prstGeom>
          <a:noFill/>
          <a:ln/>
        </p:spPr>
        <p:txBody>
          <a:bodyPr wrap="square" lIns="0" tIns="0" rIns="0" bIns="0" rtlCol="0" anchor="ctr"/>
          <a:lstStyle/>
          <a:p>
            <a:pPr marL="0" indent="0">
              <a:buNone/>
            </a:pPr>
            <a:r>
              <a:rPr lang="en-US" sz="1800" dirty="0">
                <a:solidFill>
                  <a:srgbClr val="1C2430"/>
                </a:solidFill>
                <a:latin typeface="Aptos" pitchFamily="34" charset="0"/>
                <a:ea typeface="Aptos" pitchFamily="34" charset="-122"/>
                <a:cs typeface="Aptos" pitchFamily="34" charset="-120"/>
              </a:rPr>
              <a:t>Само по себе использование оборудования работодателя еще не делает изобретение служебным.</a:t>
            </a:r>
            <a:endParaRPr lang="en-US" sz="1800" dirty="0"/>
          </a:p>
        </p:txBody>
      </p:sp>
      <p:sp>
        <p:nvSpPr>
          <p:cNvPr id="12" name="Text 10"/>
          <p:cNvSpPr/>
          <p:nvPr/>
        </p:nvSpPr>
        <p:spPr>
          <a:xfrm>
            <a:off x="914400" y="4208272"/>
            <a:ext cx="3200400" cy="256032"/>
          </a:xfrm>
          <a:prstGeom prst="rect">
            <a:avLst/>
          </a:prstGeom>
          <a:noFill/>
          <a:ln/>
        </p:spPr>
        <p:txBody>
          <a:bodyPr wrap="square" lIns="0" tIns="0" rIns="0" bIns="0" rtlCol="0" anchor="ctr"/>
          <a:lstStyle/>
          <a:p>
            <a:pPr marL="0" indent="0">
              <a:buNone/>
            </a:pPr>
            <a:r>
              <a:rPr lang="en-US" sz="1450" b="1" dirty="0">
                <a:solidFill>
                  <a:srgbClr val="163B6D"/>
                </a:solidFill>
              </a:rPr>
              <a:t>Распределение прав по общему правилу</a:t>
            </a:r>
            <a:endParaRPr lang="en-US" sz="1450" dirty="0"/>
          </a:p>
        </p:txBody>
      </p:sp>
      <p:sp>
        <p:nvSpPr>
          <p:cNvPr id="13" name="Text 11"/>
          <p:cNvSpPr/>
          <p:nvPr/>
        </p:nvSpPr>
        <p:spPr>
          <a:xfrm>
            <a:off x="1117600" y="4736592"/>
            <a:ext cx="4069080" cy="868680"/>
          </a:xfrm>
          <a:prstGeom prst="rect">
            <a:avLst/>
          </a:prstGeom>
          <a:noFill/>
          <a:ln/>
        </p:spPr>
        <p:txBody>
          <a:bodyPr wrap="square" lIns="381" tIns="381" rIns="381" bIns="381" rtlCol="0" anchor="ctr"/>
          <a:lstStyle/>
          <a:p>
            <a:pPr marL="0" indent="0">
              <a:buNone/>
            </a:pPr>
            <a:r>
              <a:rPr lang="en-US" sz="1700" dirty="0">
                <a:solidFill>
                  <a:srgbClr val="22314A"/>
                </a:solidFill>
              </a:rPr>
              <a:t>Авторство остается за работником. Исключительное право и право на получение патента принадлежат работодателю, если договором не установлено иное.</a:t>
            </a:r>
            <a:endParaRPr lang="en-US" sz="1700" dirty="0"/>
          </a:p>
        </p:txBody>
      </p:sp>
      <p:pic>
        <p:nvPicPr>
          <p:cNvPr id="14" name="Image 0" descr="/mnt/data/a_realistic_style_digital_illustration_depicts_two.png"/>
          <p:cNvPicPr>
            <a:picLocks noChangeAspect="1"/>
          </p:cNvPicPr>
          <p:nvPr/>
        </p:nvPicPr>
        <p:blipFill>
          <a:blip r:embed="rId3"/>
          <a:srcRect l="10630" r="10630"/>
          <a:stretch/>
        </p:blipFill>
        <p:spPr>
          <a:xfrm>
            <a:off x="5577840" y="1298448"/>
            <a:ext cx="5486400" cy="4645152"/>
          </a:xfrm>
          <a:prstGeom prst="rect">
            <a:avLst/>
          </a:prstGeom>
        </p:spPr>
      </p:pic>
      <p:sp>
        <p:nvSpPr>
          <p:cNvPr id="15" name="Shape 12"/>
          <p:cNvSpPr/>
          <p:nvPr/>
        </p:nvSpPr>
        <p:spPr>
          <a:xfrm>
            <a:off x="5897880" y="5285232"/>
            <a:ext cx="4572000" cy="365760"/>
          </a:xfrm>
          <a:prstGeom prst="roundRect">
            <a:avLst/>
          </a:prstGeom>
          <a:solidFill>
            <a:srgbClr val="FFFFFF">
              <a:alpha val="85000"/>
            </a:srgbClr>
          </a:solidFill>
          <a:ln w="12700">
            <a:solidFill>
              <a:srgbClr val="FFFFFF">
                <a:alpha val="0"/>
              </a:srgbClr>
            </a:solidFill>
            <a:prstDash val="solid"/>
          </a:ln>
        </p:spPr>
      </p:sp>
      <p:sp>
        <p:nvSpPr>
          <p:cNvPr id="16" name="Text 13"/>
          <p:cNvSpPr/>
          <p:nvPr/>
        </p:nvSpPr>
        <p:spPr>
          <a:xfrm>
            <a:off x="6053328" y="5367528"/>
            <a:ext cx="4251960" cy="164592"/>
          </a:xfrm>
          <a:prstGeom prst="rect">
            <a:avLst/>
          </a:prstGeom>
          <a:noFill/>
          <a:ln/>
        </p:spPr>
        <p:txBody>
          <a:bodyPr wrap="square" lIns="0" tIns="0" rIns="0" bIns="0" rtlCol="0" anchor="ctr"/>
          <a:lstStyle/>
          <a:p>
            <a:pPr marL="0" indent="0" algn="ctr">
              <a:buNone/>
            </a:pPr>
            <a:r>
              <a:rPr lang="en-US" sz="1100" dirty="0">
                <a:solidFill>
                  <a:srgbClr val="1C2430"/>
                </a:solidFill>
              </a:rPr>
              <a:t>Не служебное: создано только с использованием ресурсов работодателя, но вне трудовых обязанностей и задания.</a:t>
            </a:r>
            <a:endParaRPr lang="en-US" sz="1100" dirty="0"/>
          </a:p>
        </p:txBody>
      </p:sp>
      <p:sp>
        <p:nvSpPr>
          <p:cNvPr id="25" name="Slide Number Placeholder 0"/>
          <p:cNvSpPr>
            <a:spLocks noGrp="1"/>
          </p:cNvSpPr>
          <p:nvPr>
            <p:ph type="sldNum" sz="quarter" idx="4294967295"/>
          </p:nvPr>
        </p:nvSpPr>
        <p:spPr>
          <a:xfrm>
            <a:off x="11612880" y="6446520"/>
            <a:ext cx="256032"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699"/>
                </a:solidFill>
                <a:latin typeface="Aptos"/>
                <a:ea typeface="Aptos"/>
                <a:cs typeface="Aptos"/>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85800" y="411480"/>
            <a:ext cx="7955280" cy="457200"/>
          </a:xfrm>
          <a:prstGeom prst="rect">
            <a:avLst/>
          </a:prstGeom>
          <a:noFill/>
          <a:ln/>
        </p:spPr>
        <p:txBody>
          <a:bodyPr wrap="square" lIns="0" tIns="0" rIns="0" bIns="0" rtlCol="0" anchor="ctr"/>
          <a:lstStyle/>
          <a:p>
            <a:pPr marL="0" indent="0">
              <a:buNone/>
            </a:pPr>
            <a:r>
              <a:rPr lang="en-US" sz="2400" b="1" dirty="0">
                <a:solidFill>
                  <a:srgbClr val="163B6D"/>
                </a:solidFill>
                <a:latin typeface="Aptos Display" pitchFamily="34" charset="0"/>
                <a:ea typeface="Aptos Display" pitchFamily="34" charset="-122"/>
                <a:cs typeface="Aptos Display" pitchFamily="34" charset="-120"/>
              </a:rPr>
              <a:t>5. Что должны сделать работник и работодатель</a:t>
            </a:r>
            <a:endParaRPr lang="en-US" sz="2400" dirty="0"/>
          </a:p>
        </p:txBody>
      </p:sp>
      <p:sp>
        <p:nvSpPr>
          <p:cNvPr id="3" name="Text 1"/>
          <p:cNvSpPr/>
          <p:nvPr/>
        </p:nvSpPr>
        <p:spPr>
          <a:xfrm>
            <a:off x="713232" y="896112"/>
            <a:ext cx="8412480" cy="274320"/>
          </a:xfrm>
          <a:prstGeom prst="rect">
            <a:avLst/>
          </a:prstGeom>
          <a:noFill/>
          <a:ln/>
        </p:spPr>
        <p:txBody>
          <a:bodyPr wrap="square" lIns="0" tIns="0" rIns="0" bIns="0" rtlCol="0" anchor="ctr"/>
          <a:lstStyle/>
          <a:p>
            <a:pPr marL="0" indent="0">
              <a:buNone/>
            </a:pPr>
            <a:r>
              <a:rPr lang="en-US" sz="1050" dirty="0">
                <a:solidFill>
                  <a:srgbClr val="65748B"/>
                </a:solidFill>
                <a:latin typeface="Aptos" pitchFamily="34" charset="0"/>
                <a:ea typeface="Aptos" pitchFamily="34" charset="-122"/>
                <a:cs typeface="Aptos" pitchFamily="34" charset="-120"/>
              </a:rPr>
              <a:t>Ключевая развилка — письменное уведомление и 6 месяцев на решение работодателя</a:t>
            </a:r>
            <a:endParaRPr lang="en-US" sz="1050" dirty="0"/>
          </a:p>
        </p:txBody>
      </p:sp>
      <p:sp>
        <p:nvSpPr>
          <p:cNvPr id="4" name="Shape 2"/>
          <p:cNvSpPr/>
          <p:nvPr/>
        </p:nvSpPr>
        <p:spPr>
          <a:xfrm>
            <a:off x="2633726" y="2221992"/>
            <a:ext cx="438912" cy="237744"/>
          </a:xfrm>
          <a:prstGeom prst="chevron">
            <a:avLst/>
          </a:prstGeom>
          <a:solidFill>
            <a:srgbClr val="B8C9E6"/>
          </a:solidFill>
          <a:ln w="12700">
            <a:solidFill>
              <a:srgbClr val="B8C9E6"/>
            </a:solidFill>
            <a:prstDash val="solid"/>
          </a:ln>
        </p:spPr>
      </p:sp>
      <p:sp>
        <p:nvSpPr>
          <p:cNvPr id="5" name="Shape 3"/>
          <p:cNvSpPr/>
          <p:nvPr/>
        </p:nvSpPr>
        <p:spPr>
          <a:xfrm>
            <a:off x="4462526" y="2221992"/>
            <a:ext cx="438912" cy="237744"/>
          </a:xfrm>
          <a:prstGeom prst="chevron">
            <a:avLst/>
          </a:prstGeom>
          <a:solidFill>
            <a:srgbClr val="B8C9E6"/>
          </a:solidFill>
          <a:ln w="12700">
            <a:solidFill>
              <a:srgbClr val="B8C9E6"/>
            </a:solidFill>
            <a:prstDash val="solid"/>
          </a:ln>
        </p:spPr>
      </p:sp>
      <p:sp>
        <p:nvSpPr>
          <p:cNvPr id="6" name="Shape 4"/>
          <p:cNvSpPr/>
          <p:nvPr/>
        </p:nvSpPr>
        <p:spPr>
          <a:xfrm>
            <a:off x="6474206" y="2221992"/>
            <a:ext cx="438912" cy="237744"/>
          </a:xfrm>
          <a:prstGeom prst="chevron">
            <a:avLst/>
          </a:prstGeom>
          <a:solidFill>
            <a:srgbClr val="B8C9E6"/>
          </a:solidFill>
          <a:ln w="12700">
            <a:solidFill>
              <a:srgbClr val="B8C9E6"/>
            </a:solidFill>
            <a:prstDash val="solid"/>
          </a:ln>
        </p:spPr>
      </p:sp>
      <p:sp>
        <p:nvSpPr>
          <p:cNvPr id="7" name="Shape 5"/>
          <p:cNvSpPr/>
          <p:nvPr/>
        </p:nvSpPr>
        <p:spPr>
          <a:xfrm>
            <a:off x="8252206" y="2221992"/>
            <a:ext cx="438912" cy="237744"/>
          </a:xfrm>
          <a:prstGeom prst="chevron">
            <a:avLst/>
          </a:prstGeom>
          <a:solidFill>
            <a:srgbClr val="B8C9E6"/>
          </a:solidFill>
          <a:ln w="12700">
            <a:solidFill>
              <a:srgbClr val="B8C9E6"/>
            </a:solidFill>
            <a:prstDash val="solid"/>
          </a:ln>
        </p:spPr>
      </p:sp>
      <p:sp>
        <p:nvSpPr>
          <p:cNvPr id="8" name="Shape 6"/>
          <p:cNvSpPr/>
          <p:nvPr/>
        </p:nvSpPr>
        <p:spPr>
          <a:xfrm>
            <a:off x="1499870" y="1965960"/>
            <a:ext cx="1005840" cy="749808"/>
          </a:xfrm>
          <a:prstGeom prst="roundRect">
            <a:avLst/>
          </a:prstGeom>
          <a:solidFill>
            <a:srgbClr val="163B6D"/>
          </a:solidFill>
          <a:ln w="12700">
            <a:solidFill>
              <a:srgbClr val="163B6D"/>
            </a:solidFill>
            <a:prstDash val="solid"/>
          </a:ln>
        </p:spPr>
      </p:sp>
      <p:sp>
        <p:nvSpPr>
          <p:cNvPr id="9" name="Text 7"/>
          <p:cNvSpPr/>
          <p:nvPr/>
        </p:nvSpPr>
        <p:spPr>
          <a:xfrm>
            <a:off x="1499870" y="2139696"/>
            <a:ext cx="1005840" cy="201168"/>
          </a:xfrm>
          <a:prstGeom prst="rect">
            <a:avLst/>
          </a:prstGeom>
          <a:noFill/>
          <a:ln/>
        </p:spPr>
        <p:txBody>
          <a:bodyPr wrap="square" lIns="0" tIns="0" rIns="0" bIns="0" rtlCol="0" anchor="ctr"/>
          <a:lstStyle/>
          <a:p>
            <a:pPr marL="0" indent="0" algn="ctr">
              <a:buNone/>
            </a:pPr>
            <a:r>
              <a:rPr lang="en-US" sz="2400" b="1" dirty="0">
                <a:solidFill>
                  <a:srgbClr val="FFFFFF"/>
                </a:solidFill>
              </a:rPr>
              <a:t>1</a:t>
            </a:r>
            <a:endParaRPr lang="en-US" sz="2400" dirty="0"/>
          </a:p>
        </p:txBody>
      </p:sp>
      <p:sp>
        <p:nvSpPr>
          <p:cNvPr id="10" name="Text 8"/>
          <p:cNvSpPr/>
          <p:nvPr/>
        </p:nvSpPr>
        <p:spPr>
          <a:xfrm>
            <a:off x="1271270" y="2852928"/>
            <a:ext cx="1463040" cy="256032"/>
          </a:xfrm>
          <a:prstGeom prst="rect">
            <a:avLst/>
          </a:prstGeom>
          <a:noFill/>
          <a:ln/>
        </p:spPr>
        <p:txBody>
          <a:bodyPr wrap="square" lIns="0" tIns="0" rIns="0" bIns="0" rtlCol="0" anchor="ctr"/>
          <a:lstStyle/>
          <a:p>
            <a:pPr marL="0" indent="0" algn="ctr">
              <a:buNone/>
            </a:pPr>
            <a:r>
              <a:rPr lang="en-US" sz="1300" b="1" dirty="0">
                <a:solidFill>
                  <a:srgbClr val="163B6D"/>
                </a:solidFill>
              </a:rPr>
              <a:t>Работник</a:t>
            </a:r>
            <a:endParaRPr lang="en-US" sz="1300" dirty="0"/>
          </a:p>
        </p:txBody>
      </p:sp>
      <p:sp>
        <p:nvSpPr>
          <p:cNvPr id="11" name="Shape 9"/>
          <p:cNvSpPr/>
          <p:nvPr/>
        </p:nvSpPr>
        <p:spPr>
          <a:xfrm>
            <a:off x="1179830" y="3218688"/>
            <a:ext cx="1645920" cy="1691640"/>
          </a:xfrm>
          <a:prstGeom prst="roundRect">
            <a:avLst/>
          </a:prstGeom>
          <a:solidFill>
            <a:srgbClr val="FFFFFF"/>
          </a:solidFill>
          <a:ln w="12700">
            <a:solidFill>
              <a:srgbClr val="D8E1EE"/>
            </a:solidFill>
            <a:prstDash val="solid"/>
          </a:ln>
        </p:spPr>
      </p:sp>
      <p:sp>
        <p:nvSpPr>
          <p:cNvPr id="12" name="Text 10"/>
          <p:cNvSpPr/>
          <p:nvPr/>
        </p:nvSpPr>
        <p:spPr>
          <a:xfrm>
            <a:off x="1298702" y="3401568"/>
            <a:ext cx="1408176" cy="1325880"/>
          </a:xfrm>
          <a:prstGeom prst="rect">
            <a:avLst/>
          </a:prstGeom>
          <a:noFill/>
          <a:ln/>
        </p:spPr>
        <p:txBody>
          <a:bodyPr wrap="square" lIns="508" tIns="508" rIns="508" bIns="508" rtlCol="0" anchor="ctr"/>
          <a:lstStyle/>
          <a:p>
            <a:pPr marL="0" indent="0" algn="ctr">
              <a:buNone/>
            </a:pPr>
            <a:r>
              <a:rPr lang="en-US" sz="1250" dirty="0">
                <a:solidFill>
                  <a:srgbClr val="1C2430"/>
                </a:solidFill>
              </a:rPr>
              <a:t>Письменно уведомляет работодателя о результате, который может получить правовую охрану.</a:t>
            </a:r>
            <a:endParaRPr lang="en-US" sz="1250" dirty="0"/>
          </a:p>
        </p:txBody>
      </p:sp>
      <p:sp>
        <p:nvSpPr>
          <p:cNvPr id="13" name="Shape 11"/>
          <p:cNvSpPr/>
          <p:nvPr/>
        </p:nvSpPr>
        <p:spPr>
          <a:xfrm>
            <a:off x="3328670" y="1965960"/>
            <a:ext cx="1005840" cy="749808"/>
          </a:xfrm>
          <a:prstGeom prst="roundRect">
            <a:avLst/>
          </a:prstGeom>
          <a:solidFill>
            <a:srgbClr val="163B6D"/>
          </a:solidFill>
          <a:ln w="12700">
            <a:solidFill>
              <a:srgbClr val="163B6D"/>
            </a:solidFill>
            <a:prstDash val="solid"/>
          </a:ln>
        </p:spPr>
      </p:sp>
      <p:sp>
        <p:nvSpPr>
          <p:cNvPr id="14" name="Text 12"/>
          <p:cNvSpPr/>
          <p:nvPr/>
        </p:nvSpPr>
        <p:spPr>
          <a:xfrm>
            <a:off x="3328670" y="2139696"/>
            <a:ext cx="1005840" cy="201168"/>
          </a:xfrm>
          <a:prstGeom prst="rect">
            <a:avLst/>
          </a:prstGeom>
          <a:noFill/>
          <a:ln/>
        </p:spPr>
        <p:txBody>
          <a:bodyPr wrap="square" lIns="0" tIns="0" rIns="0" bIns="0" rtlCol="0" anchor="ctr"/>
          <a:lstStyle/>
          <a:p>
            <a:pPr marL="0" indent="0" algn="ctr">
              <a:buNone/>
            </a:pPr>
            <a:r>
              <a:rPr lang="en-US" sz="2400" b="1" dirty="0">
                <a:solidFill>
                  <a:srgbClr val="FFFFFF"/>
                </a:solidFill>
              </a:rPr>
              <a:t>2</a:t>
            </a:r>
            <a:endParaRPr lang="en-US" sz="2400" dirty="0"/>
          </a:p>
        </p:txBody>
      </p:sp>
      <p:sp>
        <p:nvSpPr>
          <p:cNvPr id="15" name="Text 13"/>
          <p:cNvSpPr/>
          <p:nvPr/>
        </p:nvSpPr>
        <p:spPr>
          <a:xfrm>
            <a:off x="3100070" y="2852928"/>
            <a:ext cx="1463040" cy="256032"/>
          </a:xfrm>
          <a:prstGeom prst="rect">
            <a:avLst/>
          </a:prstGeom>
          <a:noFill/>
          <a:ln/>
        </p:spPr>
        <p:txBody>
          <a:bodyPr wrap="square" lIns="0" tIns="0" rIns="0" bIns="0" rtlCol="0" anchor="ctr"/>
          <a:lstStyle/>
          <a:p>
            <a:pPr marL="0" indent="0" algn="ctr">
              <a:buNone/>
            </a:pPr>
            <a:r>
              <a:rPr lang="en-US" sz="1300" b="1" dirty="0">
                <a:solidFill>
                  <a:srgbClr val="163B6D"/>
                </a:solidFill>
              </a:rPr>
              <a:t>Старт срока</a:t>
            </a:r>
            <a:endParaRPr lang="en-US" sz="1300" dirty="0"/>
          </a:p>
        </p:txBody>
      </p:sp>
      <p:sp>
        <p:nvSpPr>
          <p:cNvPr id="16" name="Shape 14"/>
          <p:cNvSpPr/>
          <p:nvPr/>
        </p:nvSpPr>
        <p:spPr>
          <a:xfrm>
            <a:off x="3008630" y="3218688"/>
            <a:ext cx="1645920" cy="1691640"/>
          </a:xfrm>
          <a:prstGeom prst="roundRect">
            <a:avLst/>
          </a:prstGeom>
          <a:solidFill>
            <a:srgbClr val="FFFFFF"/>
          </a:solidFill>
          <a:ln w="12700">
            <a:solidFill>
              <a:srgbClr val="D8E1EE"/>
            </a:solidFill>
            <a:prstDash val="solid"/>
          </a:ln>
        </p:spPr>
      </p:sp>
      <p:sp>
        <p:nvSpPr>
          <p:cNvPr id="17" name="Text 15"/>
          <p:cNvSpPr/>
          <p:nvPr/>
        </p:nvSpPr>
        <p:spPr>
          <a:xfrm>
            <a:off x="3127502" y="3401568"/>
            <a:ext cx="1408176" cy="1325880"/>
          </a:xfrm>
          <a:prstGeom prst="rect">
            <a:avLst/>
          </a:prstGeom>
          <a:noFill/>
          <a:ln/>
        </p:spPr>
        <p:txBody>
          <a:bodyPr wrap="square" lIns="508" tIns="508" rIns="508" bIns="508" rtlCol="0" anchor="ctr"/>
          <a:lstStyle/>
          <a:p>
            <a:pPr marL="0" indent="0" algn="ctr">
              <a:buNone/>
            </a:pPr>
            <a:r>
              <a:rPr lang="en-US" sz="1250" dirty="0">
                <a:solidFill>
                  <a:srgbClr val="1C2430"/>
                </a:solidFill>
              </a:rPr>
              <a:t>С этого момента начинает течь срок 6 месяцев.</a:t>
            </a:r>
            <a:endParaRPr lang="en-US" sz="1250" dirty="0"/>
          </a:p>
        </p:txBody>
      </p:sp>
      <p:sp>
        <p:nvSpPr>
          <p:cNvPr id="18" name="Shape 16"/>
          <p:cNvSpPr/>
          <p:nvPr/>
        </p:nvSpPr>
        <p:spPr>
          <a:xfrm>
            <a:off x="5340350" y="1965960"/>
            <a:ext cx="1005840" cy="749808"/>
          </a:xfrm>
          <a:prstGeom prst="roundRect">
            <a:avLst/>
          </a:prstGeom>
          <a:solidFill>
            <a:srgbClr val="163B6D"/>
          </a:solidFill>
          <a:ln w="12700">
            <a:solidFill>
              <a:srgbClr val="163B6D"/>
            </a:solidFill>
            <a:prstDash val="solid"/>
          </a:ln>
        </p:spPr>
      </p:sp>
      <p:sp>
        <p:nvSpPr>
          <p:cNvPr id="19" name="Text 17"/>
          <p:cNvSpPr/>
          <p:nvPr/>
        </p:nvSpPr>
        <p:spPr>
          <a:xfrm>
            <a:off x="5340350" y="2139696"/>
            <a:ext cx="1005840" cy="201168"/>
          </a:xfrm>
          <a:prstGeom prst="rect">
            <a:avLst/>
          </a:prstGeom>
          <a:noFill/>
          <a:ln/>
        </p:spPr>
        <p:txBody>
          <a:bodyPr wrap="square" lIns="0" tIns="0" rIns="0" bIns="0" rtlCol="0" anchor="ctr"/>
          <a:lstStyle/>
          <a:p>
            <a:pPr marL="0" indent="0" algn="ctr">
              <a:buNone/>
            </a:pPr>
            <a:r>
              <a:rPr lang="en-US" sz="2400" b="1" dirty="0">
                <a:solidFill>
                  <a:srgbClr val="FFFFFF"/>
                </a:solidFill>
              </a:rPr>
              <a:t>3</a:t>
            </a:r>
            <a:endParaRPr lang="en-US" sz="2400" dirty="0"/>
          </a:p>
        </p:txBody>
      </p:sp>
      <p:sp>
        <p:nvSpPr>
          <p:cNvPr id="20" name="Text 18"/>
          <p:cNvSpPr/>
          <p:nvPr/>
        </p:nvSpPr>
        <p:spPr>
          <a:xfrm>
            <a:off x="5111750" y="2852928"/>
            <a:ext cx="1463040" cy="256032"/>
          </a:xfrm>
          <a:prstGeom prst="rect">
            <a:avLst/>
          </a:prstGeom>
          <a:noFill/>
          <a:ln/>
        </p:spPr>
        <p:txBody>
          <a:bodyPr wrap="square" lIns="0" tIns="0" rIns="0" bIns="0" rtlCol="0" anchor="ctr"/>
          <a:lstStyle/>
          <a:p>
            <a:pPr marL="0" indent="0" algn="ctr">
              <a:buNone/>
            </a:pPr>
            <a:r>
              <a:rPr lang="en-US" sz="1300" b="1" dirty="0">
                <a:solidFill>
                  <a:srgbClr val="163B6D"/>
                </a:solidFill>
              </a:rPr>
              <a:t>Работодатель</a:t>
            </a:r>
            <a:endParaRPr lang="en-US" sz="1300" dirty="0"/>
          </a:p>
        </p:txBody>
      </p:sp>
      <p:sp>
        <p:nvSpPr>
          <p:cNvPr id="21" name="Shape 19"/>
          <p:cNvSpPr/>
          <p:nvPr/>
        </p:nvSpPr>
        <p:spPr>
          <a:xfrm>
            <a:off x="5020310" y="3218688"/>
            <a:ext cx="1645920" cy="1691640"/>
          </a:xfrm>
          <a:prstGeom prst="roundRect">
            <a:avLst/>
          </a:prstGeom>
          <a:solidFill>
            <a:srgbClr val="FFFFFF"/>
          </a:solidFill>
          <a:ln w="12700">
            <a:solidFill>
              <a:srgbClr val="D8E1EE"/>
            </a:solidFill>
            <a:prstDash val="solid"/>
          </a:ln>
        </p:spPr>
      </p:sp>
      <p:sp>
        <p:nvSpPr>
          <p:cNvPr id="22" name="Text 20"/>
          <p:cNvSpPr/>
          <p:nvPr/>
        </p:nvSpPr>
        <p:spPr>
          <a:xfrm>
            <a:off x="5139182" y="3401568"/>
            <a:ext cx="1408176" cy="1325880"/>
          </a:xfrm>
          <a:prstGeom prst="rect">
            <a:avLst/>
          </a:prstGeom>
          <a:noFill/>
          <a:ln/>
        </p:spPr>
        <p:txBody>
          <a:bodyPr wrap="square" lIns="508" tIns="508" rIns="508" bIns="508" rtlCol="0" anchor="ctr"/>
          <a:lstStyle/>
          <a:p>
            <a:pPr marL="0" indent="0" algn="ctr">
              <a:buNone/>
            </a:pPr>
            <a:r>
              <a:rPr lang="en-US" sz="1250" dirty="0">
                <a:solidFill>
                  <a:srgbClr val="1C2430"/>
                </a:solidFill>
              </a:rPr>
              <a:t>Подает заявку, либо передает право, либо сообщает о сохранении в тайне.</a:t>
            </a:r>
            <a:endParaRPr lang="en-US" sz="1250" dirty="0"/>
          </a:p>
        </p:txBody>
      </p:sp>
      <p:sp>
        <p:nvSpPr>
          <p:cNvPr id="23" name="Shape 21"/>
          <p:cNvSpPr/>
          <p:nvPr/>
        </p:nvSpPr>
        <p:spPr>
          <a:xfrm>
            <a:off x="7118350" y="1965960"/>
            <a:ext cx="1005840" cy="749808"/>
          </a:xfrm>
          <a:prstGeom prst="roundRect">
            <a:avLst/>
          </a:prstGeom>
          <a:solidFill>
            <a:srgbClr val="163B6D"/>
          </a:solidFill>
          <a:ln w="12700">
            <a:solidFill>
              <a:srgbClr val="163B6D"/>
            </a:solidFill>
            <a:prstDash val="solid"/>
          </a:ln>
        </p:spPr>
      </p:sp>
      <p:sp>
        <p:nvSpPr>
          <p:cNvPr id="24" name="Text 22"/>
          <p:cNvSpPr/>
          <p:nvPr/>
        </p:nvSpPr>
        <p:spPr>
          <a:xfrm>
            <a:off x="7118350" y="2139696"/>
            <a:ext cx="1005840" cy="201168"/>
          </a:xfrm>
          <a:prstGeom prst="rect">
            <a:avLst/>
          </a:prstGeom>
          <a:noFill/>
          <a:ln/>
        </p:spPr>
        <p:txBody>
          <a:bodyPr wrap="square" lIns="0" tIns="0" rIns="0" bIns="0" rtlCol="0" anchor="ctr"/>
          <a:lstStyle/>
          <a:p>
            <a:pPr marL="0" indent="0" algn="ctr">
              <a:buNone/>
            </a:pPr>
            <a:r>
              <a:rPr lang="en-US" sz="2400" b="1" dirty="0">
                <a:solidFill>
                  <a:srgbClr val="FFFFFF"/>
                </a:solidFill>
              </a:rPr>
              <a:t>4</a:t>
            </a:r>
            <a:endParaRPr lang="en-US" sz="2400" dirty="0"/>
          </a:p>
        </p:txBody>
      </p:sp>
      <p:sp>
        <p:nvSpPr>
          <p:cNvPr id="25" name="Text 23"/>
          <p:cNvSpPr/>
          <p:nvPr/>
        </p:nvSpPr>
        <p:spPr>
          <a:xfrm>
            <a:off x="6846570" y="2871216"/>
            <a:ext cx="1645920" cy="256032"/>
          </a:xfrm>
          <a:prstGeom prst="rect">
            <a:avLst/>
          </a:prstGeom>
          <a:noFill/>
          <a:ln/>
        </p:spPr>
        <p:txBody>
          <a:bodyPr wrap="square" lIns="0" tIns="0" rIns="0" bIns="0" rtlCol="0" anchor="ctr"/>
          <a:lstStyle/>
          <a:p>
            <a:pPr marL="0" indent="0" algn="ctr">
              <a:buNone/>
            </a:pPr>
            <a:r>
              <a:rPr lang="en-US" sz="1300" b="1" dirty="0">
                <a:solidFill>
                  <a:srgbClr val="163B6D"/>
                </a:solidFill>
              </a:rPr>
              <a:t>Если работодатель действует</a:t>
            </a:r>
            <a:endParaRPr lang="en-US" sz="1300" dirty="0"/>
          </a:p>
        </p:txBody>
      </p:sp>
      <p:sp>
        <p:nvSpPr>
          <p:cNvPr id="26" name="Shape 24"/>
          <p:cNvSpPr/>
          <p:nvPr/>
        </p:nvSpPr>
        <p:spPr>
          <a:xfrm>
            <a:off x="6899910" y="3218688"/>
            <a:ext cx="1645920" cy="1691640"/>
          </a:xfrm>
          <a:prstGeom prst="roundRect">
            <a:avLst/>
          </a:prstGeom>
          <a:solidFill>
            <a:srgbClr val="FFFFFF"/>
          </a:solidFill>
          <a:ln w="12700">
            <a:solidFill>
              <a:srgbClr val="D8E1EE"/>
            </a:solidFill>
            <a:prstDash val="solid"/>
          </a:ln>
        </p:spPr>
      </p:sp>
      <p:sp>
        <p:nvSpPr>
          <p:cNvPr id="27" name="Text 25"/>
          <p:cNvSpPr/>
          <p:nvPr/>
        </p:nvSpPr>
        <p:spPr>
          <a:xfrm>
            <a:off x="7018782" y="3401568"/>
            <a:ext cx="1408176" cy="1325880"/>
          </a:xfrm>
          <a:prstGeom prst="rect">
            <a:avLst/>
          </a:prstGeom>
          <a:noFill/>
          <a:ln/>
        </p:spPr>
        <p:txBody>
          <a:bodyPr wrap="square" lIns="508" tIns="508" rIns="508" bIns="508" rtlCol="0" anchor="ctr"/>
          <a:lstStyle/>
          <a:p>
            <a:pPr marL="0" indent="0" algn="ctr">
              <a:buNone/>
            </a:pPr>
            <a:r>
              <a:rPr lang="en-US" sz="1250" dirty="0">
                <a:solidFill>
                  <a:srgbClr val="1C2430"/>
                </a:solidFill>
              </a:rPr>
              <a:t>У работника возникает право на вознаграждение.</a:t>
            </a:r>
            <a:endParaRPr lang="en-US" sz="1250" dirty="0"/>
          </a:p>
        </p:txBody>
      </p:sp>
      <p:sp>
        <p:nvSpPr>
          <p:cNvPr id="28" name="Shape 26"/>
          <p:cNvSpPr/>
          <p:nvPr/>
        </p:nvSpPr>
        <p:spPr>
          <a:xfrm>
            <a:off x="9086850" y="1965960"/>
            <a:ext cx="1005840" cy="749808"/>
          </a:xfrm>
          <a:prstGeom prst="roundRect">
            <a:avLst/>
          </a:prstGeom>
          <a:solidFill>
            <a:srgbClr val="163B6D"/>
          </a:solidFill>
          <a:ln w="12700">
            <a:solidFill>
              <a:srgbClr val="163B6D"/>
            </a:solidFill>
            <a:prstDash val="solid"/>
          </a:ln>
        </p:spPr>
      </p:sp>
      <p:sp>
        <p:nvSpPr>
          <p:cNvPr id="29" name="Text 27"/>
          <p:cNvSpPr/>
          <p:nvPr/>
        </p:nvSpPr>
        <p:spPr>
          <a:xfrm>
            <a:off x="9086850" y="2139696"/>
            <a:ext cx="1005840" cy="201168"/>
          </a:xfrm>
          <a:prstGeom prst="rect">
            <a:avLst/>
          </a:prstGeom>
          <a:noFill/>
          <a:ln/>
        </p:spPr>
        <p:txBody>
          <a:bodyPr wrap="square" lIns="0" tIns="0" rIns="0" bIns="0" rtlCol="0" anchor="ctr"/>
          <a:lstStyle/>
          <a:p>
            <a:pPr marL="0" indent="0" algn="ctr">
              <a:buNone/>
            </a:pPr>
            <a:r>
              <a:rPr lang="en-US" sz="2400" b="1" dirty="0">
                <a:solidFill>
                  <a:srgbClr val="FFFFFF"/>
                </a:solidFill>
              </a:rPr>
              <a:t>5</a:t>
            </a:r>
            <a:endParaRPr lang="en-US" sz="2400" dirty="0"/>
          </a:p>
        </p:txBody>
      </p:sp>
      <p:sp>
        <p:nvSpPr>
          <p:cNvPr id="30" name="Text 28"/>
          <p:cNvSpPr/>
          <p:nvPr/>
        </p:nvSpPr>
        <p:spPr>
          <a:xfrm>
            <a:off x="8858250" y="2852928"/>
            <a:ext cx="1463040" cy="256032"/>
          </a:xfrm>
          <a:prstGeom prst="rect">
            <a:avLst/>
          </a:prstGeom>
          <a:noFill/>
          <a:ln/>
        </p:spPr>
        <p:txBody>
          <a:bodyPr wrap="square" lIns="0" tIns="0" rIns="0" bIns="0" rtlCol="0" anchor="ctr"/>
          <a:lstStyle/>
          <a:p>
            <a:pPr marL="0" indent="0" algn="ctr">
              <a:buNone/>
            </a:pPr>
            <a:r>
              <a:rPr lang="en-US" sz="1300" b="1" dirty="0">
                <a:solidFill>
                  <a:srgbClr val="163B6D"/>
                </a:solidFill>
              </a:rPr>
              <a:t>Если не действует</a:t>
            </a:r>
            <a:endParaRPr lang="en-US" sz="1300" dirty="0"/>
          </a:p>
        </p:txBody>
      </p:sp>
      <p:sp>
        <p:nvSpPr>
          <p:cNvPr id="31" name="Shape 29"/>
          <p:cNvSpPr/>
          <p:nvPr/>
        </p:nvSpPr>
        <p:spPr>
          <a:xfrm>
            <a:off x="8766810" y="3218688"/>
            <a:ext cx="1645920" cy="1691640"/>
          </a:xfrm>
          <a:prstGeom prst="roundRect">
            <a:avLst/>
          </a:prstGeom>
          <a:solidFill>
            <a:srgbClr val="FFFFFF"/>
          </a:solidFill>
          <a:ln w="12700">
            <a:solidFill>
              <a:srgbClr val="D8E1EE"/>
            </a:solidFill>
            <a:prstDash val="solid"/>
          </a:ln>
        </p:spPr>
      </p:sp>
      <p:sp>
        <p:nvSpPr>
          <p:cNvPr id="32" name="Text 30"/>
          <p:cNvSpPr/>
          <p:nvPr/>
        </p:nvSpPr>
        <p:spPr>
          <a:xfrm>
            <a:off x="8885682" y="3401568"/>
            <a:ext cx="1408176" cy="1325880"/>
          </a:xfrm>
          <a:prstGeom prst="rect">
            <a:avLst/>
          </a:prstGeom>
          <a:noFill/>
          <a:ln/>
        </p:spPr>
        <p:txBody>
          <a:bodyPr wrap="square" lIns="508" tIns="508" rIns="508" bIns="508" rtlCol="0" anchor="ctr"/>
          <a:lstStyle/>
          <a:p>
            <a:pPr marL="0" indent="0" algn="ctr">
              <a:buNone/>
            </a:pPr>
            <a:r>
              <a:rPr lang="en-US" sz="1250" dirty="0">
                <a:solidFill>
                  <a:srgbClr val="1C2430"/>
                </a:solidFill>
              </a:rPr>
              <a:t>Право на получение патента возвращается работнику.</a:t>
            </a:r>
            <a:endParaRPr lang="en-US" sz="1250" dirty="0"/>
          </a:p>
        </p:txBody>
      </p:sp>
      <p:sp>
        <p:nvSpPr>
          <p:cNvPr id="33" name="Shape 31"/>
          <p:cNvSpPr/>
          <p:nvPr/>
        </p:nvSpPr>
        <p:spPr>
          <a:xfrm>
            <a:off x="3886200" y="1298448"/>
            <a:ext cx="4389120" cy="384048"/>
          </a:xfrm>
          <a:prstGeom prst="roundRect">
            <a:avLst/>
          </a:prstGeom>
          <a:solidFill>
            <a:srgbClr val="FFF5E8"/>
          </a:solidFill>
          <a:ln w="12700">
            <a:solidFill>
              <a:srgbClr val="FFD9A3"/>
            </a:solidFill>
            <a:prstDash val="solid"/>
          </a:ln>
        </p:spPr>
      </p:sp>
      <p:sp>
        <p:nvSpPr>
          <p:cNvPr id="34" name="Text 32"/>
          <p:cNvSpPr/>
          <p:nvPr/>
        </p:nvSpPr>
        <p:spPr>
          <a:xfrm>
            <a:off x="4069080" y="1389888"/>
            <a:ext cx="4023360" cy="164592"/>
          </a:xfrm>
          <a:prstGeom prst="rect">
            <a:avLst/>
          </a:prstGeom>
          <a:noFill/>
          <a:ln/>
        </p:spPr>
        <p:txBody>
          <a:bodyPr wrap="square" lIns="0" tIns="0" rIns="0" bIns="0" rtlCol="0" anchor="ctr"/>
          <a:lstStyle/>
          <a:p>
            <a:pPr marL="0" indent="0" algn="ctr">
              <a:buNone/>
            </a:pPr>
            <a:r>
              <a:rPr lang="en-US" sz="1200" b="1" dirty="0">
                <a:solidFill>
                  <a:srgbClr val="C38B2F"/>
                </a:solidFill>
              </a:rPr>
              <a:t>Важно: в актуальной редакции ст. 1370 ГК РФ срок для работодателя — 6 месяцев.</a:t>
            </a:r>
            <a:endParaRPr lang="en-US" sz="1200" dirty="0"/>
          </a:p>
        </p:txBody>
      </p:sp>
      <p:sp>
        <p:nvSpPr>
          <p:cNvPr id="35" name="Slide Number Placeholder 0"/>
          <p:cNvSpPr>
            <a:spLocks noGrp="1"/>
          </p:cNvSpPr>
          <p:nvPr>
            <p:ph type="sldNum" sz="quarter" idx="4294967295"/>
          </p:nvPr>
        </p:nvSpPr>
        <p:spPr>
          <a:xfrm>
            <a:off x="11612880" y="6446520"/>
            <a:ext cx="256032"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699"/>
                </a:solidFill>
                <a:latin typeface="Aptos"/>
                <a:ea typeface="Aptos"/>
                <a:cs typeface="Aptos"/>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85800" y="411480"/>
            <a:ext cx="7955280" cy="457200"/>
          </a:xfrm>
          <a:prstGeom prst="rect">
            <a:avLst/>
          </a:prstGeom>
          <a:noFill/>
          <a:ln/>
        </p:spPr>
        <p:txBody>
          <a:bodyPr wrap="square" lIns="0" tIns="0" rIns="0" bIns="0" rtlCol="0" anchor="ctr"/>
          <a:lstStyle/>
          <a:p>
            <a:pPr marL="0" indent="0">
              <a:buNone/>
            </a:pPr>
            <a:r>
              <a:rPr lang="en-US" sz="2400" b="1" dirty="0">
                <a:solidFill>
                  <a:srgbClr val="163B6D"/>
                </a:solidFill>
                <a:latin typeface="Aptos Display" pitchFamily="34" charset="0"/>
                <a:ea typeface="Aptos Display" pitchFamily="34" charset="-122"/>
                <a:cs typeface="Aptos Display" pitchFamily="34" charset="-120"/>
              </a:rPr>
              <a:t>6. Вознаграждение за служебное изобретение</a:t>
            </a:r>
            <a:endParaRPr lang="en-US" sz="2400" dirty="0"/>
          </a:p>
        </p:txBody>
      </p:sp>
      <p:sp>
        <p:nvSpPr>
          <p:cNvPr id="3" name="Text 1"/>
          <p:cNvSpPr/>
          <p:nvPr/>
        </p:nvSpPr>
        <p:spPr>
          <a:xfrm>
            <a:off x="713232" y="896112"/>
            <a:ext cx="8412480" cy="274320"/>
          </a:xfrm>
          <a:prstGeom prst="rect">
            <a:avLst/>
          </a:prstGeom>
          <a:noFill/>
          <a:ln/>
        </p:spPr>
        <p:txBody>
          <a:bodyPr wrap="square" lIns="0" tIns="0" rIns="0" bIns="0" rtlCol="0" anchor="ctr"/>
          <a:lstStyle/>
          <a:p>
            <a:pPr marL="0" indent="0">
              <a:buNone/>
            </a:pPr>
            <a:r>
              <a:rPr lang="en-US" sz="1050" dirty="0">
                <a:solidFill>
                  <a:srgbClr val="65748B"/>
                </a:solidFill>
                <a:latin typeface="Aptos" pitchFamily="34" charset="0"/>
                <a:ea typeface="Aptos" pitchFamily="34" charset="-122"/>
                <a:cs typeface="Aptos" pitchFamily="34" charset="-120"/>
              </a:rPr>
              <a:t>По умолчанию действуют ставки из Постановления Правительства РФ № 1848, если стороны не согласовали иное</a:t>
            </a:r>
            <a:endParaRPr lang="en-US" sz="1050" dirty="0"/>
          </a:p>
        </p:txBody>
      </p:sp>
      <p:sp>
        <p:nvSpPr>
          <p:cNvPr id="4" name="Shape 2"/>
          <p:cNvSpPr/>
          <p:nvPr/>
        </p:nvSpPr>
        <p:spPr>
          <a:xfrm>
            <a:off x="658368" y="1298448"/>
            <a:ext cx="10972800" cy="4526280"/>
          </a:xfrm>
          <a:prstGeom prst="roundRect">
            <a:avLst/>
          </a:prstGeom>
          <a:solidFill>
            <a:srgbClr val="FFFFFF"/>
          </a:solidFill>
          <a:ln w="12700">
            <a:solidFill>
              <a:srgbClr val="D8E1EE"/>
            </a:solidFill>
            <a:prstDash val="solid"/>
          </a:ln>
        </p:spPr>
      </p:sp>
      <p:sp>
        <p:nvSpPr>
          <p:cNvPr id="5" name="Shape 3"/>
          <p:cNvSpPr/>
          <p:nvPr/>
        </p:nvSpPr>
        <p:spPr>
          <a:xfrm>
            <a:off x="868680" y="1645920"/>
            <a:ext cx="2926080" cy="530352"/>
          </a:xfrm>
          <a:prstGeom prst="roundRect">
            <a:avLst/>
          </a:prstGeom>
          <a:solidFill>
            <a:srgbClr val="163B6D"/>
          </a:solidFill>
          <a:ln w="12700">
            <a:solidFill>
              <a:srgbClr val="163B6D"/>
            </a:solidFill>
            <a:prstDash val="solid"/>
          </a:ln>
        </p:spPr>
      </p:sp>
      <p:sp>
        <p:nvSpPr>
          <p:cNvPr id="6" name="Text 4"/>
          <p:cNvSpPr/>
          <p:nvPr/>
        </p:nvSpPr>
        <p:spPr>
          <a:xfrm>
            <a:off x="941832" y="1810512"/>
            <a:ext cx="2779776" cy="146304"/>
          </a:xfrm>
          <a:prstGeom prst="rect">
            <a:avLst/>
          </a:prstGeom>
          <a:noFill/>
          <a:ln/>
        </p:spPr>
        <p:txBody>
          <a:bodyPr wrap="square" lIns="0" tIns="0" rIns="0" bIns="0" rtlCol="0" anchor="ctr"/>
          <a:lstStyle/>
          <a:p>
            <a:pPr marL="0" indent="0" algn="ctr">
              <a:buNone/>
            </a:pPr>
            <a:r>
              <a:rPr lang="en-US" sz="1350" b="1" dirty="0">
                <a:solidFill>
                  <a:srgbClr val="FFFFFF"/>
                </a:solidFill>
              </a:rPr>
              <a:t>Основание выплаты</a:t>
            </a:r>
            <a:endParaRPr lang="en-US" sz="1350" dirty="0"/>
          </a:p>
        </p:txBody>
      </p:sp>
      <p:sp>
        <p:nvSpPr>
          <p:cNvPr id="7" name="Shape 5"/>
          <p:cNvSpPr/>
          <p:nvPr/>
        </p:nvSpPr>
        <p:spPr>
          <a:xfrm>
            <a:off x="4114800" y="1645920"/>
            <a:ext cx="3429000" cy="530352"/>
          </a:xfrm>
          <a:prstGeom prst="roundRect">
            <a:avLst/>
          </a:prstGeom>
          <a:solidFill>
            <a:srgbClr val="163B6D"/>
          </a:solidFill>
          <a:ln w="12700">
            <a:solidFill>
              <a:srgbClr val="163B6D"/>
            </a:solidFill>
            <a:prstDash val="solid"/>
          </a:ln>
        </p:spPr>
      </p:sp>
      <p:sp>
        <p:nvSpPr>
          <p:cNvPr id="8" name="Text 6"/>
          <p:cNvSpPr/>
          <p:nvPr/>
        </p:nvSpPr>
        <p:spPr>
          <a:xfrm>
            <a:off x="4187952" y="1810512"/>
            <a:ext cx="3282696" cy="146304"/>
          </a:xfrm>
          <a:prstGeom prst="rect">
            <a:avLst/>
          </a:prstGeom>
          <a:noFill/>
          <a:ln/>
        </p:spPr>
        <p:txBody>
          <a:bodyPr wrap="square" lIns="0" tIns="0" rIns="0" bIns="0" rtlCol="0" anchor="ctr"/>
          <a:lstStyle/>
          <a:p>
            <a:pPr marL="0" indent="0" algn="ctr">
              <a:buNone/>
            </a:pPr>
            <a:r>
              <a:rPr lang="en-US" sz="1350" b="1" dirty="0">
                <a:solidFill>
                  <a:srgbClr val="FFFFFF"/>
                </a:solidFill>
              </a:rPr>
              <a:t>Размер по общему правилу</a:t>
            </a:r>
            <a:endParaRPr lang="en-US" sz="1350" dirty="0"/>
          </a:p>
        </p:txBody>
      </p:sp>
      <p:sp>
        <p:nvSpPr>
          <p:cNvPr id="9" name="Shape 7"/>
          <p:cNvSpPr/>
          <p:nvPr/>
        </p:nvSpPr>
        <p:spPr>
          <a:xfrm>
            <a:off x="7818120" y="1645920"/>
            <a:ext cx="3474720" cy="530352"/>
          </a:xfrm>
          <a:prstGeom prst="roundRect">
            <a:avLst/>
          </a:prstGeom>
          <a:solidFill>
            <a:srgbClr val="163B6D"/>
          </a:solidFill>
          <a:ln w="12700">
            <a:solidFill>
              <a:srgbClr val="163B6D"/>
            </a:solidFill>
            <a:prstDash val="solid"/>
          </a:ln>
        </p:spPr>
      </p:sp>
      <p:sp>
        <p:nvSpPr>
          <p:cNvPr id="10" name="Text 8"/>
          <p:cNvSpPr/>
          <p:nvPr/>
        </p:nvSpPr>
        <p:spPr>
          <a:xfrm>
            <a:off x="7891272" y="1810512"/>
            <a:ext cx="3328416" cy="146304"/>
          </a:xfrm>
          <a:prstGeom prst="rect">
            <a:avLst/>
          </a:prstGeom>
          <a:noFill/>
          <a:ln/>
        </p:spPr>
        <p:txBody>
          <a:bodyPr wrap="square" lIns="0" tIns="0" rIns="0" bIns="0" rtlCol="0" anchor="ctr"/>
          <a:lstStyle/>
          <a:p>
            <a:pPr marL="0" indent="0" algn="ctr">
              <a:buNone/>
            </a:pPr>
            <a:r>
              <a:rPr lang="en-US" sz="1350" b="1" dirty="0">
                <a:solidFill>
                  <a:srgbClr val="FFFFFF"/>
                </a:solidFill>
              </a:rPr>
              <a:t>Срок выплаты</a:t>
            </a:r>
            <a:endParaRPr lang="en-US" sz="1350" dirty="0"/>
          </a:p>
        </p:txBody>
      </p:sp>
      <p:sp>
        <p:nvSpPr>
          <p:cNvPr id="11" name="Shape 9"/>
          <p:cNvSpPr/>
          <p:nvPr/>
        </p:nvSpPr>
        <p:spPr>
          <a:xfrm>
            <a:off x="868680" y="2240280"/>
            <a:ext cx="2926080" cy="795528"/>
          </a:xfrm>
          <a:prstGeom prst="roundRect">
            <a:avLst/>
          </a:prstGeom>
          <a:solidFill>
            <a:srgbClr val="F8FBFF"/>
          </a:solidFill>
          <a:ln w="12700">
            <a:solidFill>
              <a:srgbClr val="D8E1EE"/>
            </a:solidFill>
            <a:prstDash val="solid"/>
          </a:ln>
        </p:spPr>
      </p:sp>
      <p:sp>
        <p:nvSpPr>
          <p:cNvPr id="12" name="Shape 10"/>
          <p:cNvSpPr/>
          <p:nvPr/>
        </p:nvSpPr>
        <p:spPr>
          <a:xfrm>
            <a:off x="4114800" y="2240280"/>
            <a:ext cx="3429000" cy="795528"/>
          </a:xfrm>
          <a:prstGeom prst="roundRect">
            <a:avLst/>
          </a:prstGeom>
          <a:solidFill>
            <a:srgbClr val="F8FBFF"/>
          </a:solidFill>
          <a:ln w="12700">
            <a:solidFill>
              <a:srgbClr val="D8E1EE"/>
            </a:solidFill>
            <a:prstDash val="solid"/>
          </a:ln>
        </p:spPr>
      </p:sp>
      <p:sp>
        <p:nvSpPr>
          <p:cNvPr id="13" name="Shape 11"/>
          <p:cNvSpPr/>
          <p:nvPr/>
        </p:nvSpPr>
        <p:spPr>
          <a:xfrm>
            <a:off x="7818120" y="2240280"/>
            <a:ext cx="3474720" cy="795528"/>
          </a:xfrm>
          <a:prstGeom prst="roundRect">
            <a:avLst/>
          </a:prstGeom>
          <a:solidFill>
            <a:srgbClr val="F8FBFF"/>
          </a:solidFill>
          <a:ln w="12700">
            <a:solidFill>
              <a:srgbClr val="D8E1EE"/>
            </a:solidFill>
            <a:prstDash val="solid"/>
          </a:ln>
        </p:spPr>
      </p:sp>
      <p:sp>
        <p:nvSpPr>
          <p:cNvPr id="14" name="Text 12"/>
          <p:cNvSpPr/>
          <p:nvPr/>
        </p:nvSpPr>
        <p:spPr>
          <a:xfrm>
            <a:off x="987552" y="2386584"/>
            <a:ext cx="2697480" cy="594360"/>
          </a:xfrm>
          <a:prstGeom prst="rect">
            <a:avLst/>
          </a:prstGeom>
          <a:noFill/>
          <a:ln/>
        </p:spPr>
        <p:txBody>
          <a:bodyPr wrap="square" lIns="254" tIns="254" rIns="254" bIns="254" rtlCol="0" anchor="ctr"/>
          <a:lstStyle/>
          <a:p>
            <a:pPr marL="0" indent="0">
              <a:buNone/>
            </a:pPr>
            <a:r>
              <a:rPr lang="en-US" sz="1550" dirty="0">
                <a:solidFill>
                  <a:srgbClr val="1C2430"/>
                </a:solidFill>
              </a:rPr>
              <a:t>Создание служебного изобретения</a:t>
            </a:r>
            <a:endParaRPr lang="en-US" sz="1550" dirty="0"/>
          </a:p>
        </p:txBody>
      </p:sp>
      <p:sp>
        <p:nvSpPr>
          <p:cNvPr id="15" name="Text 13"/>
          <p:cNvSpPr/>
          <p:nvPr/>
        </p:nvSpPr>
        <p:spPr>
          <a:xfrm>
            <a:off x="4233672" y="2331720"/>
            <a:ext cx="3200400" cy="658368"/>
          </a:xfrm>
          <a:prstGeom prst="rect">
            <a:avLst/>
          </a:prstGeom>
          <a:noFill/>
          <a:ln/>
        </p:spPr>
        <p:txBody>
          <a:bodyPr wrap="square" lIns="254" tIns="254" rIns="254" bIns="254" rtlCol="0" anchor="ctr"/>
          <a:lstStyle/>
          <a:p>
            <a:pPr marL="0" indent="0" algn="ctr">
              <a:buNone/>
            </a:pPr>
            <a:r>
              <a:rPr lang="en-US" sz="1420" dirty="0">
                <a:solidFill>
                  <a:srgbClr val="22314A"/>
                </a:solidFill>
              </a:rPr>
              <a:t>30% средней зарплаты автора</a:t>
            </a:r>
            <a:endParaRPr lang="en-US" sz="1420" dirty="0"/>
          </a:p>
          <a:p>
            <a:pPr marL="0" indent="0" algn="ctr">
              <a:buNone/>
            </a:pPr>
            <a:r>
              <a:rPr lang="en-US" sz="1420" dirty="0">
                <a:solidFill>
                  <a:srgbClr val="22314A"/>
                </a:solidFill>
              </a:rPr>
              <a:t>(для полезной модели / промобразца — 20%)</a:t>
            </a:r>
            <a:endParaRPr lang="en-US" sz="1420" dirty="0"/>
          </a:p>
        </p:txBody>
      </p:sp>
      <p:sp>
        <p:nvSpPr>
          <p:cNvPr id="16" name="Text 14"/>
          <p:cNvSpPr/>
          <p:nvPr/>
        </p:nvSpPr>
        <p:spPr>
          <a:xfrm>
            <a:off x="7936992" y="2331720"/>
            <a:ext cx="3236976" cy="658368"/>
          </a:xfrm>
          <a:prstGeom prst="rect">
            <a:avLst/>
          </a:prstGeom>
          <a:noFill/>
          <a:ln/>
        </p:spPr>
        <p:txBody>
          <a:bodyPr wrap="square" lIns="381" tIns="381" rIns="381" bIns="381" rtlCol="0" anchor="ctr"/>
          <a:lstStyle/>
          <a:p>
            <a:pPr marL="0" indent="0">
              <a:buNone/>
            </a:pPr>
            <a:r>
              <a:rPr lang="en-US" sz="1310" dirty="0">
                <a:solidFill>
                  <a:srgbClr val="22314A"/>
                </a:solidFill>
              </a:rPr>
              <a:t>Единовременно: обычно не позднее 2 месяцев после получения патента, решения о тайне или передачи права</a:t>
            </a:r>
            <a:endParaRPr lang="en-US" sz="1310" dirty="0"/>
          </a:p>
        </p:txBody>
      </p:sp>
      <p:sp>
        <p:nvSpPr>
          <p:cNvPr id="17" name="Shape 15"/>
          <p:cNvSpPr/>
          <p:nvPr/>
        </p:nvSpPr>
        <p:spPr>
          <a:xfrm>
            <a:off x="868680" y="3127248"/>
            <a:ext cx="2926080" cy="795528"/>
          </a:xfrm>
          <a:prstGeom prst="roundRect">
            <a:avLst/>
          </a:prstGeom>
          <a:solidFill>
            <a:srgbClr val="F8FBFF"/>
          </a:solidFill>
          <a:ln w="12700">
            <a:solidFill>
              <a:srgbClr val="D8E1EE"/>
            </a:solidFill>
            <a:prstDash val="solid"/>
          </a:ln>
        </p:spPr>
      </p:sp>
      <p:sp>
        <p:nvSpPr>
          <p:cNvPr id="18" name="Shape 16"/>
          <p:cNvSpPr/>
          <p:nvPr/>
        </p:nvSpPr>
        <p:spPr>
          <a:xfrm>
            <a:off x="4114800" y="3127248"/>
            <a:ext cx="3429000" cy="795528"/>
          </a:xfrm>
          <a:prstGeom prst="roundRect">
            <a:avLst/>
          </a:prstGeom>
          <a:solidFill>
            <a:srgbClr val="F8FBFF"/>
          </a:solidFill>
          <a:ln w="12700">
            <a:solidFill>
              <a:srgbClr val="D8E1EE"/>
            </a:solidFill>
            <a:prstDash val="solid"/>
          </a:ln>
        </p:spPr>
      </p:sp>
      <p:sp>
        <p:nvSpPr>
          <p:cNvPr id="19" name="Shape 17"/>
          <p:cNvSpPr/>
          <p:nvPr/>
        </p:nvSpPr>
        <p:spPr>
          <a:xfrm>
            <a:off x="7818120" y="3127248"/>
            <a:ext cx="3474720" cy="795528"/>
          </a:xfrm>
          <a:prstGeom prst="roundRect">
            <a:avLst/>
          </a:prstGeom>
          <a:solidFill>
            <a:srgbClr val="F8FBFF"/>
          </a:solidFill>
          <a:ln w="12700">
            <a:solidFill>
              <a:srgbClr val="D8E1EE"/>
            </a:solidFill>
            <a:prstDash val="solid"/>
          </a:ln>
        </p:spPr>
      </p:sp>
      <p:sp>
        <p:nvSpPr>
          <p:cNvPr id="20" name="Text 18"/>
          <p:cNvSpPr/>
          <p:nvPr/>
        </p:nvSpPr>
        <p:spPr>
          <a:xfrm>
            <a:off x="987552" y="3273552"/>
            <a:ext cx="2697480" cy="594360"/>
          </a:xfrm>
          <a:prstGeom prst="rect">
            <a:avLst/>
          </a:prstGeom>
          <a:noFill/>
          <a:ln/>
        </p:spPr>
        <p:txBody>
          <a:bodyPr wrap="square" lIns="254" tIns="254" rIns="254" bIns="254" rtlCol="0" anchor="ctr"/>
          <a:lstStyle/>
          <a:p>
            <a:pPr marL="0" indent="0">
              <a:buNone/>
            </a:pPr>
            <a:r>
              <a:rPr lang="en-US" sz="1550" dirty="0">
                <a:solidFill>
                  <a:srgbClr val="1C2430"/>
                </a:solidFill>
              </a:rPr>
              <a:t>Использование работодателем</a:t>
            </a:r>
            <a:endParaRPr lang="en-US" sz="1550" dirty="0"/>
          </a:p>
        </p:txBody>
      </p:sp>
      <p:sp>
        <p:nvSpPr>
          <p:cNvPr id="21" name="Text 19"/>
          <p:cNvSpPr/>
          <p:nvPr/>
        </p:nvSpPr>
        <p:spPr>
          <a:xfrm>
            <a:off x="4233672" y="3218688"/>
            <a:ext cx="3200400" cy="658368"/>
          </a:xfrm>
          <a:prstGeom prst="rect">
            <a:avLst/>
          </a:prstGeom>
          <a:noFill/>
          <a:ln/>
        </p:spPr>
        <p:txBody>
          <a:bodyPr wrap="square" lIns="254" tIns="254" rIns="254" bIns="254" rtlCol="0" anchor="ctr"/>
          <a:lstStyle/>
          <a:p>
            <a:pPr marL="0" indent="0" algn="ctr">
              <a:buNone/>
            </a:pPr>
            <a:r>
              <a:rPr lang="en-US" sz="1420" dirty="0">
                <a:solidFill>
                  <a:srgbClr val="22314A"/>
                </a:solidFill>
              </a:rPr>
              <a:t>3 средние зарплаты автора</a:t>
            </a:r>
            <a:endParaRPr lang="en-US" sz="1420" dirty="0"/>
          </a:p>
          <a:p>
            <a:pPr marL="0" indent="0" algn="ctr">
              <a:buNone/>
            </a:pPr>
            <a:r>
              <a:rPr lang="en-US" sz="1420" dirty="0">
                <a:solidFill>
                  <a:srgbClr val="22314A"/>
                </a:solidFill>
              </a:rPr>
              <a:t>(для полезной модели / промобразца — 2)</a:t>
            </a:r>
            <a:endParaRPr lang="en-US" sz="1420" dirty="0"/>
          </a:p>
        </p:txBody>
      </p:sp>
      <p:sp>
        <p:nvSpPr>
          <p:cNvPr id="22" name="Text 20"/>
          <p:cNvSpPr/>
          <p:nvPr/>
        </p:nvSpPr>
        <p:spPr>
          <a:xfrm>
            <a:off x="7936992" y="3218688"/>
            <a:ext cx="3236976" cy="658368"/>
          </a:xfrm>
          <a:prstGeom prst="rect">
            <a:avLst/>
          </a:prstGeom>
          <a:noFill/>
          <a:ln/>
        </p:spPr>
        <p:txBody>
          <a:bodyPr wrap="square" lIns="381" tIns="381" rIns="381" bIns="381" rtlCol="0" anchor="ctr"/>
          <a:lstStyle/>
          <a:p>
            <a:pPr marL="0" indent="0">
              <a:buNone/>
            </a:pPr>
            <a:r>
              <a:rPr lang="en-US" sz="1310" dirty="0">
                <a:solidFill>
                  <a:srgbClr val="22314A"/>
                </a:solidFill>
              </a:rPr>
              <a:t>В течение месяца после каждых 12 месяцев использования</a:t>
            </a:r>
            <a:endParaRPr lang="en-US" sz="1310" dirty="0"/>
          </a:p>
        </p:txBody>
      </p:sp>
      <p:sp>
        <p:nvSpPr>
          <p:cNvPr id="23" name="Shape 21"/>
          <p:cNvSpPr/>
          <p:nvPr/>
        </p:nvSpPr>
        <p:spPr>
          <a:xfrm>
            <a:off x="868680" y="4014216"/>
            <a:ext cx="2926080" cy="795528"/>
          </a:xfrm>
          <a:prstGeom prst="roundRect">
            <a:avLst/>
          </a:prstGeom>
          <a:solidFill>
            <a:srgbClr val="FFFFFF"/>
          </a:solidFill>
          <a:ln w="12700">
            <a:solidFill>
              <a:srgbClr val="D8E1EE"/>
            </a:solidFill>
            <a:prstDash val="solid"/>
          </a:ln>
        </p:spPr>
      </p:sp>
      <p:sp>
        <p:nvSpPr>
          <p:cNvPr id="24" name="Shape 22"/>
          <p:cNvSpPr/>
          <p:nvPr/>
        </p:nvSpPr>
        <p:spPr>
          <a:xfrm>
            <a:off x="4114800" y="4014216"/>
            <a:ext cx="3429000" cy="795528"/>
          </a:xfrm>
          <a:prstGeom prst="roundRect">
            <a:avLst/>
          </a:prstGeom>
          <a:solidFill>
            <a:srgbClr val="FFFFFF"/>
          </a:solidFill>
          <a:ln w="12700">
            <a:solidFill>
              <a:srgbClr val="D8E1EE"/>
            </a:solidFill>
            <a:prstDash val="solid"/>
          </a:ln>
        </p:spPr>
      </p:sp>
      <p:sp>
        <p:nvSpPr>
          <p:cNvPr id="25" name="Shape 23"/>
          <p:cNvSpPr/>
          <p:nvPr/>
        </p:nvSpPr>
        <p:spPr>
          <a:xfrm>
            <a:off x="7818120" y="4014216"/>
            <a:ext cx="3474720" cy="795528"/>
          </a:xfrm>
          <a:prstGeom prst="roundRect">
            <a:avLst/>
          </a:prstGeom>
          <a:solidFill>
            <a:srgbClr val="FFFFFF"/>
          </a:solidFill>
          <a:ln w="12700">
            <a:solidFill>
              <a:srgbClr val="D8E1EE"/>
            </a:solidFill>
            <a:prstDash val="solid"/>
          </a:ln>
        </p:spPr>
      </p:sp>
      <p:sp>
        <p:nvSpPr>
          <p:cNvPr id="26" name="Text 24"/>
          <p:cNvSpPr/>
          <p:nvPr/>
        </p:nvSpPr>
        <p:spPr>
          <a:xfrm>
            <a:off x="987552" y="4160520"/>
            <a:ext cx="2697480" cy="594360"/>
          </a:xfrm>
          <a:prstGeom prst="rect">
            <a:avLst/>
          </a:prstGeom>
          <a:noFill/>
          <a:ln/>
        </p:spPr>
        <p:txBody>
          <a:bodyPr wrap="square" lIns="254" tIns="254" rIns="254" bIns="254" rtlCol="0" anchor="ctr"/>
          <a:lstStyle/>
          <a:p>
            <a:pPr marL="0" indent="0">
              <a:buNone/>
            </a:pPr>
            <a:r>
              <a:rPr lang="en-US" sz="1550" dirty="0">
                <a:solidFill>
                  <a:srgbClr val="1C2430"/>
                </a:solidFill>
              </a:rPr>
              <a:t>Лицензия третьему лицу</a:t>
            </a:r>
            <a:endParaRPr lang="en-US" sz="1550" dirty="0"/>
          </a:p>
        </p:txBody>
      </p:sp>
      <p:sp>
        <p:nvSpPr>
          <p:cNvPr id="27" name="Text 25"/>
          <p:cNvSpPr/>
          <p:nvPr/>
        </p:nvSpPr>
        <p:spPr>
          <a:xfrm>
            <a:off x="4233672" y="4105656"/>
            <a:ext cx="3200400" cy="658368"/>
          </a:xfrm>
          <a:prstGeom prst="rect">
            <a:avLst/>
          </a:prstGeom>
          <a:noFill/>
          <a:ln/>
        </p:spPr>
        <p:txBody>
          <a:bodyPr wrap="square" lIns="254" tIns="254" rIns="254" bIns="254" rtlCol="0" anchor="ctr"/>
          <a:lstStyle/>
          <a:p>
            <a:pPr marL="0" indent="0" algn="ctr">
              <a:buNone/>
            </a:pPr>
            <a:r>
              <a:rPr lang="en-US" sz="1420" dirty="0">
                <a:solidFill>
                  <a:srgbClr val="22314A"/>
                </a:solidFill>
              </a:rPr>
              <a:t>10% вознаграждения работодателя по лицензионному договору</a:t>
            </a:r>
            <a:endParaRPr lang="en-US" sz="1420" dirty="0"/>
          </a:p>
        </p:txBody>
      </p:sp>
      <p:sp>
        <p:nvSpPr>
          <p:cNvPr id="28" name="Text 26"/>
          <p:cNvSpPr/>
          <p:nvPr/>
        </p:nvSpPr>
        <p:spPr>
          <a:xfrm>
            <a:off x="7936992" y="4105656"/>
            <a:ext cx="3236976" cy="658368"/>
          </a:xfrm>
          <a:prstGeom prst="rect">
            <a:avLst/>
          </a:prstGeom>
          <a:noFill/>
          <a:ln/>
        </p:spPr>
        <p:txBody>
          <a:bodyPr wrap="square" lIns="381" tIns="381" rIns="381" bIns="381" rtlCol="0" anchor="ctr"/>
          <a:lstStyle/>
          <a:p>
            <a:pPr marL="0" indent="0">
              <a:buNone/>
            </a:pPr>
            <a:r>
              <a:rPr lang="en-US" sz="1310" dirty="0">
                <a:solidFill>
                  <a:srgbClr val="22314A"/>
                </a:solidFill>
              </a:rPr>
              <a:t>В течение месяца после получения работодателем соответствующей суммы</a:t>
            </a:r>
            <a:endParaRPr lang="en-US" sz="1310" dirty="0"/>
          </a:p>
        </p:txBody>
      </p:sp>
      <p:sp>
        <p:nvSpPr>
          <p:cNvPr id="29" name="Shape 27"/>
          <p:cNvSpPr/>
          <p:nvPr/>
        </p:nvSpPr>
        <p:spPr>
          <a:xfrm>
            <a:off x="868680" y="4901184"/>
            <a:ext cx="2926080" cy="795528"/>
          </a:xfrm>
          <a:prstGeom prst="roundRect">
            <a:avLst/>
          </a:prstGeom>
          <a:solidFill>
            <a:srgbClr val="FFFFFF"/>
          </a:solidFill>
          <a:ln w="12700">
            <a:solidFill>
              <a:srgbClr val="D8E1EE"/>
            </a:solidFill>
            <a:prstDash val="solid"/>
          </a:ln>
        </p:spPr>
      </p:sp>
      <p:sp>
        <p:nvSpPr>
          <p:cNvPr id="30" name="Shape 28"/>
          <p:cNvSpPr/>
          <p:nvPr/>
        </p:nvSpPr>
        <p:spPr>
          <a:xfrm>
            <a:off x="4114800" y="4901184"/>
            <a:ext cx="3429000" cy="795528"/>
          </a:xfrm>
          <a:prstGeom prst="roundRect">
            <a:avLst/>
          </a:prstGeom>
          <a:solidFill>
            <a:srgbClr val="FFFFFF"/>
          </a:solidFill>
          <a:ln w="12700">
            <a:solidFill>
              <a:srgbClr val="D8E1EE"/>
            </a:solidFill>
            <a:prstDash val="solid"/>
          </a:ln>
        </p:spPr>
      </p:sp>
      <p:sp>
        <p:nvSpPr>
          <p:cNvPr id="31" name="Shape 29"/>
          <p:cNvSpPr/>
          <p:nvPr/>
        </p:nvSpPr>
        <p:spPr>
          <a:xfrm>
            <a:off x="7818120" y="4901184"/>
            <a:ext cx="3474720" cy="795528"/>
          </a:xfrm>
          <a:prstGeom prst="roundRect">
            <a:avLst/>
          </a:prstGeom>
          <a:solidFill>
            <a:srgbClr val="FFFFFF"/>
          </a:solidFill>
          <a:ln w="12700">
            <a:solidFill>
              <a:srgbClr val="D8E1EE"/>
            </a:solidFill>
            <a:prstDash val="solid"/>
          </a:ln>
        </p:spPr>
      </p:sp>
      <p:sp>
        <p:nvSpPr>
          <p:cNvPr id="32" name="Text 30"/>
          <p:cNvSpPr/>
          <p:nvPr/>
        </p:nvSpPr>
        <p:spPr>
          <a:xfrm>
            <a:off x="987552" y="5047488"/>
            <a:ext cx="2697480" cy="594360"/>
          </a:xfrm>
          <a:prstGeom prst="rect">
            <a:avLst/>
          </a:prstGeom>
          <a:noFill/>
          <a:ln/>
        </p:spPr>
        <p:txBody>
          <a:bodyPr wrap="square" lIns="254" tIns="254" rIns="254" bIns="254" rtlCol="0" anchor="ctr"/>
          <a:lstStyle/>
          <a:p>
            <a:pPr marL="0" indent="0">
              <a:buNone/>
            </a:pPr>
            <a:r>
              <a:rPr lang="en-US" sz="1550" dirty="0">
                <a:solidFill>
                  <a:srgbClr val="1C2430"/>
                </a:solidFill>
              </a:rPr>
              <a:t>Передача права / отчуждение</a:t>
            </a:r>
            <a:endParaRPr lang="en-US" sz="1550" dirty="0"/>
          </a:p>
        </p:txBody>
      </p:sp>
      <p:sp>
        <p:nvSpPr>
          <p:cNvPr id="33" name="Text 31"/>
          <p:cNvSpPr/>
          <p:nvPr/>
        </p:nvSpPr>
        <p:spPr>
          <a:xfrm>
            <a:off x="4233672" y="4992624"/>
            <a:ext cx="3200400" cy="658368"/>
          </a:xfrm>
          <a:prstGeom prst="rect">
            <a:avLst/>
          </a:prstGeom>
          <a:noFill/>
          <a:ln/>
        </p:spPr>
        <p:txBody>
          <a:bodyPr wrap="square" lIns="254" tIns="254" rIns="254" bIns="254" rtlCol="0" anchor="ctr"/>
          <a:lstStyle/>
          <a:p>
            <a:pPr marL="0" indent="0" algn="ctr">
              <a:buNone/>
            </a:pPr>
            <a:r>
              <a:rPr lang="en-US" sz="1420" dirty="0">
                <a:solidFill>
                  <a:srgbClr val="22314A"/>
                </a:solidFill>
              </a:rPr>
              <a:t>15% вознаграждения работодателя по договору</a:t>
            </a:r>
            <a:endParaRPr lang="en-US" sz="1420" dirty="0"/>
          </a:p>
        </p:txBody>
      </p:sp>
      <p:sp>
        <p:nvSpPr>
          <p:cNvPr id="34" name="Text 32"/>
          <p:cNvSpPr/>
          <p:nvPr/>
        </p:nvSpPr>
        <p:spPr>
          <a:xfrm>
            <a:off x="7936992" y="4992624"/>
            <a:ext cx="3236976" cy="658368"/>
          </a:xfrm>
          <a:prstGeom prst="rect">
            <a:avLst/>
          </a:prstGeom>
          <a:noFill/>
          <a:ln/>
        </p:spPr>
        <p:txBody>
          <a:bodyPr wrap="square" lIns="381" tIns="381" rIns="381" bIns="381" rtlCol="0" anchor="ctr"/>
          <a:lstStyle/>
          <a:p>
            <a:pPr marL="0" indent="0">
              <a:buNone/>
            </a:pPr>
            <a:r>
              <a:rPr lang="en-US" sz="1310" dirty="0">
                <a:solidFill>
                  <a:srgbClr val="22314A"/>
                </a:solidFill>
              </a:rPr>
              <a:t>В течение месяца после получения работодателем соответствующей суммы</a:t>
            </a:r>
            <a:endParaRPr lang="en-US" sz="1310" dirty="0"/>
          </a:p>
        </p:txBody>
      </p:sp>
      <p:sp>
        <p:nvSpPr>
          <p:cNvPr id="35" name="Shape 33"/>
          <p:cNvSpPr/>
          <p:nvPr/>
        </p:nvSpPr>
        <p:spPr>
          <a:xfrm>
            <a:off x="868680" y="6035040"/>
            <a:ext cx="10424160" cy="411480"/>
          </a:xfrm>
          <a:prstGeom prst="roundRect">
            <a:avLst/>
          </a:prstGeom>
          <a:solidFill>
            <a:srgbClr val="FFF5E8"/>
          </a:solidFill>
          <a:ln w="12700">
            <a:solidFill>
              <a:srgbClr val="FFD9A3"/>
            </a:solidFill>
            <a:prstDash val="solid"/>
          </a:ln>
        </p:spPr>
      </p:sp>
      <p:sp>
        <p:nvSpPr>
          <p:cNvPr id="36" name="Text 34"/>
          <p:cNvSpPr/>
          <p:nvPr/>
        </p:nvSpPr>
        <p:spPr>
          <a:xfrm>
            <a:off x="1143000" y="6144768"/>
            <a:ext cx="9875520" cy="146304"/>
          </a:xfrm>
          <a:prstGeom prst="rect">
            <a:avLst/>
          </a:prstGeom>
          <a:noFill/>
          <a:ln/>
        </p:spPr>
        <p:txBody>
          <a:bodyPr wrap="square" lIns="0" tIns="0" rIns="0" bIns="0" rtlCol="0" anchor="ctr"/>
          <a:lstStyle/>
          <a:p>
            <a:pPr marL="0" indent="0" algn="ctr">
              <a:buNone/>
            </a:pPr>
            <a:r>
              <a:rPr lang="en-US" sz="1200" b="1" dirty="0">
                <a:solidFill>
                  <a:srgbClr val="C38B2F"/>
                </a:solidFill>
              </a:rPr>
              <a:t>Если в трудовом или отдельном соглашении установлен иной размер / порядок, приоритет имеет договор.</a:t>
            </a:r>
            <a:endParaRPr lang="en-US" sz="1200" dirty="0"/>
          </a:p>
        </p:txBody>
      </p:sp>
      <p:sp>
        <p:nvSpPr>
          <p:cNvPr id="37" name="Slide Number Placeholder 0"/>
          <p:cNvSpPr>
            <a:spLocks noGrp="1"/>
          </p:cNvSpPr>
          <p:nvPr>
            <p:ph type="sldNum" sz="quarter" idx="4294967295"/>
          </p:nvPr>
        </p:nvSpPr>
        <p:spPr>
          <a:xfrm>
            <a:off x="11612880" y="6446520"/>
            <a:ext cx="256032"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699"/>
                </a:solidFill>
                <a:latin typeface="Aptos"/>
                <a:ea typeface="Aptos"/>
                <a:cs typeface="Aptos"/>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85800" y="411480"/>
            <a:ext cx="7955280" cy="457200"/>
          </a:xfrm>
          <a:prstGeom prst="rect">
            <a:avLst/>
          </a:prstGeom>
          <a:noFill/>
          <a:ln/>
        </p:spPr>
        <p:txBody>
          <a:bodyPr wrap="square" lIns="0" tIns="0" rIns="0" bIns="0" rtlCol="0" anchor="ctr"/>
          <a:lstStyle/>
          <a:p>
            <a:pPr marL="0" indent="0">
              <a:buNone/>
            </a:pPr>
            <a:r>
              <a:rPr lang="en-US" sz="2400" b="1" dirty="0">
                <a:solidFill>
                  <a:srgbClr val="163B6D"/>
                </a:solidFill>
                <a:latin typeface="Aptos Display" pitchFamily="34" charset="0"/>
                <a:ea typeface="Aptos Display" pitchFamily="34" charset="-122"/>
                <a:cs typeface="Aptos Display" pitchFamily="34" charset="-120"/>
              </a:rPr>
              <a:t>7. </a:t>
            </a:r>
            <a:r>
              <a:rPr lang="ru-RU" sz="2400" b="1" dirty="0">
                <a:solidFill>
                  <a:srgbClr val="163B6D"/>
                </a:solidFill>
                <a:latin typeface="Aptos Display" pitchFamily="34" charset="0"/>
                <a:ea typeface="Aptos Display" pitchFamily="34" charset="-122"/>
                <a:cs typeface="Aptos Display" pitchFamily="34" charset="-120"/>
              </a:rPr>
              <a:t>Итоги</a:t>
            </a:r>
            <a:endParaRPr lang="en-US" sz="2400" dirty="0"/>
          </a:p>
        </p:txBody>
      </p:sp>
      <p:sp>
        <p:nvSpPr>
          <p:cNvPr id="3" name="Text 1"/>
          <p:cNvSpPr/>
          <p:nvPr/>
        </p:nvSpPr>
        <p:spPr>
          <a:xfrm>
            <a:off x="713232" y="896112"/>
            <a:ext cx="8412480" cy="274320"/>
          </a:xfrm>
          <a:prstGeom prst="rect">
            <a:avLst/>
          </a:prstGeom>
          <a:noFill/>
          <a:ln/>
        </p:spPr>
        <p:txBody>
          <a:bodyPr wrap="square" lIns="0" tIns="0" rIns="0" bIns="0" rtlCol="0" anchor="ctr"/>
          <a:lstStyle/>
          <a:p>
            <a:pPr marL="0" indent="0">
              <a:buNone/>
            </a:pPr>
            <a:r>
              <a:rPr lang="en-US" sz="1050" dirty="0">
                <a:solidFill>
                  <a:srgbClr val="65748B"/>
                </a:solidFill>
                <a:latin typeface="Aptos" pitchFamily="34" charset="0"/>
                <a:ea typeface="Aptos" pitchFamily="34" charset="-122"/>
                <a:cs typeface="Aptos" pitchFamily="34" charset="-120"/>
              </a:rPr>
              <a:t>Краткий чек-лист для экзамена, зачета или практики</a:t>
            </a:r>
            <a:endParaRPr lang="en-US" sz="1050" dirty="0"/>
          </a:p>
        </p:txBody>
      </p:sp>
      <p:sp>
        <p:nvSpPr>
          <p:cNvPr id="4" name="Shape 2"/>
          <p:cNvSpPr/>
          <p:nvPr/>
        </p:nvSpPr>
        <p:spPr>
          <a:xfrm>
            <a:off x="731520" y="1572768"/>
            <a:ext cx="2944368" cy="1993392"/>
          </a:xfrm>
          <a:prstGeom prst="roundRect">
            <a:avLst/>
          </a:prstGeom>
          <a:solidFill>
            <a:srgbClr val="FFFFFF"/>
          </a:solidFill>
          <a:ln w="12700">
            <a:solidFill>
              <a:srgbClr val="D8E1EE"/>
            </a:solidFill>
            <a:prstDash val="solid"/>
          </a:ln>
          <a:effectLst>
            <a:outerShdw blurRad="15240" dist="12700" dir="2700000" algn="bl" rotWithShape="0">
              <a:srgbClr val="000000">
                <a:alpha val="10000"/>
              </a:srgbClr>
            </a:outerShdw>
          </a:effectLst>
        </p:spPr>
      </p:sp>
      <p:sp>
        <p:nvSpPr>
          <p:cNvPr id="5" name="Text 3"/>
          <p:cNvSpPr/>
          <p:nvPr/>
        </p:nvSpPr>
        <p:spPr>
          <a:xfrm>
            <a:off x="932688" y="1783080"/>
            <a:ext cx="1325880" cy="310896"/>
          </a:xfrm>
          <a:prstGeom prst="rect">
            <a:avLst/>
          </a:prstGeom>
          <a:solidFill>
            <a:srgbClr val="163B6D"/>
          </a:solidFill>
          <a:ln>
            <a:solidFill>
              <a:srgbClr val="163B6D"/>
            </a:solidFill>
          </a:ln>
        </p:spPr>
        <p:txBody>
          <a:bodyPr wrap="square" lIns="254" tIns="254" rIns="254" bIns="254" rtlCol="0" anchor="ctr"/>
          <a:lstStyle/>
          <a:p>
            <a:pPr marL="0" indent="0" algn="ctr">
              <a:buNone/>
            </a:pPr>
            <a:r>
              <a:rPr lang="en-US" sz="1100" b="1" dirty="0">
                <a:solidFill>
                  <a:srgbClr val="FFFFFF"/>
                </a:solidFill>
                <a:latin typeface="Aptos" pitchFamily="34" charset="0"/>
                <a:ea typeface="Aptos" pitchFamily="34" charset="-122"/>
                <a:cs typeface="Aptos" pitchFamily="34" charset="-120"/>
              </a:rPr>
              <a:t>Формула</a:t>
            </a:r>
            <a:endParaRPr lang="en-US" sz="1100" dirty="0"/>
          </a:p>
        </p:txBody>
      </p:sp>
      <p:sp>
        <p:nvSpPr>
          <p:cNvPr id="6" name="Text 4"/>
          <p:cNvSpPr/>
          <p:nvPr/>
        </p:nvSpPr>
        <p:spPr>
          <a:xfrm>
            <a:off x="932688" y="2286000"/>
            <a:ext cx="2542032" cy="841248"/>
          </a:xfrm>
          <a:prstGeom prst="rect">
            <a:avLst/>
          </a:prstGeom>
          <a:noFill/>
          <a:ln/>
        </p:spPr>
        <p:txBody>
          <a:bodyPr wrap="square" lIns="254" tIns="254" rIns="254" bIns="254" rtlCol="0" anchor="ctr"/>
          <a:lstStyle/>
          <a:p>
            <a:pPr marL="0" indent="0">
              <a:buNone/>
            </a:pPr>
            <a:r>
              <a:rPr lang="en-US" sz="1700" dirty="0">
                <a:solidFill>
                  <a:srgbClr val="1C2430"/>
                </a:solidFill>
              </a:rPr>
              <a:t>Определяет объем правовой охраны. Независимый пункт — ядро, зависимые — уточнение.</a:t>
            </a:r>
            <a:endParaRPr lang="en-US" sz="1700" dirty="0"/>
          </a:p>
        </p:txBody>
      </p:sp>
      <p:sp>
        <p:nvSpPr>
          <p:cNvPr id="7" name="Shape 5"/>
          <p:cNvSpPr/>
          <p:nvPr/>
        </p:nvSpPr>
        <p:spPr>
          <a:xfrm>
            <a:off x="4041648" y="1572768"/>
            <a:ext cx="2944368" cy="1993392"/>
          </a:xfrm>
          <a:prstGeom prst="roundRect">
            <a:avLst/>
          </a:prstGeom>
          <a:solidFill>
            <a:srgbClr val="FFFFFF"/>
          </a:solidFill>
          <a:ln w="12700">
            <a:solidFill>
              <a:srgbClr val="D8E1EE"/>
            </a:solidFill>
            <a:prstDash val="solid"/>
          </a:ln>
          <a:effectLst>
            <a:outerShdw blurRad="15240" dist="12700" dir="2700000" algn="bl" rotWithShape="0">
              <a:srgbClr val="000000">
                <a:alpha val="10000"/>
              </a:srgbClr>
            </a:outerShdw>
          </a:effectLst>
        </p:spPr>
      </p:sp>
      <p:sp>
        <p:nvSpPr>
          <p:cNvPr id="8" name="Text 6"/>
          <p:cNvSpPr/>
          <p:nvPr/>
        </p:nvSpPr>
        <p:spPr>
          <a:xfrm>
            <a:off x="4242816" y="1783080"/>
            <a:ext cx="1325880" cy="310896"/>
          </a:xfrm>
          <a:prstGeom prst="rect">
            <a:avLst/>
          </a:prstGeom>
          <a:solidFill>
            <a:srgbClr val="163B6D"/>
          </a:solidFill>
          <a:ln>
            <a:solidFill>
              <a:srgbClr val="163B6D"/>
            </a:solidFill>
          </a:ln>
        </p:spPr>
        <p:txBody>
          <a:bodyPr wrap="square" lIns="254" tIns="254" rIns="254" bIns="254" rtlCol="0" anchor="ctr"/>
          <a:lstStyle/>
          <a:p>
            <a:pPr marL="0" indent="0" algn="ctr">
              <a:buNone/>
            </a:pPr>
            <a:r>
              <a:rPr lang="en-US" sz="1100" b="1" dirty="0" err="1">
                <a:solidFill>
                  <a:srgbClr val="FFFFFF"/>
                </a:solidFill>
                <a:latin typeface="Aptos" pitchFamily="34" charset="0"/>
                <a:ea typeface="Aptos" pitchFamily="34" charset="-122"/>
                <a:cs typeface="Aptos" pitchFamily="34" charset="-120"/>
              </a:rPr>
              <a:t>Служебн</a:t>
            </a:r>
            <a:r>
              <a:rPr lang="ru-RU" sz="1100" b="1" dirty="0" err="1">
                <a:solidFill>
                  <a:srgbClr val="FFFFFF"/>
                </a:solidFill>
                <a:latin typeface="Aptos" pitchFamily="34" charset="0"/>
                <a:ea typeface="Aptos" pitchFamily="34" charset="-122"/>
                <a:cs typeface="Aptos" pitchFamily="34" charset="-120"/>
              </a:rPr>
              <a:t>ое</a:t>
            </a:r>
            <a:endParaRPr lang="en-US" sz="1100" dirty="0"/>
          </a:p>
        </p:txBody>
      </p:sp>
      <p:sp>
        <p:nvSpPr>
          <p:cNvPr id="9" name="Text 7"/>
          <p:cNvSpPr/>
          <p:nvPr/>
        </p:nvSpPr>
        <p:spPr>
          <a:xfrm>
            <a:off x="4242816" y="2286000"/>
            <a:ext cx="2542032" cy="841248"/>
          </a:xfrm>
          <a:prstGeom prst="rect">
            <a:avLst/>
          </a:prstGeom>
          <a:noFill/>
          <a:ln/>
        </p:spPr>
        <p:txBody>
          <a:bodyPr wrap="square" lIns="254" tIns="254" rIns="254" bIns="254" rtlCol="0" anchor="ctr"/>
          <a:lstStyle/>
          <a:p>
            <a:pPr marL="0" indent="0">
              <a:buNone/>
            </a:pPr>
            <a:r>
              <a:rPr lang="en-US" sz="1700" dirty="0">
                <a:solidFill>
                  <a:srgbClr val="1C2430"/>
                </a:solidFill>
              </a:rPr>
              <a:t>Нужна связь с трудовой функцией или конкретным заданием работодателя.</a:t>
            </a:r>
            <a:endParaRPr lang="en-US" sz="1700" dirty="0"/>
          </a:p>
        </p:txBody>
      </p:sp>
      <p:sp>
        <p:nvSpPr>
          <p:cNvPr id="10" name="Shape 8"/>
          <p:cNvSpPr/>
          <p:nvPr/>
        </p:nvSpPr>
        <p:spPr>
          <a:xfrm>
            <a:off x="7351776" y="1572768"/>
            <a:ext cx="2944368" cy="1993392"/>
          </a:xfrm>
          <a:prstGeom prst="roundRect">
            <a:avLst/>
          </a:prstGeom>
          <a:solidFill>
            <a:srgbClr val="FFFFFF"/>
          </a:solidFill>
          <a:ln w="12700">
            <a:solidFill>
              <a:srgbClr val="D8E1EE"/>
            </a:solidFill>
            <a:prstDash val="solid"/>
          </a:ln>
          <a:effectLst>
            <a:outerShdw blurRad="15240" dist="12700" dir="2700000" algn="bl" rotWithShape="0">
              <a:srgbClr val="000000">
                <a:alpha val="10000"/>
              </a:srgbClr>
            </a:outerShdw>
          </a:effectLst>
        </p:spPr>
      </p:sp>
      <p:sp>
        <p:nvSpPr>
          <p:cNvPr id="11" name="Text 9"/>
          <p:cNvSpPr/>
          <p:nvPr/>
        </p:nvSpPr>
        <p:spPr>
          <a:xfrm>
            <a:off x="7552944" y="1783080"/>
            <a:ext cx="1325880" cy="310896"/>
          </a:xfrm>
          <a:prstGeom prst="rect">
            <a:avLst/>
          </a:prstGeom>
          <a:solidFill>
            <a:srgbClr val="163B6D"/>
          </a:solidFill>
          <a:ln>
            <a:solidFill>
              <a:srgbClr val="163B6D"/>
            </a:solidFill>
          </a:ln>
        </p:spPr>
        <p:txBody>
          <a:bodyPr wrap="square" lIns="254" tIns="254" rIns="254" bIns="254" rtlCol="0" anchor="ctr"/>
          <a:lstStyle/>
          <a:p>
            <a:pPr marL="0" indent="0" algn="ctr">
              <a:buNone/>
            </a:pPr>
            <a:r>
              <a:rPr lang="en-US" sz="1100" b="1" dirty="0">
                <a:solidFill>
                  <a:srgbClr val="FFFFFF"/>
                </a:solidFill>
                <a:latin typeface="Aptos" pitchFamily="34" charset="0"/>
                <a:ea typeface="Aptos" pitchFamily="34" charset="-122"/>
                <a:cs typeface="Aptos" pitchFamily="34" charset="-120"/>
              </a:rPr>
              <a:t>Права</a:t>
            </a:r>
            <a:endParaRPr lang="en-US" sz="1100" dirty="0"/>
          </a:p>
        </p:txBody>
      </p:sp>
      <p:sp>
        <p:nvSpPr>
          <p:cNvPr id="12" name="Text 10"/>
          <p:cNvSpPr/>
          <p:nvPr/>
        </p:nvSpPr>
        <p:spPr>
          <a:xfrm>
            <a:off x="7552944" y="2286000"/>
            <a:ext cx="2542032" cy="841248"/>
          </a:xfrm>
          <a:prstGeom prst="rect">
            <a:avLst/>
          </a:prstGeom>
          <a:noFill/>
          <a:ln/>
        </p:spPr>
        <p:txBody>
          <a:bodyPr wrap="square" lIns="254" tIns="254" rIns="254" bIns="254" rtlCol="0" anchor="ctr"/>
          <a:lstStyle/>
          <a:p>
            <a:pPr marL="0" indent="0">
              <a:buNone/>
            </a:pPr>
            <a:r>
              <a:rPr lang="en-US" sz="1700" dirty="0">
                <a:solidFill>
                  <a:srgbClr val="1C2430"/>
                </a:solidFill>
              </a:rPr>
              <a:t>Авторство — у работника; исключительное право и патент — обычно у работодателя.</a:t>
            </a:r>
            <a:endParaRPr lang="en-US" sz="1700" dirty="0"/>
          </a:p>
        </p:txBody>
      </p:sp>
      <p:sp>
        <p:nvSpPr>
          <p:cNvPr id="13" name="Shape 11"/>
          <p:cNvSpPr/>
          <p:nvPr/>
        </p:nvSpPr>
        <p:spPr>
          <a:xfrm>
            <a:off x="731520" y="3977640"/>
            <a:ext cx="10469880" cy="1371600"/>
          </a:xfrm>
          <a:prstGeom prst="roundRect">
            <a:avLst/>
          </a:prstGeom>
          <a:solidFill>
            <a:srgbClr val="F4F8FF"/>
          </a:solidFill>
          <a:ln w="12700">
            <a:solidFill>
              <a:srgbClr val="D8E1EE"/>
            </a:solidFill>
            <a:prstDash val="solid"/>
          </a:ln>
        </p:spPr>
      </p:sp>
      <p:sp>
        <p:nvSpPr>
          <p:cNvPr id="14" name="Text 12"/>
          <p:cNvSpPr/>
          <p:nvPr/>
        </p:nvSpPr>
        <p:spPr>
          <a:xfrm>
            <a:off x="969264" y="4043172"/>
            <a:ext cx="1828800" cy="310896"/>
          </a:xfrm>
          <a:prstGeom prst="rect">
            <a:avLst/>
          </a:prstGeom>
          <a:solidFill>
            <a:srgbClr val="1F8A50"/>
          </a:solidFill>
          <a:ln>
            <a:solidFill>
              <a:srgbClr val="1F8A50"/>
            </a:solidFill>
          </a:ln>
        </p:spPr>
        <p:txBody>
          <a:bodyPr wrap="square" lIns="254" tIns="254" rIns="254" bIns="254" rtlCol="0" anchor="ctr"/>
          <a:lstStyle/>
          <a:p>
            <a:pPr marL="0" indent="0" algn="ctr">
              <a:buNone/>
            </a:pPr>
            <a:r>
              <a:rPr lang="en-US" sz="1100" b="1" dirty="0">
                <a:solidFill>
                  <a:srgbClr val="FFFFFF"/>
                </a:solidFill>
                <a:latin typeface="Aptos" pitchFamily="34" charset="0"/>
                <a:ea typeface="Aptos" pitchFamily="34" charset="-122"/>
                <a:cs typeface="Aptos" pitchFamily="34" charset="-120"/>
              </a:rPr>
              <a:t>Финальная мысль</a:t>
            </a:r>
            <a:endParaRPr lang="en-US" sz="1100" dirty="0"/>
          </a:p>
        </p:txBody>
      </p:sp>
      <p:sp>
        <p:nvSpPr>
          <p:cNvPr id="15" name="Text 13"/>
          <p:cNvSpPr/>
          <p:nvPr/>
        </p:nvSpPr>
        <p:spPr>
          <a:xfrm>
            <a:off x="987552" y="4617720"/>
            <a:ext cx="9921240" cy="438912"/>
          </a:xfrm>
          <a:prstGeom prst="rect">
            <a:avLst/>
          </a:prstGeom>
          <a:noFill/>
          <a:ln/>
        </p:spPr>
        <p:txBody>
          <a:bodyPr wrap="square" lIns="254" tIns="254" rIns="254" bIns="254" rtlCol="0" anchor="ctr"/>
          <a:lstStyle/>
          <a:p>
            <a:pPr marL="0" indent="0" algn="ctr">
              <a:buNone/>
            </a:pPr>
            <a:r>
              <a:rPr lang="en-US" sz="1900" dirty="0">
                <a:solidFill>
                  <a:srgbClr val="22314A"/>
                </a:solidFill>
              </a:rPr>
              <a:t>Хорошая формула — это не пересказ описания, а точная правовая рамка изобретения. Для служебного изобретения ключевое значение имеют: письменное уведомление, 6-месячный срок работодателя и договоренности о вознаграждении.</a:t>
            </a:r>
            <a:endParaRPr lang="en-US" sz="1900" dirty="0"/>
          </a:p>
        </p:txBody>
      </p:sp>
      <p:sp>
        <p:nvSpPr>
          <p:cNvPr id="25" name="Slide Number Placeholder 0"/>
          <p:cNvSpPr>
            <a:spLocks noGrp="1"/>
          </p:cNvSpPr>
          <p:nvPr>
            <p:ph type="sldNum" sz="quarter" idx="4294967295"/>
          </p:nvPr>
        </p:nvSpPr>
        <p:spPr>
          <a:xfrm>
            <a:off x="11612880" y="6446520"/>
            <a:ext cx="256032"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699"/>
                </a:solidFill>
                <a:latin typeface="Aptos"/>
                <a:ea typeface="Aptos"/>
                <a:cs typeface="Aptos"/>
              </a:defRPr>
            </a:lvl1pPr>
          </a:lstStyle>
          <a:p>
            <a:pPr algn="r"/>
            <a:fld id="{F7021451-1387-4CA6-816F-3879F97B5CBC}" type="slidenum">
              <a:rPr lang="en-US" b="0"/>
              <a:t>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Стандартная">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TotalTime>
  <Words>2168</Words>
  <Application>Microsoft Office PowerPoint</Application>
  <PresentationFormat>Широкоэкранный</PresentationFormat>
  <Paragraphs>127</Paragraphs>
  <Slides>8</Slides>
  <Notes>8</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8</vt:i4>
      </vt:variant>
    </vt:vector>
  </HeadingPairs>
  <TitlesOfParts>
    <vt:vector size="12" baseType="lpstr">
      <vt:lpstr>Aptos</vt:lpstr>
      <vt:lpstr>Aptos Display</vt:lpstr>
      <vt:lpstr>Arial</vt:lpstr>
      <vt:lpstr>Office Theme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Формула изобретения и служебное изобретение</dc:title>
  <dc:subject>Формула изобретения и служебное изобретение</dc:subject>
  <dc:creator>OpenAI</dc:creator>
  <cp:lastModifiedBy>Nano</cp:lastModifiedBy>
  <cp:revision>7</cp:revision>
  <dcterms:created xsi:type="dcterms:W3CDTF">2026-03-20T08:16:32Z</dcterms:created>
  <dcterms:modified xsi:type="dcterms:W3CDTF">2026-03-20T08:40:15Z</dcterms:modified>
</cp:coreProperties>
</file>