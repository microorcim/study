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39EA0-8F8A-3840-61C9-12F453EB8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EBE343-48E0-3BB4-018D-9A01B97FC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063823-9CDA-BB09-43F0-140F9165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06F872-8AE6-8DA0-8CE6-827118F9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69162D-5ABC-008F-DBC1-1B483F23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6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85340-A47E-001D-A9B1-3B47CD68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9D9609-4FBD-17EB-E99C-4C2E6102E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4E527E-7A76-201C-9212-20FC3E69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1C37FC-64BA-5896-8DC7-5B91DF1F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84C92B-084A-E4A8-886B-B5888F47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50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EC3EC-1E73-531E-A16C-92BC08B3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E48C0A-A5FE-4667-47BB-04B0DFFA8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D5C518-3661-6A9F-036C-AACFC6FC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9507E9-9F75-24F9-731F-E8744CF6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AC34C1-8C52-D7AA-415E-78C9E387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41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AE173-F575-476F-75DE-B296607E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9CCDC7-43CB-5263-1B4D-403E0A98C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0689BE-FB31-48E5-47B9-1E0B0770C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58EA47-3582-4A00-A65B-94C000168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4FE263-6E0D-2388-B26F-4DA6B592C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5764EE-A607-14DD-52D8-8E15B6EDA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950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BB915-47C4-4699-7F57-27B47618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826247-4497-1A7F-D4E4-1F3A3EC4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5CD5B3-2985-2416-3A9A-46A066A88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05BABD-8E7F-9D2D-0B4C-AA045133A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194FF8-A695-ECCE-1E99-ECECD9938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D32EFC-2A5E-237F-9629-05D60219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659E6FB-D285-7E2E-E60C-F32E530A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9FD05E-FCAE-1309-6F29-F6662EC1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51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CCA1ED-733E-B083-3C36-91BCA854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DBCAA7B-F49E-A2FA-469F-0A681751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341AFD-0346-1867-BE8A-9512012E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CFC957-746E-40BA-961A-F40ABC27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49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D41CCE-24BD-D652-C81F-1E1878BF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2B520B-673D-20C8-2FFB-D646CF5F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4B009D-2246-2195-B1B2-D91A923A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18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C0865-6F13-E55C-961A-3F331ABB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0105CF-D166-4461-2F5E-C444D0EA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0FED41-C1EA-25D1-93DC-7F93D368C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A10A62-2A11-4B92-3837-286898A08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B2922D-BE4D-2637-33C0-51736087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2BA4A9-FD27-CB25-D329-4C6D45A73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55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49D58-E7CE-D665-286A-3B4CF92C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AE00B2-C732-E395-B150-5BE5BDFF1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BEB7E0-6BAB-5668-C589-2F700EBF1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A73266-8B72-02FF-61FA-7565E5AC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375165-213D-9383-799F-E1041BCF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225630-3B10-4606-75CD-5808D924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99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13047-15A5-8C22-3599-86156220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3C63B4-E89F-3F4B-FB4F-A28728EB4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B6B7AD-C52A-AE8E-E1C6-2AC02F1F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CF565B-A98A-3123-A305-0832BF5C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987137-FB28-9839-7921-7FAEC4A8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46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A9EA00-16E0-562D-B911-92BEB92D8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330F91-004F-0F90-C172-4AC399206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2825D-4967-0400-3F67-D1457AC7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00F39D-FFE5-F534-7418-623F8EF5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B64AA-5AFD-C077-A48E-590BEF81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0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558B8C-0F35-518B-22CC-5DCDE4A9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28F914-9011-0098-A1EC-3FB5B0AFC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6C82F1-3664-F1E5-C733-5AEC7A625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65DA4-E4CB-4CDB-9572-85EF16DBB139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079405-A4F3-4B65-EE39-D9C73AB1B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B31950-7665-4418-77FA-3860CD4AD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D8F4F-9447-42BA-B36A-2916EF6983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69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BD1DC8-3B06-5AA6-74C5-66C695F9EA9A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F3575-6D97-FE3C-A078-2FBA822D8B90}"/>
              </a:ext>
            </a:extLst>
          </p:cNvPr>
          <p:cNvSpPr txBox="1"/>
          <p:nvPr/>
        </p:nvSpPr>
        <p:spPr>
          <a:xfrm>
            <a:off x="1063142" y="378562"/>
            <a:ext cx="10065715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400" b="1">
                <a:solidFill>
                  <a:srgbClr val="FFFFFF"/>
                </a:solidFill>
                <a:latin typeface="Calibri" panose="020F0502020204030204" pitchFamily="34" charset="0"/>
              </a:rPr>
              <a:t>Правовая защита ИС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F5690-AD3B-5557-132E-BAE12800ED37}"/>
              </a:ext>
            </a:extLst>
          </p:cNvPr>
          <p:cNvSpPr txBox="1"/>
          <p:nvPr/>
        </p:nvSpPr>
        <p:spPr>
          <a:xfrm>
            <a:off x="853440" y="1371600"/>
            <a:ext cx="10485120" cy="6771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 dirty="0">
                <a:solidFill>
                  <a:srgbClr val="1A1A1A"/>
                </a:solidFill>
                <a:latin typeface="Calibri" panose="020F0502020204030204" pitchFamily="34" charset="0"/>
              </a:rPr>
              <a:t>35. Формула изобретения
36. Служебное изобретение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81A500-DD78-8845-6DDE-F1DE18E1786E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936E23-B80F-6874-6458-74CD1C7CFEAB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1</a:t>
            </a:r>
          </a:p>
        </p:txBody>
      </p:sp>
    </p:spTree>
    <p:extLst>
      <p:ext uri="{BB962C8B-B14F-4D97-AF65-F5344CB8AC3E}">
        <p14:creationId xmlns:p14="http://schemas.microsoft.com/office/powerpoint/2010/main" val="865234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4F9EBB-7222-F212-4FAC-3189C21964CC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108AD-3C93-9075-2007-B35F3FAC692E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35. Формула изобретения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C0704-B4D8-4F23-C11E-A934FA2BDFCA}"/>
              </a:ext>
            </a:extLst>
          </p:cNvPr>
          <p:cNvSpPr txBox="1"/>
          <p:nvPr/>
        </p:nvSpPr>
        <p:spPr>
          <a:xfrm>
            <a:off x="853440" y="1371600"/>
            <a:ext cx="1048512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1) Определяет объем правовой охраны
по патенту.
2) Охрана предоставляется
в пределах признаков формулы.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5C47D8-C026-6F27-16FD-5E5AC80BF5D8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A9213-C722-9CD4-0E48-F5210418C261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2</a:t>
            </a:r>
          </a:p>
        </p:txBody>
      </p:sp>
    </p:spTree>
    <p:extLst>
      <p:ext uri="{BB962C8B-B14F-4D97-AF65-F5344CB8AC3E}">
        <p14:creationId xmlns:p14="http://schemas.microsoft.com/office/powerpoint/2010/main" val="1983407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14DE9B-1961-F4EF-FDC1-37B5334236DC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E98DC-68B4-68D7-A04B-50878CFDA69F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Структура формулы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959D5-70D5-7680-885F-CC14EB373EE1}"/>
              </a:ext>
            </a:extLst>
          </p:cNvPr>
          <p:cNvSpPr txBox="1"/>
          <p:nvPr/>
        </p:nvSpPr>
        <p:spPr>
          <a:xfrm>
            <a:off x="853440" y="1371600"/>
            <a:ext cx="10485120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Обычно включает:
- независимые пункты (ключевые признаки)
- зависимые пункты (уточняют варианты)
Логика формулирования: ограничительная
и отличительная части.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9DC576-814C-241C-B341-09EFE15075B8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EFA21-6F3C-1910-B9B0-911231697849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3</a:t>
            </a:r>
          </a:p>
        </p:txBody>
      </p:sp>
    </p:spTree>
    <p:extLst>
      <p:ext uri="{BB962C8B-B14F-4D97-AF65-F5344CB8AC3E}">
        <p14:creationId xmlns:p14="http://schemas.microsoft.com/office/powerpoint/2010/main" val="304122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119C08B-8C7A-CAE2-132F-AE052D554B91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B647C-3696-B1F2-ACCC-4F923E1A8D87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Ограничительная и отличительная части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31155-61C3-2C88-55D3-D09D235ABEAB}"/>
              </a:ext>
            </a:extLst>
          </p:cNvPr>
          <p:cNvSpPr txBox="1"/>
          <p:nvPr/>
        </p:nvSpPr>
        <p:spPr>
          <a:xfrm>
            <a:off x="853440" y="1371600"/>
            <a:ext cx="10485120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Ограничительная часть:
- признаки, общие с ближайшим аналогом (прототипом)
Отличительная часть:
- признаки, которые создают новизну
и/или изобретательский уровень.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D1FDFD-8524-8E5F-571E-6C85F9447258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EB558-A2EA-F410-92B4-01DFDD66C39D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4</a:t>
            </a:r>
          </a:p>
        </p:txBody>
      </p:sp>
    </p:spTree>
    <p:extLst>
      <p:ext uri="{BB962C8B-B14F-4D97-AF65-F5344CB8AC3E}">
        <p14:creationId xmlns:p14="http://schemas.microsoft.com/office/powerpoint/2010/main" val="1190329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1A08C9-5B8C-094A-1F18-553EFDC3B7BA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4ABB1-2E53-C8FE-74D1-82D015F4F99A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Пример (упрощенно)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8A654-4FA1-911E-EA69-9D4B3AA18BF4}"/>
              </a:ext>
            </a:extLst>
          </p:cNvPr>
          <p:cNvSpPr txBox="1"/>
          <p:nvPr/>
        </p:nvSpPr>
        <p:spPr>
          <a:xfrm>
            <a:off x="853440" y="1371600"/>
            <a:ext cx="10485120" cy="21390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Способ ...,
включающий ... (ограничительные признаки).
Отличающийся тем, что ... (отличительные признаки).
Зависимый пункт: способ по п. 1,
где ... (частный вариант).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F96AF0-E64B-A5DD-013B-B342C60F37FE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89065-DFFD-2624-86FF-F140A5974111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5</a:t>
            </a:r>
          </a:p>
        </p:txBody>
      </p:sp>
    </p:spTree>
    <p:extLst>
      <p:ext uri="{BB962C8B-B14F-4D97-AF65-F5344CB8AC3E}">
        <p14:creationId xmlns:p14="http://schemas.microsoft.com/office/powerpoint/2010/main" val="255276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075292-CCD2-91DF-57BD-2FBD21048BEF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54F1D-C4D1-E078-8B27-F8AB487F4C00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Влияние точности формулы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B5D3E-81FF-496F-FAB8-F329002FFF0B}"/>
              </a:ext>
            </a:extLst>
          </p:cNvPr>
          <p:cNvSpPr txBox="1"/>
          <p:nvPr/>
        </p:nvSpPr>
        <p:spPr>
          <a:xfrm>
            <a:off x="853440" y="1371600"/>
            <a:ext cx="10485120" cy="21390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Если признак не включен в формулу,
как правило, он не защищается патентом.
Слишком широкая формула:
- риск оспаривания/недействительности.
Слишком узкая формула:
- слабая защита при обходе решения.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D38424-21E7-B3A9-9AAD-123FB9602C97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97414-D8EF-BAD8-58B9-0069F9791392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6</a:t>
            </a:r>
          </a:p>
        </p:txBody>
      </p:sp>
    </p:spTree>
    <p:extLst>
      <p:ext uri="{BB962C8B-B14F-4D97-AF65-F5344CB8AC3E}">
        <p14:creationId xmlns:p14="http://schemas.microsoft.com/office/powerpoint/2010/main" val="847330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6D38330-48ED-1FB2-6256-12FC3133E92A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78A85-4249-0EF3-A84E-7932E9282169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Типичные ошибки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0EAF6-98F3-36F3-5ABD-D32E0DD9FB25}"/>
              </a:ext>
            </a:extLst>
          </p:cNvPr>
          <p:cNvSpPr txBox="1"/>
          <p:nvPr/>
        </p:nvSpPr>
        <p:spPr>
          <a:xfrm>
            <a:off x="853440" y="1371600"/>
            <a:ext cx="10485120" cy="27238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1) Размытые формулировки
(без измеримых признаков).
2) Несогласованность
с описанием и чертежами.
3) Подмена признаков целью.
4) Смешение разных вариантов
в одном пункте без логики.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739B89B-6565-0CA9-6AAC-E37E5D42121D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549EBD-244C-776A-5CE2-E5860EF175C6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7</a:t>
            </a:r>
          </a:p>
        </p:txBody>
      </p:sp>
    </p:spTree>
    <p:extLst>
      <p:ext uri="{BB962C8B-B14F-4D97-AF65-F5344CB8AC3E}">
        <p14:creationId xmlns:p14="http://schemas.microsoft.com/office/powerpoint/2010/main" val="161172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1588F2-457B-7996-EFD6-FA3135193237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884A6-0871-CA87-C807-82E158D0B9FD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36. Служебное изобретение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7EBB08-C0C0-A1C0-8E52-738646DAB15A}"/>
              </a:ext>
            </a:extLst>
          </p:cNvPr>
          <p:cNvSpPr txBox="1"/>
          <p:nvPr/>
        </p:nvSpPr>
        <p:spPr>
          <a:xfrm>
            <a:off x="853440" y="1371600"/>
            <a:ext cx="1048512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Служебным изобретением признают результат,
созданный работником:
- в связи с выполнением трудовых обязанностей
или
- по конкретному заданию работодателя.
Авторство у работника, исключительное право
и право на патент - у работодателя (если договором не установлено иное).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02A9A4-5FBA-3928-62FD-A1D8B62F5F01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AF836-61C0-CF7E-25F2-A2CBA1631719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8</a:t>
            </a:r>
          </a:p>
        </p:txBody>
      </p:sp>
    </p:spTree>
    <p:extLst>
      <p:ext uri="{BB962C8B-B14F-4D97-AF65-F5344CB8AC3E}">
        <p14:creationId xmlns:p14="http://schemas.microsoft.com/office/powerpoint/2010/main" val="223716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CE029E7-EA7D-7FB7-F4C3-E3469F0990B0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C645D-9BCA-1849-9BFF-737EE5B83AA0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Порядок и последствия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9F8BF-5776-BFE3-DD7E-2AFFEAAF1851}"/>
              </a:ext>
            </a:extLst>
          </p:cNvPr>
          <p:cNvSpPr txBox="1"/>
          <p:nvPr/>
        </p:nvSpPr>
        <p:spPr>
          <a:xfrm>
            <a:off x="853440" y="1371600"/>
            <a:ext cx="1048512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Работник уведомляет работодателя
о создании результата.
Работодатель в установленный срок
решает вопрос о патентовании/тайне.
Если работодатель не предпринимает действий,
право на получение патента может перейти работнику.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D56A7A-ABD5-5BA5-F2A5-C63447FC67BD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1473A-95FC-21AF-7B1B-6460C1413AAE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9</a:t>
            </a:r>
          </a:p>
        </p:txBody>
      </p:sp>
    </p:spTree>
    <p:extLst>
      <p:ext uri="{BB962C8B-B14F-4D97-AF65-F5344CB8AC3E}">
        <p14:creationId xmlns:p14="http://schemas.microsoft.com/office/powerpoint/2010/main" val="210816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07E4D3-0AD1-79B7-7E26-F2275F66F150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C179A-C78D-566D-F48F-943C451A790E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Служебное изобретение по договору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BBA234-EE7F-C671-9ED7-508E97DD8B27}"/>
              </a:ext>
            </a:extLst>
          </p:cNvPr>
          <p:cNvSpPr txBox="1"/>
          <p:nvPr/>
        </p:nvSpPr>
        <p:spPr>
          <a:xfrm>
            <a:off x="853440" y="1371600"/>
            <a:ext cx="10485120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Если результат создан при выполнении
работ по договору подряда или НИОКР,
право на патент обычно принадлежит подрядчику (исполнителю).
Заказчик получает право использовать результат
для целей договора на условиях простой лицензии.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D8A6423-FC65-CCD9-89DC-A287FA7AD32B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AD864B-B62A-0707-A66F-9AAC7EB48941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10</a:t>
            </a:r>
          </a:p>
        </p:txBody>
      </p:sp>
    </p:spTree>
    <p:extLst>
      <p:ext uri="{BB962C8B-B14F-4D97-AF65-F5344CB8AC3E}">
        <p14:creationId xmlns:p14="http://schemas.microsoft.com/office/powerpoint/2010/main" val="28608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C92474-19B6-A26E-4485-5AA13426C407}"/>
              </a:ext>
            </a:extLst>
          </p:cNvPr>
          <p:cNvSpPr/>
          <p:nvPr/>
        </p:nvSpPr>
        <p:spPr>
          <a:xfrm>
            <a:off x="853440" y="205740"/>
            <a:ext cx="10485120" cy="960120"/>
          </a:xfrm>
          <a:prstGeom prst="rect">
            <a:avLst/>
          </a:prstGeom>
          <a:solidFill>
            <a:srgbClr val="0B2D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99B42-810D-D2FF-0C6D-E0F954B45D19}"/>
              </a:ext>
            </a:extLst>
          </p:cNvPr>
          <p:cNvSpPr txBox="1"/>
          <p:nvPr/>
        </p:nvSpPr>
        <p:spPr>
          <a:xfrm>
            <a:off x="1063142" y="378562"/>
            <a:ext cx="10065715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ru-RU" sz="3000" b="1">
                <a:solidFill>
                  <a:srgbClr val="FFFFFF"/>
                </a:solidFill>
                <a:latin typeface="Calibri" panose="020F0502020204030204" pitchFamily="34" charset="0"/>
              </a:rPr>
              <a:t>Выводы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D5CA9-A09C-2CE8-AAD6-5C6F211F5954}"/>
              </a:ext>
            </a:extLst>
          </p:cNvPr>
          <p:cNvSpPr txBox="1"/>
          <p:nvPr/>
        </p:nvSpPr>
        <p:spPr>
          <a:xfrm>
            <a:off x="853440" y="1371600"/>
            <a:ext cx="10485120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1A1A1A"/>
                </a:solidFill>
                <a:latin typeface="Calibri" panose="020F0502020204030204" pitchFamily="34" charset="0"/>
              </a:rPr>
              <a:t>Формула изобретения - это границы охраны
по ст. 1354 ГК РФ.
Служебное изобретение - распределение прав
между работником и работодателем
(ст. 1370-1371 ГК РФ).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6C9FA79-F5FC-C636-3131-9F4CE6520B86}"/>
              </a:ext>
            </a:extLst>
          </p:cNvPr>
          <p:cNvSpPr/>
          <p:nvPr/>
        </p:nvSpPr>
        <p:spPr>
          <a:xfrm>
            <a:off x="853440" y="6549390"/>
            <a:ext cx="10485120" cy="20574"/>
          </a:xfrm>
          <a:prstGeom prst="rect">
            <a:avLst/>
          </a:prstGeom>
          <a:solidFill>
            <a:srgbClr val="1F6F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84FA08-556C-848E-F059-53862B3D3F99}"/>
              </a:ext>
            </a:extLst>
          </p:cNvPr>
          <p:cNvSpPr txBox="1"/>
          <p:nvPr/>
        </p:nvSpPr>
        <p:spPr>
          <a:xfrm>
            <a:off x="8717280" y="6412230"/>
            <a:ext cx="262128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ru-RU" sz="1200">
                <a:solidFill>
                  <a:srgbClr val="1A1A1A"/>
                </a:solidFill>
                <a:latin typeface="Calibri" panose="020F0502020204030204" pitchFamily="34" charset="0"/>
              </a:rPr>
              <a:t>Слайд 11</a:t>
            </a:r>
          </a:p>
        </p:txBody>
      </p:sp>
    </p:spTree>
    <p:extLst>
      <p:ext uri="{BB962C8B-B14F-4D97-AF65-F5344CB8AC3E}">
        <p14:creationId xmlns:p14="http://schemas.microsoft.com/office/powerpoint/2010/main" val="41407185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Широкоэкранный</PresentationFormat>
  <Paragraphs>33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Nano</dc:creator>
  <cp:lastModifiedBy>Nano</cp:lastModifiedBy>
  <cp:revision>2</cp:revision>
  <dcterms:created xsi:type="dcterms:W3CDTF">2026-03-20T08:08:57Z</dcterms:created>
  <dcterms:modified xsi:type="dcterms:W3CDTF">2026-03-20T08:16:47Z</dcterms:modified>
</cp:coreProperties>
</file>