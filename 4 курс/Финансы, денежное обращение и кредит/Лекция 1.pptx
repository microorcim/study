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72" r:id="rId5"/>
    <p:sldId id="273" r:id="rId6"/>
    <p:sldId id="274" r:id="rId7"/>
    <p:sldId id="275" r:id="rId8"/>
    <p:sldId id="268" r:id="rId9"/>
    <p:sldId id="259" r:id="rId10"/>
    <p:sldId id="260" r:id="rId11"/>
    <p:sldId id="269" r:id="rId12"/>
    <p:sldId id="261" r:id="rId13"/>
    <p:sldId id="270" r:id="rId14"/>
    <p:sldId id="262" r:id="rId15"/>
    <p:sldId id="271" r:id="rId16"/>
    <p:sldId id="263" r:id="rId17"/>
    <p:sldId id="264" r:id="rId18"/>
    <p:sldId id="265" r:id="rId19"/>
    <p:sldId id="266" r:id="rId20"/>
    <p:sldId id="26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510" y="7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068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5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49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40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01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58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972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747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5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9382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071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5282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344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463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68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0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book.ru/book/920693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Страхование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400" b="1" dirty="0"/>
              <a:t>Экономическая сущность страхования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600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918" y="222274"/>
            <a:ext cx="6347714" cy="659160"/>
          </a:xfrm>
        </p:spPr>
        <p:txBody>
          <a:bodyPr/>
          <a:lstStyle/>
          <a:p>
            <a:pPr algn="ctr"/>
            <a:r>
              <a:rPr lang="ru-RU" dirty="0"/>
              <a:t>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881434"/>
            <a:ext cx="6129728" cy="575429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1.	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Александрова Н.В. Страхование [Электронный ресурс]: учебное пособие / Н.В. Александрова. — М.: </a:t>
            </a:r>
            <a:r>
              <a:rPr lang="ru-R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Русайнс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2017. — Режим доступа: http://book.ru/book/929762</a:t>
            </a:r>
          </a:p>
          <a:p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	Архипов А.П. Страхование [Электронный ресурс]: учебное пособие / А.П. Архипов. — М.: </a:t>
            </a:r>
            <a:r>
              <a:rPr lang="ru-R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КноРус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2019. — Режим доступа: http://book.ru/book/930486</a:t>
            </a:r>
          </a:p>
          <a:p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	Ивасенко А.Г. Страхование [Электронный ресурс]: учебное пособие / А.Г. Ивасенко, Я.И. Никонова. — М.: </a:t>
            </a:r>
            <a:r>
              <a:rPr lang="ru-R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КноРус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2018. —  Режим доступа: http://book.ru/book/926800</a:t>
            </a:r>
          </a:p>
          <a:p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	Щербаков В.А. Страхование [Электронный ресурс]: учебное пособие / В.А. Щербаков, Е.В. </a:t>
            </a:r>
            <a:r>
              <a:rPr lang="ru-R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Костяева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— М.: </a:t>
            </a:r>
            <a:r>
              <a:rPr lang="ru-RU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КноРус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2016. —  Режим доступа: </a:t>
            </a:r>
            <a:r>
              <a:rPr lang="ru-RU" dirty="0">
                <a:solidFill>
                  <a:srgbClr val="99CA3C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http://book.ru/book/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920693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Никулина, Н.Н. Страхование. Теория и практика : учеб. пособие / С.В. Березина; Н.Н. Никулина .— 2-е изд.,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перераб</a:t>
            </a: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и доп. — Москва : ЮНИТИ-ДАНА, 2015 .— 512 с. — ISBN 978-5-238-01125-7 .— URL: https://rucont.ru/efd/352618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86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Вопросы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</a:t>
            </a:r>
            <a:r>
              <a:rPr lang="ru-RU" sz="2000" dirty="0"/>
              <a:t>. Понятия и термины в страховании</a:t>
            </a:r>
          </a:p>
          <a:p>
            <a:r>
              <a:rPr lang="ru-RU" sz="2000" dirty="0"/>
              <a:t>2. Страхование как экономическая категория</a:t>
            </a:r>
          </a:p>
          <a:p>
            <a:r>
              <a:rPr lang="ru-RU" sz="2000" dirty="0"/>
              <a:t>3. Функции в страховании</a:t>
            </a:r>
          </a:p>
          <a:p>
            <a:r>
              <a:rPr lang="ru-RU" sz="2000" dirty="0"/>
              <a:t>4. Страховой фонд.</a:t>
            </a:r>
          </a:p>
        </p:txBody>
      </p:sp>
    </p:spTree>
    <p:extLst>
      <p:ext uri="{BB962C8B-B14F-4D97-AF65-F5344CB8AC3E}">
        <p14:creationId xmlns:p14="http://schemas.microsoft.com/office/powerpoint/2010/main" val="191239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6489768" cy="299120"/>
          </a:xfrm>
        </p:spPr>
        <p:txBody>
          <a:bodyPr>
            <a:noAutofit/>
          </a:bodyPr>
          <a:lstStyle/>
          <a:p>
            <a:r>
              <a:rPr lang="ru-RU" sz="1800" dirty="0" smtClean="0"/>
              <a:t>Страховой рынок: понятие и структура</a:t>
            </a:r>
            <a:endParaRPr lang="ru-RU" sz="1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980728"/>
            <a:ext cx="7416824" cy="5060635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Страховой рынок </a:t>
            </a:r>
            <a:r>
              <a:rPr lang="ru-RU" dirty="0" smtClean="0"/>
              <a:t>- это </a:t>
            </a:r>
            <a:r>
              <a:rPr lang="ru-RU" dirty="0"/>
              <a:t>особая социально-экономическая среда, где объектом купли-продажи выступает страховая защита, формируется спрос и предложение на </a:t>
            </a:r>
            <a:r>
              <a:rPr lang="ru-RU" dirty="0" smtClean="0"/>
              <a:t>нее.</a:t>
            </a:r>
            <a:endParaRPr lang="ru-RU" dirty="0"/>
          </a:p>
          <a:p>
            <a:r>
              <a:rPr lang="ru-RU" dirty="0"/>
              <a:t>Обязательным условием существования страхового рынка является наличие потребностей (спроса) на страховые услуги и страховщиков, способных удовлетворить эти потребности. </a:t>
            </a:r>
            <a:endParaRPr lang="ru-RU" dirty="0" smtClean="0"/>
          </a:p>
          <a:p>
            <a:r>
              <a:rPr lang="ru-RU" dirty="0"/>
              <a:t>Страховой рынок предполагает: </a:t>
            </a:r>
            <a:br>
              <a:rPr lang="ru-RU" dirty="0"/>
            </a:br>
            <a:r>
              <a:rPr lang="ru-RU" dirty="0"/>
              <a:t>- самостоятельность субъектов рыночных отношений; </a:t>
            </a:r>
            <a:br>
              <a:rPr lang="ru-RU" dirty="0"/>
            </a:br>
            <a:r>
              <a:rPr lang="ru-RU" dirty="0"/>
              <a:t>- равноправное партнерство по поводу купли-продажи страховой услуги; </a:t>
            </a:r>
            <a:br>
              <a:rPr lang="ru-RU" dirty="0"/>
            </a:br>
            <a:r>
              <a:rPr lang="ru-RU" dirty="0"/>
              <a:t>- развитую систему горизонтальных и вертикальных связей. </a:t>
            </a:r>
            <a:br>
              <a:rPr lang="ru-RU" dirty="0"/>
            </a:b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структурном плане страховой рынок может рассматриваться в двух аспектах: </a:t>
            </a:r>
            <a:br>
              <a:rPr lang="ru-RU" dirty="0"/>
            </a:br>
            <a:r>
              <a:rPr lang="ru-RU" dirty="0">
                <a:solidFill>
                  <a:srgbClr val="00B050"/>
                </a:solidFill>
              </a:rPr>
              <a:t>Организационно-правовой аспект. </a:t>
            </a:r>
            <a:r>
              <a:rPr lang="ru-RU" dirty="0"/>
              <a:t>Страховой рынок представлен акционерными, взаимными, частными и государственными страховыми </a:t>
            </a:r>
            <a:r>
              <a:rPr lang="ru-RU" dirty="0" smtClean="0"/>
              <a:t>организациями.</a:t>
            </a:r>
          </a:p>
          <a:p>
            <a:r>
              <a:rPr lang="ru-RU" dirty="0">
                <a:solidFill>
                  <a:srgbClr val="00B050"/>
                </a:solidFill>
              </a:rPr>
              <a:t>Территориальный аспект. </a:t>
            </a:r>
            <a:r>
              <a:rPr lang="ru-RU" dirty="0"/>
              <a:t>Страховой рынок представлен местным (внутренним), национальным (внешним) и мировым (глобальным); </a:t>
            </a:r>
          </a:p>
        </p:txBody>
      </p:sp>
    </p:spTree>
    <p:extLst>
      <p:ext uri="{BB962C8B-B14F-4D97-AF65-F5344CB8AC3E}">
        <p14:creationId xmlns:p14="http://schemas.microsoft.com/office/powerpoint/2010/main" val="122837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6419721" cy="504056"/>
          </a:xfrm>
        </p:spPr>
        <p:txBody>
          <a:bodyPr>
            <a:normAutofit/>
          </a:bodyPr>
          <a:lstStyle/>
          <a:p>
            <a:r>
              <a:rPr lang="ru-RU" sz="2000" dirty="0" smtClean="0"/>
              <a:t>Страхование в дореволюционной России</a:t>
            </a:r>
            <a:endParaRPr lang="ru-RU" sz="20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548680"/>
            <a:ext cx="8136904" cy="5904656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</a:pPr>
            <a:r>
              <a:rPr lang="ru-RU" altLang="ru-RU" dirty="0"/>
              <a:t>В 1864 г. было утверждено Положение о земском страховании. </a:t>
            </a:r>
          </a:p>
          <a:p>
            <a:pPr algn="just">
              <a:lnSpc>
                <a:spcPct val="80000"/>
              </a:lnSpc>
            </a:pPr>
            <a:r>
              <a:rPr lang="ru-RU" altLang="ru-RU" dirty="0"/>
              <a:t>Личное страхование появляется в России в середине 30-х годов 19в. В 1835 году было организованно первое акционерное общество по страхованию жизни, которое получило название “Российское общество застрахования капиталов и доходов.” Разновидность личного страхования – страхование от несчастных случаев.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altLang="ru-RU" dirty="0" smtClean="0"/>
              <a:t>Ведущую роль играли предприятия коммерческого типа - акционерные общества. В 1913 году во всех страховых учреждениях и обществах России было застраховано имущества на сумму 21 миллиард рублей.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altLang="ru-RU" dirty="0" smtClean="0"/>
              <a:t> Наибольшее распространение в дореволюционной России имело страхование от огня.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altLang="ru-RU" dirty="0" smtClean="0"/>
              <a:t>Второе место в имущественном страховании по сбору платежей занимало транспортное страхование судов и грузов. В 1913 г. его проводили 10 акционерных обществ.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altLang="ru-RU" dirty="0" smtClean="0"/>
              <a:t>Пять обществ осуществляли в 1913г. операции по страхованию стекол от разбития, впервые введенному в 1894 г. страховым обществом “Помощь”.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altLang="ru-RU" dirty="0" smtClean="0"/>
              <a:t>С 1900 г. общество “Помощь” начинает проводить страхование от краж со взломом, потом этот вид страхования был включен в сферу деятельности общества “Россия”. Однако популярностью такое страхование не пользовалось. </a:t>
            </a:r>
          </a:p>
        </p:txBody>
      </p:sp>
    </p:spTree>
    <p:extLst>
      <p:ext uri="{BB962C8B-B14F-4D97-AF65-F5344CB8AC3E}">
        <p14:creationId xmlns:p14="http://schemas.microsoft.com/office/powerpoint/2010/main" val="208018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600" y="260648"/>
            <a:ext cx="6129728" cy="371128"/>
          </a:xfrm>
        </p:spPr>
        <p:txBody>
          <a:bodyPr>
            <a:normAutofit fontScale="90000"/>
          </a:bodyPr>
          <a:lstStyle/>
          <a:p>
            <a:pPr algn="ctr"/>
            <a:r>
              <a:rPr lang="ru-RU" altLang="ru-RU" sz="2000" dirty="0"/>
              <a:t>Страховое дело в Советской </a:t>
            </a:r>
            <a:r>
              <a:rPr lang="ru-RU" altLang="ru-RU" sz="2000" dirty="0" smtClean="0"/>
              <a:t>России</a:t>
            </a:r>
            <a:endParaRPr lang="ru-RU" sz="2000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836712"/>
            <a:ext cx="8280920" cy="5688632"/>
          </a:xfrm>
        </p:spPr>
        <p:txBody>
          <a:bodyPr>
            <a:normAutofit fontScale="25000" lnSpcReduction="20000"/>
          </a:bodyPr>
          <a:lstStyle/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Первым законодательным актом о страховании был декрет Совета народных Комиссаров (СНК) РСФСР от 23 марта 1918 года "Об учреждении государственного контроля над всеми видами страхования, кроме социального". 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28 ноября 1918 года декретом СНК "Об организации страхового дела в Российской республике, страхование во всех его видах и формах было объявлено государственной монополией.    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 В 1919 году было упразднено страхование жизни, а в 1920 году - государственное имущественное страхование. Им на смену пришла организованная государственная помощь пострадавшим от стихийных бедствий. 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 6 октября 1921 года был принят декрет СНК "О государственном имущественном страховании", которым предусматривалось "организовать во всех местностях РСФСР... государственное имущественное страхование частных хозяйств от... пожаров, падежа скота, градобития растительных культур, а также аварий на путях водного и сухопутного транспорта". 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 В 1921 году были созданы Главное управление государственного страхования в составе </a:t>
            </a:r>
            <a:r>
              <a:rPr lang="ru-RU" altLang="ru-RU" sz="5600" dirty="0" err="1" smtClean="0"/>
              <a:t>Наркомфина</a:t>
            </a:r>
            <a:r>
              <a:rPr lang="ru-RU" altLang="ru-RU" sz="5600" dirty="0" smtClean="0"/>
              <a:t> и страховые органы на местах. 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 С 1929 года по 1931 год проводилось обязательное страхование в государственной промышленности. 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 В период Великой Отечественной войны средства государственного страхования использовались на военные нужды. 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 С 1947 года из состава Госстраха СССР выделилось Управление иностранного страхования СССР (Ингосстрах СССР), как самостоятельная хозрасчетная организация.    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 С 1968 года введена безналичная форма уплаты страховых взносов через бухгалтерии предприятий и организаций, что содействовало бурному развитию операций по личному страхованию граждан. 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 В 60-70-е годы были введены: страхование детей, страхование к бракосочетанию, новые правила страхования домашнего имущества и транспортных средств. 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 В 1973 году повышено страховое обеспечение по страхованию строений. 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 В 1986-87 годах появились новые виды страхования для населения и предприятий: комбинированное страхование автотранспорта, багажа и пассажиров (</a:t>
            </a:r>
            <a:r>
              <a:rPr lang="ru-RU" altLang="ru-RU" sz="5600" dirty="0" err="1" smtClean="0"/>
              <a:t>автокомби</a:t>
            </a:r>
            <a:r>
              <a:rPr lang="ru-RU" altLang="ru-RU" sz="5600" dirty="0" smtClean="0"/>
              <a:t>), страхование школьников и детей от несчастных случаев, страхование по одному договору строений и домашнего имущества, страхование изделий из драгоценных металлов и камней, коллекций, уникальных и антикварных изделий, страхование имущества арендных и фермерских хозяйств, страхование имущества лиц, занимающихся индивидуальной трудовой деятельностью. </a:t>
            </a:r>
          </a:p>
          <a:p>
            <a:pPr marL="0" indent="352425" eaLnBrk="1" hangingPunct="1">
              <a:lnSpc>
                <a:spcPct val="80000"/>
              </a:lnSpc>
            </a:pPr>
            <a:r>
              <a:rPr lang="ru-RU" altLang="ru-RU" sz="5600" dirty="0" smtClean="0"/>
              <a:t> В 1989 году введено добровольное страхование имущества государственных предприятий и организаций, работающих в условиях хозрасчета. </a:t>
            </a:r>
          </a:p>
          <a:p>
            <a:pPr marL="0" indent="352425" eaLnBrk="1" hangingPunct="1">
              <a:lnSpc>
                <a:spcPct val="80000"/>
              </a:lnSpc>
              <a:buFont typeface="Wingdings" pitchFamily="2" charset="2"/>
              <a:buNone/>
            </a:pPr>
            <a:endParaRPr lang="ru-RU" altLang="ru-RU" sz="1300" dirty="0" smtClean="0"/>
          </a:p>
        </p:txBody>
      </p:sp>
    </p:spTree>
    <p:extLst>
      <p:ext uri="{BB962C8B-B14F-4D97-AF65-F5344CB8AC3E}">
        <p14:creationId xmlns:p14="http://schemas.microsoft.com/office/powerpoint/2010/main" val="130681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611559" y="0"/>
            <a:ext cx="7704857" cy="60413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ru-RU" altLang="ru-RU" sz="2100" dirty="0" smtClean="0"/>
              <a:t>Переход страны к </a:t>
            </a:r>
            <a:r>
              <a:rPr lang="ru-RU" altLang="ru-RU" sz="2100" b="1" dirty="0" smtClean="0"/>
              <a:t>рыночной экономике</a:t>
            </a:r>
            <a:r>
              <a:rPr lang="ru-RU" altLang="ru-RU" sz="2100" dirty="0" smtClean="0"/>
              <a:t> стал сильнейшим импульсом для развития страхового дела.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100" dirty="0" smtClean="0"/>
              <a:t>До начала 1990-х гг. в нашей стране существовала государственная монополия в области страхования. Все страховые операции внутри страны проводил Госстрах СССР, а вне ее пределов — Ингосстрах СССР. Практика показала, что монополия в страховом деле, как и всякая монополия, порождает ведомственные интересы, бюрократизацию аппарата, лишает работу гибкости, маневренности.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100" dirty="0" smtClean="0"/>
              <a:t>Естественно, что всеобщее разгосударствление собственности в стране не могло не затронуть и такой действенный экономический инструмент, как страхование. Успешно действовали акционерные страховые компании, земские страховые учреждения и общества взаимного страхования.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100" dirty="0" smtClean="0"/>
              <a:t>Через систему перестрахования страховой рынок России был интегрирован в мировую страховую систему. </a:t>
            </a:r>
          </a:p>
          <a:p>
            <a:pPr eaLnBrk="1" hangingPunct="1">
              <a:lnSpc>
                <a:spcPct val="90000"/>
              </a:lnSpc>
            </a:pPr>
            <a:endParaRPr lang="ru-RU" altLang="ru-RU" sz="2100" dirty="0" smtClean="0"/>
          </a:p>
        </p:txBody>
      </p:sp>
    </p:spTree>
    <p:extLst>
      <p:ext uri="{BB962C8B-B14F-4D97-AF65-F5344CB8AC3E}">
        <p14:creationId xmlns:p14="http://schemas.microsoft.com/office/powerpoint/2010/main" val="125171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D7A2C9D-F14F-4055-99D5-692FAC83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60648"/>
            <a:ext cx="6347714" cy="720080"/>
          </a:xfrm>
        </p:spPr>
        <p:txBody>
          <a:bodyPr>
            <a:normAutofit fontScale="90000"/>
          </a:bodyPr>
          <a:lstStyle/>
          <a:p>
            <a:pPr marL="342900" marR="0" lvl="0" indent="-342900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1 группа терминов: Страховые отношения, связанные с общими  условиями страхования</a:t>
            </a:r>
            <a:b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/>
            </a:r>
            <a:b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CFEBBD4-2650-4132-A06F-EF665694D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980728"/>
            <a:ext cx="6347714" cy="5060635"/>
          </a:xfrm>
        </p:spPr>
        <p:txBody>
          <a:bodyPr/>
          <a:lstStyle/>
          <a:p>
            <a:r>
              <a:rPr lang="ru-RU" sz="2400" b="1" dirty="0"/>
              <a:t>Страховщик</a:t>
            </a:r>
          </a:p>
          <a:p>
            <a:r>
              <a:rPr lang="ru-RU" sz="2400" b="1" dirty="0"/>
              <a:t>Страхователь</a:t>
            </a:r>
          </a:p>
          <a:p>
            <a:r>
              <a:rPr lang="ru-RU" sz="2400" b="1" dirty="0"/>
              <a:t>Застрахованный</a:t>
            </a:r>
          </a:p>
          <a:p>
            <a:r>
              <a:rPr lang="ru-RU" sz="2400" b="1" dirty="0"/>
              <a:t>Объект страхования</a:t>
            </a:r>
          </a:p>
          <a:p>
            <a:r>
              <a:rPr lang="ru-RU" sz="2400" b="1" dirty="0"/>
              <a:t>Предмет страхования</a:t>
            </a:r>
          </a:p>
          <a:p>
            <a:r>
              <a:rPr lang="ru-RU" sz="2400" b="1" dirty="0"/>
              <a:t>Страховая ответственность</a:t>
            </a:r>
          </a:p>
          <a:p>
            <a:r>
              <a:rPr lang="ru-RU" sz="2400" b="1" dirty="0"/>
              <a:t>Выгодоприобретатель</a:t>
            </a:r>
          </a:p>
          <a:p>
            <a:r>
              <a:rPr lang="ru-RU" sz="2400" b="1" dirty="0"/>
              <a:t>Страховой полис</a:t>
            </a:r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558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400" dirty="0"/>
              <a:t>1. Понятия и термины в страховании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24744"/>
            <a:ext cx="6912768" cy="4916619"/>
          </a:xfrm>
        </p:spPr>
        <p:txBody>
          <a:bodyPr>
            <a:normAutofit lnSpcReduction="10000"/>
          </a:bodyPr>
          <a:lstStyle/>
          <a:p>
            <a:r>
              <a:rPr lang="ru-RU" sz="2000" b="1" dirty="0">
                <a:solidFill>
                  <a:srgbClr val="92D050"/>
                </a:solidFill>
              </a:rPr>
              <a:t>1 группа терминов: Страховые отношения, связанные с общими  условиями страхования</a:t>
            </a:r>
          </a:p>
          <a:p>
            <a:pPr algn="just"/>
            <a:r>
              <a:rPr lang="ru-RU" sz="2000" b="1" dirty="0"/>
              <a:t>Страховщик</a:t>
            </a:r>
            <a:r>
              <a:rPr lang="ru-RU" sz="2000" dirty="0"/>
              <a:t> – это (всегда страховая компания) юридическое лицо, которое в соответствии с предлагаемым или заключённым договором страхования принимает на себя обязательства возместить ущерб понесённый страхователем при наступлении предусмотренного договором страхового случая за определённое вознаграждение</a:t>
            </a:r>
          </a:p>
          <a:p>
            <a:pPr algn="just"/>
            <a:endParaRPr lang="ru-RU" sz="1800" dirty="0"/>
          </a:p>
          <a:p>
            <a:pPr algn="just"/>
            <a:r>
              <a:rPr lang="ru-RU" sz="2000" b="1" dirty="0"/>
              <a:t>Страхователь</a:t>
            </a:r>
            <a:r>
              <a:rPr lang="ru-RU" sz="2000" dirty="0"/>
              <a:t> – это физическое или юридическое лицо, имеющее интерес в объекте страхования, вступающее со страховщиком в договор, с целью обеспечения своего интереса и оплачивающее страховщику вознаграждение за принятие им на себя риска.</a:t>
            </a:r>
          </a:p>
          <a:p>
            <a:endParaRPr lang="ru-RU" sz="1800" dirty="0"/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52843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332656"/>
            <a:ext cx="8445624" cy="6408712"/>
          </a:xfrm>
        </p:spPr>
        <p:txBody>
          <a:bodyPr>
            <a:noAutofit/>
          </a:bodyPr>
          <a:lstStyle/>
          <a:p>
            <a:pPr algn="just"/>
            <a:r>
              <a:rPr lang="ru-RU" sz="2000" b="1" dirty="0"/>
              <a:t>Застрахованный </a:t>
            </a:r>
            <a:r>
              <a:rPr lang="ru-RU" sz="2000" dirty="0"/>
              <a:t>– это физическое лицо жизнь, здоровье, трудоспособность, которого является объектом защиты по личному страхованию, может быть одновременно и страхователем, если выплачивает страховые взносы по условиям страхования</a:t>
            </a:r>
          </a:p>
          <a:p>
            <a:pPr algn="just"/>
            <a:r>
              <a:rPr lang="ru-RU" sz="2000" b="1" dirty="0"/>
              <a:t>Объект страхования</a:t>
            </a:r>
            <a:r>
              <a:rPr lang="ru-RU" sz="2000" dirty="0"/>
              <a:t> – это подлежащее страхованию материальные ценности, жизнь, здоровье, ответственность.</a:t>
            </a:r>
          </a:p>
          <a:p>
            <a:pPr algn="just"/>
            <a:r>
              <a:rPr lang="ru-RU" sz="2000" b="1" dirty="0"/>
              <a:t>Предмет страхования</a:t>
            </a:r>
            <a:r>
              <a:rPr lang="ru-RU" sz="2000" dirty="0"/>
              <a:t> – это конкретный объект страхования</a:t>
            </a:r>
          </a:p>
          <a:p>
            <a:pPr algn="just"/>
            <a:r>
              <a:rPr lang="ru-RU" sz="2000" b="1" dirty="0"/>
              <a:t>Страховая ответственность</a:t>
            </a:r>
            <a:r>
              <a:rPr lang="ru-RU" sz="2000" dirty="0"/>
              <a:t> – это совокупность прав и обязанностей страховщика по защите интересов страхователя, предусмотренных конкретным договором</a:t>
            </a:r>
          </a:p>
          <a:p>
            <a:pPr algn="just"/>
            <a:r>
              <a:rPr lang="ru-RU" sz="2000" b="1" dirty="0"/>
              <a:t>Выгодоприобретатель </a:t>
            </a:r>
            <a:r>
              <a:rPr lang="ru-RU" sz="2000" dirty="0"/>
              <a:t>– это физическое или юридическое лицо, которому по условиям страхования предоставляется право на получение соответствующих денежных средств</a:t>
            </a:r>
          </a:p>
          <a:p>
            <a:pPr algn="just"/>
            <a:r>
              <a:rPr lang="ru-RU" sz="2000" b="1" dirty="0"/>
              <a:t>Страховой полис</a:t>
            </a:r>
            <a:r>
              <a:rPr lang="ru-RU" sz="2000" dirty="0"/>
              <a:t> – это документ, выдаваемый страховщиком и подтверждающий договор страхования, он содержит условия заключённого договора</a:t>
            </a:r>
          </a:p>
        </p:txBody>
      </p:sp>
    </p:spTree>
    <p:extLst>
      <p:ext uri="{BB962C8B-B14F-4D97-AF65-F5344CB8AC3E}">
        <p14:creationId xmlns:p14="http://schemas.microsoft.com/office/powerpoint/2010/main" val="386309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1381892-E914-440C-9A5A-F350EE9B8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4664"/>
            <a:ext cx="8136905" cy="975752"/>
          </a:xfrm>
        </p:spPr>
        <p:txBody>
          <a:bodyPr>
            <a:noAutofit/>
          </a:bodyPr>
          <a:lstStyle/>
          <a:p>
            <a:pPr marL="0" indent="0"/>
            <a:r>
              <a:rPr lang="ru-RU" sz="2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группа терминов, связанных с образованием страхового фонда:</a:t>
            </a:r>
            <a:br>
              <a:rPr lang="ru-RU" sz="2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943F832F-4BF0-4CB8-A7C6-6BECF976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3" y="1340768"/>
            <a:ext cx="6417760" cy="4700595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Страховая оценка</a:t>
            </a:r>
            <a:r>
              <a:rPr lang="ru-RU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Страховое обеспечение</a:t>
            </a:r>
            <a:endParaRPr lang="ru-RU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Страховая сумма</a:t>
            </a:r>
            <a:r>
              <a:rPr lang="ru-RU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Страховой тариф</a:t>
            </a:r>
            <a:r>
              <a:rPr lang="ru-RU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Страховая премия</a:t>
            </a:r>
            <a:r>
              <a:rPr lang="ru-RU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Срок страхования</a:t>
            </a:r>
            <a:r>
              <a:rPr lang="ru-RU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Страховой портфель </a:t>
            </a:r>
            <a:r>
              <a:rPr lang="ru-RU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Страховой возраст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8542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404664"/>
            <a:ext cx="8219256" cy="576785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8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группа терминов, связанных с образованием страхового фонда:</a:t>
            </a:r>
          </a:p>
          <a:p>
            <a:endParaRPr lang="ru-RU" sz="6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7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Страховая оценка</a:t>
            </a:r>
            <a:r>
              <a:rPr lang="ru-RU" sz="7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– это определённая стоимость объекта страхования для цели заключения договора </a:t>
            </a:r>
            <a:r>
              <a:rPr lang="ru-RU" sz="7200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страхования</a:t>
            </a:r>
            <a:r>
              <a:rPr lang="en-US" sz="7200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lang="ru-RU" sz="7200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(сюрвейер)</a:t>
            </a:r>
            <a:endParaRPr lang="ru-RU" sz="72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7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Страховое обеспечение</a:t>
            </a:r>
            <a:r>
              <a:rPr lang="ru-RU" sz="7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– это уровень страховой оценки по отношению к имуществу, принятому к страхованию </a:t>
            </a:r>
          </a:p>
          <a:p>
            <a:pPr algn="just">
              <a:spcAft>
                <a:spcPts val="0"/>
              </a:spcAft>
            </a:pPr>
            <a:r>
              <a:rPr lang="ru-RU" sz="7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Страховая сумма</a:t>
            </a:r>
            <a:r>
              <a:rPr lang="ru-RU" sz="7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– это сумма денежных средств, на которую фактически застраховано имущество, здоровье, жизнь.</a:t>
            </a:r>
          </a:p>
          <a:p>
            <a:pPr algn="just">
              <a:spcAft>
                <a:spcPts val="0"/>
              </a:spcAft>
            </a:pPr>
            <a:r>
              <a:rPr lang="ru-RU" sz="7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Страховой тариф</a:t>
            </a:r>
            <a:r>
              <a:rPr lang="ru-RU" sz="7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– это выраженная в рублях плата с единицы страховой суммы или процентная ставка от совокупной страховой суммы, служащая для формирования страхового фонда.</a:t>
            </a:r>
          </a:p>
          <a:p>
            <a:pPr algn="just">
              <a:spcAft>
                <a:spcPts val="0"/>
              </a:spcAft>
            </a:pPr>
            <a:r>
              <a:rPr lang="ru-RU" sz="7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Страховая премия</a:t>
            </a:r>
            <a:r>
              <a:rPr lang="ru-RU" sz="7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– это сумма страхового взноса, уплачиваемая страхователем страховщику за принятие им обязательств по причинённому ущербу, который может быть нанесён страхователю.</a:t>
            </a:r>
          </a:p>
          <a:p>
            <a:pPr algn="just">
              <a:spcAft>
                <a:spcPts val="0"/>
              </a:spcAft>
            </a:pPr>
            <a:r>
              <a:rPr lang="ru-RU" sz="7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Срок страхования</a:t>
            </a:r>
            <a:r>
              <a:rPr lang="ru-RU" sz="7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– это период времени, в течение которого застрахован объект страхования.</a:t>
            </a:r>
          </a:p>
          <a:p>
            <a:pPr algn="just">
              <a:spcAft>
                <a:spcPts val="0"/>
              </a:spcAft>
            </a:pPr>
            <a:r>
              <a:rPr lang="ru-RU" sz="7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Страховой портфель </a:t>
            </a:r>
            <a:r>
              <a:rPr lang="ru-RU" sz="7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– это фактическое количество застрахованных объектов или действий договоров страхования, документально подтверждающиеся в делах страховщика.</a:t>
            </a:r>
          </a:p>
          <a:p>
            <a:pPr algn="just">
              <a:spcAft>
                <a:spcPts val="0"/>
              </a:spcAft>
            </a:pPr>
            <a:r>
              <a:rPr lang="ru-RU" sz="72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Страховой возраст</a:t>
            </a:r>
            <a:r>
              <a:rPr lang="ru-RU" sz="7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– это возрастные группы, в пределах которых принимаются на страхование граждане или подлежит страхованию поголовье сельскохозяйственного скота.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0006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5CA10EF-FD62-4BB7-8D71-1BDB8004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156238"/>
            <a:ext cx="7272807" cy="660400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tabLst>
                <a:tab pos="457200" algn="l"/>
              </a:tabLst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3 группа терминов: страховые отношения, связанные с расходованием средств страхового фонда</a:t>
            </a:r>
            <a:b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</a:br>
            <a:endParaRPr lang="ru-RU" sz="2000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67A7E65-1A32-4863-8302-B6CC1DC57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1052736"/>
            <a:ext cx="6923778" cy="5032901"/>
          </a:xfrm>
        </p:spPr>
        <p:txBody>
          <a:bodyPr>
            <a:normAutofit/>
          </a:bodyPr>
          <a:lstStyle/>
          <a:p>
            <a:pPr marL="0" lvl="0" indent="0" algn="just">
              <a:spcAft>
                <a:spcPts val="0"/>
              </a:spcAft>
              <a:buSzPts val="1400"/>
              <a:buNone/>
              <a:tabLst>
                <a:tab pos="457200" algn="l"/>
              </a:tabLst>
            </a:pPr>
            <a:endParaRPr lang="ru-RU" sz="1800" dirty="0">
              <a:latin typeface="Times New Roman"/>
              <a:ea typeface="Times New Roman"/>
            </a:endParaRP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Страховой случай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Страховой ущерб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Страховое возмещение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Страховая претензия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7067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292016"/>
            <a:ext cx="8219256" cy="5839861"/>
          </a:xfrm>
        </p:spPr>
        <p:txBody>
          <a:bodyPr>
            <a:normAutofit/>
          </a:bodyPr>
          <a:lstStyle/>
          <a:p>
            <a:pPr marL="0" lvl="0" indent="0" algn="just">
              <a:spcAft>
                <a:spcPts val="0"/>
              </a:spcAft>
              <a:buSzPts val="1400"/>
              <a:buNone/>
              <a:tabLst>
                <a:tab pos="457200" algn="l"/>
              </a:tabLst>
            </a:pPr>
            <a:r>
              <a:rPr lang="ru-RU" sz="2000" b="1" dirty="0">
                <a:solidFill>
                  <a:srgbClr val="92D050"/>
                </a:solidFill>
                <a:latin typeface="Times New Roman"/>
                <a:ea typeface="Times New Roman"/>
              </a:rPr>
              <a:t>3 группа терминов: страховые отношения, связанные с расходованием средств страхового фонда</a:t>
            </a:r>
          </a:p>
          <a:p>
            <a:pPr marL="0" lvl="0" indent="0" algn="just">
              <a:spcAft>
                <a:spcPts val="0"/>
              </a:spcAft>
              <a:buSzPts val="1400"/>
              <a:buNone/>
              <a:tabLst>
                <a:tab pos="457200" algn="l"/>
              </a:tabLst>
            </a:pPr>
            <a:endParaRPr lang="ru-RU" sz="1800" dirty="0">
              <a:latin typeface="Times New Roman"/>
              <a:ea typeface="Times New Roman"/>
            </a:endParaRP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Страховой случай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событие или совокупность событий, предусмотренные условиями страхования, с наступлением которых в силу закона или действующего договора страхования, страховщик обязан выполнить свои обязательства по возмещению ущерба.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Страховой ущерб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стоимость полностью погибшего или обесцененной части страхового имущества по страховой оценке.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Страховое возмещение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сумма выплаты из страхового фонда, покрытие ущерба при имущественном страховании и страховании гражданской ответственности. Может быть равна или меньше страховой суммы исходя из условий договора страхования.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Страховая претензия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требование, предъявляемое страхователем к страховщику в связи с наступление страхового случая, который произошёл вследствие случайности предусмотренной условием страхованием.</a:t>
            </a:r>
          </a:p>
          <a:p>
            <a:pPr marL="0" lvl="0" indent="0" algn="just">
              <a:spcAft>
                <a:spcPts val="0"/>
              </a:spcAft>
              <a:buSzPts val="1400"/>
              <a:buNone/>
              <a:tabLst>
                <a:tab pos="457200" algn="l"/>
              </a:tabLst>
            </a:pPr>
            <a:endParaRPr lang="ru-RU" sz="1600" dirty="0">
              <a:latin typeface="Times New Roman"/>
              <a:ea typeface="Times New Roman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124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9FB96998-845D-43D8-921F-E2FEBD340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88640"/>
            <a:ext cx="7704856" cy="6192688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ru-RU" sz="72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группа: Термины, используемые на международном страховом рынке</a:t>
            </a:r>
          </a:p>
          <a:p>
            <a:pPr algn="just"/>
            <a:r>
              <a:rPr lang="ru-RU" sz="7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Андеррайтер</a:t>
            </a:r>
            <a:r>
              <a:rPr lang="ru-RU" sz="7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высококвалифицированный специалист в области страхового бизнеса, имеющий властные полномочия от руководства страховой компании принимать на страхование предложенные риски, определять тарифные ставки и конкрет­ные условия договора страхования </a:t>
            </a:r>
          </a:p>
          <a:p>
            <a:pPr algn="just"/>
            <a:r>
              <a:rPr lang="ru-RU" sz="7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Аварийный комиссар </a:t>
            </a:r>
            <a:r>
              <a:rPr lang="ru-RU" sz="7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уполномоченное физическое или юридическое лицо страховщика</a:t>
            </a: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7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Занимается установлением причин, характера и размера убытков по застрахованным объектам. Функ­ции аварийного комиссара выполняет </a:t>
            </a:r>
            <a:r>
              <a:rPr lang="ru-RU" sz="7200" b="0" i="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аджастер</a:t>
            </a:r>
            <a:r>
              <a:rPr lang="ru-RU" sz="7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7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Сюрвейер</a:t>
            </a:r>
            <a:r>
              <a:rPr lang="ru-RU" sz="7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обычно инспектор или агент страховщика, осуществляющий осмотр имущества, принимаемого на страхо­вание. В отличие от </a:t>
            </a:r>
            <a:r>
              <a:rPr lang="ru-RU" sz="7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аджастера</a:t>
            </a:r>
            <a:r>
              <a:rPr lang="ru-RU" sz="7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сюрвейер осматривает имущество до момента заключения договора стра­хования.</a:t>
            </a:r>
          </a:p>
          <a:p>
            <a:pPr algn="just"/>
            <a:r>
              <a:rPr lang="ru-RU" sz="7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“Ллойд” </a:t>
            </a:r>
            <a:r>
              <a:rPr lang="ru-RU" sz="7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7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еждународный страховой рынок, террито­риально размещенный в Лондонском Сити, как мировом финан­совом </a:t>
            </a:r>
            <a:r>
              <a:rPr lang="ru-RU" sz="72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центре.</a:t>
            </a:r>
            <a:endParaRPr lang="ru-RU" sz="7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7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Бордеро</a:t>
            </a:r>
            <a:r>
              <a:rPr lang="ru-RU" sz="7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документально оформленный перечень рисков, принятых к страхованию и подлежащих перестрахованию. Со­держит их подробную характеристику</a:t>
            </a:r>
          </a:p>
          <a:p>
            <a:pPr algn="just"/>
            <a:r>
              <a:rPr lang="ru-RU" sz="7200" b="0" i="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Шомаж</a:t>
            </a:r>
            <a:r>
              <a:rPr lang="ru-RU" sz="7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страхование потери прибыли и других финан­совых потерь, связанных с приостановкой производства в ре­зультате наступления страхового случая, например, пожара.</a:t>
            </a:r>
          </a:p>
          <a:p>
            <a:pPr algn="just"/>
            <a:r>
              <a:rPr lang="ru-RU" sz="7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Франшиза</a:t>
            </a:r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не возмещаемая часть убытка</a:t>
            </a:r>
            <a:endParaRPr lang="ru-RU" sz="7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0" i="0" dirty="0">
              <a:effectLst/>
              <a:latin typeface="Roboto" panose="02000000000000000000" pitchFamily="2" charset="0"/>
            </a:endParaRPr>
          </a:p>
          <a:p>
            <a:endParaRPr lang="ru-RU" dirty="0">
              <a:latin typeface="Roboto" panose="02000000000000000000" pitchFamily="2" charset="0"/>
            </a:endParaRPr>
          </a:p>
          <a:p>
            <a:endParaRPr lang="ru-RU" dirty="0">
              <a:latin typeface="Roboto" panose="02000000000000000000" pitchFamily="2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9468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91264" cy="487816"/>
          </a:xfrm>
        </p:spPr>
        <p:txBody>
          <a:bodyPr>
            <a:normAutofit/>
          </a:bodyPr>
          <a:lstStyle/>
          <a:p>
            <a:pPr algn="l"/>
            <a:r>
              <a:rPr lang="ru-RU" sz="2000" b="1" dirty="0"/>
              <a:t>2. Страхование как экономическая категория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908720"/>
            <a:ext cx="8219256" cy="526379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/>
              <a:t>Экономическую категорию страхования характеризуют следующие </a:t>
            </a:r>
            <a:r>
              <a:rPr lang="ru-RU" sz="2400" b="1" dirty="0"/>
              <a:t>признаки</a:t>
            </a:r>
            <a:r>
              <a:rPr lang="ru-RU" sz="2400" dirty="0"/>
              <a:t>:</a:t>
            </a:r>
          </a:p>
          <a:p>
            <a:r>
              <a:rPr lang="ru-RU" sz="2400" dirty="0"/>
              <a:t>  наличие </a:t>
            </a:r>
            <a:r>
              <a:rPr lang="ru-RU" sz="2400" dirty="0" err="1"/>
              <a:t>перераспределительных</a:t>
            </a:r>
            <a:r>
              <a:rPr lang="ru-RU" sz="2400" dirty="0"/>
              <a:t> отношений;</a:t>
            </a:r>
          </a:p>
          <a:p>
            <a:pPr lvl="0"/>
            <a:r>
              <a:rPr lang="ru-RU" sz="2400" dirty="0"/>
              <a:t>наличие страхового риска;</a:t>
            </a:r>
          </a:p>
          <a:p>
            <a:pPr lvl="0"/>
            <a:r>
              <a:rPr lang="ru-RU" sz="2400" dirty="0"/>
              <a:t>замкнутая раскладка ущерба;</a:t>
            </a:r>
          </a:p>
          <a:p>
            <a:pPr lvl="0"/>
            <a:r>
              <a:rPr lang="ru-RU" sz="2400" dirty="0"/>
              <a:t>перераспределение ущерба в пространстве и времени;</a:t>
            </a:r>
          </a:p>
          <a:p>
            <a:pPr lvl="0"/>
            <a:r>
              <a:rPr lang="ru-RU" sz="2400" dirty="0"/>
              <a:t>возвратность страховых платежей.</a:t>
            </a:r>
          </a:p>
        </p:txBody>
      </p:sp>
    </p:spTree>
    <p:extLst>
      <p:ext uri="{BB962C8B-B14F-4D97-AF65-F5344CB8AC3E}">
        <p14:creationId xmlns:p14="http://schemas.microsoft.com/office/powerpoint/2010/main" val="3680296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3. Функции в страховании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99" y="1484784"/>
            <a:ext cx="6347714" cy="4556579"/>
          </a:xfrm>
        </p:spPr>
        <p:txBody>
          <a:bodyPr>
            <a:normAutofit/>
          </a:bodyPr>
          <a:lstStyle/>
          <a:p>
            <a:r>
              <a:rPr lang="ru-RU" sz="2400" b="1" dirty="0"/>
              <a:t>Рисковая функция</a:t>
            </a:r>
            <a:r>
              <a:rPr lang="ru-RU" sz="2400" dirty="0"/>
              <a:t> </a:t>
            </a:r>
          </a:p>
          <a:p>
            <a:r>
              <a:rPr lang="ru-RU" sz="2400" b="1" dirty="0"/>
              <a:t>Предупредительная функция</a:t>
            </a:r>
            <a:r>
              <a:rPr lang="ru-RU" sz="2400" dirty="0"/>
              <a:t> </a:t>
            </a:r>
          </a:p>
          <a:p>
            <a:r>
              <a:rPr lang="ru-RU" sz="2400" b="1" dirty="0"/>
              <a:t>Сберегательная функция</a:t>
            </a:r>
            <a:r>
              <a:rPr lang="ru-RU" sz="2400" dirty="0"/>
              <a:t> </a:t>
            </a:r>
          </a:p>
          <a:p>
            <a:r>
              <a:rPr lang="ru-RU" sz="2400" b="1" dirty="0"/>
              <a:t>Контрольная функция</a:t>
            </a:r>
            <a:r>
              <a:rPr lang="ru-RU" sz="2400" dirty="0"/>
              <a:t> </a:t>
            </a:r>
          </a:p>
          <a:p>
            <a:r>
              <a:rPr lang="ru-RU" sz="2400" dirty="0"/>
              <a:t> И</a:t>
            </a:r>
            <a:r>
              <a:rPr lang="ru-RU" sz="2400" b="1" dirty="0"/>
              <a:t>нвестиционная функция</a:t>
            </a:r>
            <a:r>
              <a:rPr lang="ru-R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1829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53536"/>
            <a:ext cx="8219256" cy="799200"/>
          </a:xfrm>
        </p:spPr>
        <p:txBody>
          <a:bodyPr>
            <a:normAutofit/>
          </a:bodyPr>
          <a:lstStyle/>
          <a:p>
            <a:pPr algn="l"/>
            <a:r>
              <a:rPr lang="ru-RU" sz="2000" dirty="0"/>
              <a:t>4</a:t>
            </a:r>
            <a:r>
              <a:rPr lang="ru-RU" sz="2400" dirty="0"/>
              <a:t>. Страховой фонд: понятие и виды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32648"/>
          </a:xfrm>
        </p:spPr>
        <p:txBody>
          <a:bodyPr>
            <a:normAutofit fontScale="92500" lnSpcReduction="20000"/>
          </a:bodyPr>
          <a:lstStyle/>
          <a:p>
            <a:endParaRPr lang="ru-RU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Страховой фонд </a:t>
            </a:r>
            <a:r>
              <a:rPr lang="ru-RU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это совокупность натуральных и финансовых резервов, которые могут быть использованы для предупреждения, локализации и возмещения ущерба от стихийных и социальных бедствий.</a:t>
            </a:r>
            <a:endParaRPr lang="ru-RU" sz="2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dirty="0"/>
          </a:p>
          <a:p>
            <a:r>
              <a:rPr lang="ru-RU" sz="1800" b="1" dirty="0"/>
              <a:t>Централизованный государственный страховой фонд</a:t>
            </a:r>
            <a:r>
              <a:rPr lang="ru-RU" sz="1800" dirty="0"/>
              <a:t> – создается  за счет общегосударственных ресурсов в натуральной и денежной форм.  предназначен для возмещения ущерба и устранения последствий крупных катастроф независимо от уплаты страховых взносов. </a:t>
            </a:r>
          </a:p>
          <a:p>
            <a:endParaRPr lang="ru-RU" sz="1800" dirty="0"/>
          </a:p>
          <a:p>
            <a:r>
              <a:rPr lang="ru-RU" sz="1800" b="1" dirty="0"/>
              <a:t>Фонд самострахования</a:t>
            </a:r>
            <a:r>
              <a:rPr lang="ru-RU" sz="1800" dirty="0"/>
              <a:t> – это децентрализованный обособленный денежно-натуральный фонд, дающий возможность преодолеть временные затруднения в процесс производств и обеспечивающий его непрерывность. </a:t>
            </a:r>
          </a:p>
          <a:p>
            <a:endParaRPr lang="ru-RU" sz="1800" dirty="0"/>
          </a:p>
          <a:p>
            <a:r>
              <a:rPr lang="ru-RU" sz="1800" b="1" dirty="0"/>
              <a:t>Фонд страховщика</a:t>
            </a:r>
            <a:r>
              <a:rPr lang="ru-RU" sz="1800" dirty="0"/>
              <a:t> – формируется за счет обособленных денежных взносов юридических  физических лиц в децентрализованном порядке. Его средства предназначены для выплаты страховых возмещений и страховых обеспечений, размер которых определяется на основе статистической информации, прогнозных и актуарных расчетов. </a:t>
            </a:r>
          </a:p>
          <a:p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318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128792" cy="1008112"/>
          </a:xfrm>
        </p:spPr>
        <p:txBody>
          <a:bodyPr>
            <a:normAutofit fontScale="90000"/>
          </a:bodyPr>
          <a:lstStyle/>
          <a:p>
            <a:r>
              <a:rPr lang="ru-RU" dirty="0"/>
              <a:t>У фондов всех трех форм имеются общие черты: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340768"/>
            <a:ext cx="6489769" cy="5328592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причины их образования и возникновения. Они вытекают из необходимости страховой защиты всех сторон жизни человека и возмещения ущерба, обеспечения дополнительных затрат, возникающих из-за чрезвычайных событий;</a:t>
            </a: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целью создания фондов страхования является сохранение уровня жизни людей, среды их обитания;</a:t>
            </a:r>
          </a:p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источниками образования являются доходы отдельных граждан и владельцев объектов страхования, создаваемые в производстве и формируемые при распределении национального дохода.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4638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67117098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498</TotalTime>
  <Words>1433</Words>
  <Application>Microsoft Office PowerPoint</Application>
  <PresentationFormat>Экран (4:3)</PresentationFormat>
  <Paragraphs>137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Аспект</vt:lpstr>
      <vt:lpstr>Страхование</vt:lpstr>
      <vt:lpstr>Литература</vt:lpstr>
      <vt:lpstr>Вопросы</vt:lpstr>
      <vt:lpstr>Страховой рынок: понятие и структура</vt:lpstr>
      <vt:lpstr>Страхование в дореволюционной России</vt:lpstr>
      <vt:lpstr>Страховое дело в Советской России</vt:lpstr>
      <vt:lpstr>Презентация PowerPoint</vt:lpstr>
      <vt:lpstr>1 группа терминов: Страховые отношения, связанные с общими  условиями страхования  </vt:lpstr>
      <vt:lpstr>1. Понятия и термины в страховании</vt:lpstr>
      <vt:lpstr>Презентация PowerPoint</vt:lpstr>
      <vt:lpstr>2 группа терминов, связанных с образованием страхового фонда:  </vt:lpstr>
      <vt:lpstr>Презентация PowerPoint</vt:lpstr>
      <vt:lpstr>3 группа терминов: страховые отношения, связанные с расходованием средств страхового фонда </vt:lpstr>
      <vt:lpstr>Презентация PowerPoint</vt:lpstr>
      <vt:lpstr>Презентация PowerPoint</vt:lpstr>
      <vt:lpstr>2. Страхование как экономическая категория</vt:lpstr>
      <vt:lpstr>3. Функции в страховании</vt:lpstr>
      <vt:lpstr>4. Страховой фонд: понятие и виды</vt:lpstr>
      <vt:lpstr>У фондов всех трех форм имеются общие черты: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Паутова Анна Владиславовна</dc:creator>
  <cp:lastModifiedBy>Student ZO</cp:lastModifiedBy>
  <cp:revision>58</cp:revision>
  <dcterms:created xsi:type="dcterms:W3CDTF">2018-09-13T10:30:13Z</dcterms:created>
  <dcterms:modified xsi:type="dcterms:W3CDTF">2025-09-30T08:09:19Z</dcterms:modified>
</cp:coreProperties>
</file>