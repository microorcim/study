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C14E"/>
    <a:srgbClr val="D9A4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876" autoAdjust="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ADA1A-D57F-458B-B8F4-030B61C869FB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82001-015F-46A8-9B15-60E8C0F4B2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364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Ямайская система — фактически стала основой современного международного валютного порядка. Именно в её рамках были закреплены отказ от золотодолларового стандарта, право стран выбирать режим валютного курса и сохранение надзорной роли Международного валютного фонда. Когда мы говорим о современных валютных отношениях, мы во многом говорим о системе, оформившейся после реформ 1976–1978 годов.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24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1944 году возникла Бреттон-</a:t>
            </a:r>
            <a:r>
              <a:rPr lang="ru-RU" dirty="0" err="1"/>
              <a:t>Вудская</a:t>
            </a:r>
            <a:r>
              <a:rPr lang="ru-RU" dirty="0"/>
              <a:t> система, в которой валюты были связаны с долларом, а доллар — с золотом. Но со временем эта модель начала испытывать всё большее давление: увеличивалась долларовая масса, росли внешние дисбалансы, снижалось доверие к обмену доллара на золото. Переломным моментом стал 1971 год, когда США прекратили конвертируемость доллара в золото. После этого потребовалась полноценная реформа, и в 1976–1978 годах была оформлена Ямайская система.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064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Ямайская система закрепила несколько ключевых изменений. Во-первых, был оформлен отказ от золотодолларового стандарта. Во-вторых, золото утратило официальную роль основы международной валютной системы, то есть произошло его </a:t>
            </a:r>
            <a:r>
              <a:rPr lang="ru-RU" dirty="0" err="1"/>
              <a:t>демонетизирование</a:t>
            </a:r>
            <a:r>
              <a:rPr lang="ru-RU" dirty="0"/>
              <a:t>. В-третьих, усилилась роль специальных прав заимствования — СДР. Кроме того, странам было предоставлено право самостоятельно выбирать режим валютного курса, а МВФ сохранил функцию наблюдения за валютной политикой.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738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Отдельно нужно отметить соотношение доллара и СДР. После реформ доллар уже не был официально связан с золотом, но при этом сохранил ведущие позиции в мировой системе. Он остался основной расчётной и резервной валютой. СДР, напротив, усилили своё значение как международный резервный актив, однако на практике не смогли вытеснить доллар. Поэтому Ямайская система изменила форму </a:t>
            </a:r>
            <a:r>
              <a:rPr lang="ru-RU" dirty="0" err="1"/>
              <a:t>доллароцентричности</a:t>
            </a:r>
            <a:r>
              <a:rPr lang="ru-RU" dirty="0"/>
              <a:t>, но не устранила её полностью.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196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оценивать систему в целом, то её главным достоинством стала гибкость. Страны получили больше свободы в выборе валютного режима, а сама система стала лучше адаптироваться к изменениям мировой экономики. Но у этой гибкости есть и обратная сторона: усилилась волатильность валютных курсов, сохранилась зависимость от доллара, а СДР так и не стали главным резервным активом. Поэтому Ямайская система оказалась более гибкой, но менее жёсткой и предсказуемой, чем прежняя модель.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134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значение Ямайской системы сохраняется. Именно в её логике продолжает функционировать современный валютный мир. Однако система не решила все проблемы: валютные курсы остаются волатильными, доллар сохраняет преобладающее положение, а вопрос о будущем мировой валютной архитектуры остаётся открытым. Поэтому и сегодня обсуждаются возможные реформы — например, расширение роли СДР и развитие более сбалансированной </a:t>
            </a:r>
            <a:r>
              <a:rPr lang="ru-RU" dirty="0" err="1"/>
              <a:t>многовалютной</a:t>
            </a:r>
            <a:r>
              <a:rPr lang="ru-RU" dirty="0"/>
              <a:t> системы.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731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Подводя итог, можно сказать, что Ямайская денежная система стала ответом на кризис Бреттон-</a:t>
            </a:r>
            <a:r>
              <a:rPr lang="ru-RU" dirty="0" err="1"/>
              <a:t>Вудской</a:t>
            </a:r>
            <a:r>
              <a:rPr lang="ru-RU" dirty="0"/>
              <a:t> модели и оформила переход к более гибкому международному валютному порядку. Она изменила роль золота, закрепила новые режимы валютных курсов и усилила значение СДР, но при этом не устранила доминирование доллара и проблему валютной нестабильности.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82001-015F-46A8-9B15-60E8C0F4B2A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14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849199-A4B7-402D-9A34-D6AE91B73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4C40AC-1662-410A-8CBE-2F07233D5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4370E1-1C23-4ECF-86D5-A8BB91E3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856B94-3175-4D2E-A6B6-53E652C6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7C3F40-8A0B-434E-A681-556B6CF4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76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C6901-42B3-4511-A86E-FFA0652E0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92DDA-305A-4C7C-86DE-4AAF1318C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A8832F-5CEA-4935-8C93-6E2E02F4A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F8DA3D-763D-4E59-A258-DF2362136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3D2F14-F66C-4756-BBDE-60413834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744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FA426-4EA5-4AA2-8C3B-F4A4F7B2D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E6313-9AF6-4600-B4A4-0C6EC711B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00B919-852B-4505-A259-A363FED0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6F868C-17C8-48FC-839C-A8B9C797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CA0FC8-4BED-42F0-9FBF-B6B02923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78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F5795-D254-4E41-8EF6-4E52AAD5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6B96EB-5BA7-4C60-B481-711980825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D5361D-0F9E-4005-8820-90D818B0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F63893-2F6E-46E1-80E0-7505101BB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3D6A4B-6094-44F8-BA0B-5B53A4C4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5D8BA7-FE05-4DB0-9D1A-CA8BECE2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96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A5B34-725E-4F55-84F4-B87BB834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8ED171-BD36-4A79-9046-C39D14607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F1D7FD-5819-4E2F-B3F0-7292A8401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9176E5-DA42-415A-B928-705CEA029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FD0D40-CD0A-46A9-8FD1-02E57F98E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DDE5E8-4628-4952-93E2-697485405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4551E8-00FB-4ABF-9AD3-5AD25781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BDCE04-D3A2-49A8-AED6-221DC331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4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0B358-77AD-4C0F-B169-73ACFBA4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FB530B-8526-4AB6-A9F4-77034A6DB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B09F85-0E57-4B37-B0D1-EFAD7034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C959DA-17E8-4C91-86EB-CFCAACC7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6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02FAC7-7F12-4DF5-B01B-0B3DAA74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ED450E-A83E-4604-B6E9-714C8C28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23DFA4-9A36-45A8-AD0A-C8674F2E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93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2DBFD-6044-4AD7-A6E4-F6D42F5E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37056C-4482-4A26-921A-70A4770B8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077BBC-986A-4E8C-A30B-7AAB927A5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08CF8D-1132-48F6-8719-6D027D3CC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C89E6D-A6AB-4A8B-B02C-DBBAEB3A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14DE98-8147-473E-B1BE-669B4401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65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DE329-C369-4FCA-B294-06B844748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F96746B-ADC7-41B8-AE6B-F7CED36B7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EE204C-B663-421E-9C71-53858A432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48217A-C80A-4B62-B8A4-3C7E5EE9A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A51B63-577F-4953-A1F7-BBD56A73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110E31-58B8-48BD-8546-B062B4BB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496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E572B-DF59-4B94-A9AB-413B21EB6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2B9F473-D374-4E4F-B111-C359B3497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5E7349-90FC-49B6-A11D-BED10D8D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A80F08-0BF8-4310-BC1B-5A32A790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94987F-ED2E-408C-BFFC-DFBBB497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29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6F717A-7A24-4273-BAE6-BADC1737D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59B01A-18DA-435F-AC3D-B12B162DA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9A1633-7BF2-4EE6-BE61-535D73FB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F32481-19CF-497D-867D-2BCC5736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917CD-787E-49BA-8732-A4CA2DAB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2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02850-6A4D-47ED-B76D-5BD3B6FD1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6DA6F1-7191-4800-8331-ED532279E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B26168-85E9-4241-ADCA-83DE21F8B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CB435-4D49-422C-8452-8169B888EBE6}" type="datetimeFigureOut">
              <a:rPr lang="ru-RU" smtClean="0"/>
              <a:t>10.03.2026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60C516-FC00-4493-A7BE-6536DDD52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E49779-AD41-462B-8CAA-C8B1FF440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EEAED-3A31-4634-B65E-58ED6473C2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49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C26EDD32-4944-4C9C-9C7B-AD62CD4C53E7}"/>
              </a:ext>
            </a:extLst>
          </p:cNvPr>
          <p:cNvSpPr/>
          <p:nvPr/>
        </p:nvSpPr>
        <p:spPr>
          <a:xfrm>
            <a:off x="2359269" y="731520"/>
            <a:ext cx="6400800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0DCC4-2BE3-4C5E-9327-1A2C8AA91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9267" y="731521"/>
            <a:ext cx="6400801" cy="1990578"/>
          </a:xfrm>
        </p:spPr>
        <p:txBody>
          <a:bodyPr>
            <a:normAutofit/>
          </a:bodyPr>
          <a:lstStyle/>
          <a:p>
            <a:r>
              <a:rPr lang="ru-RU" sz="5400" dirty="0">
                <a:solidFill>
                  <a:schemeClr val="bg1"/>
                </a:solidFill>
              </a:rPr>
              <a:t>Ямайская денежная</a:t>
            </a:r>
            <a:br>
              <a:rPr lang="ru-RU" sz="5400" dirty="0">
                <a:solidFill>
                  <a:schemeClr val="bg1"/>
                </a:solidFill>
              </a:rPr>
            </a:br>
            <a:r>
              <a:rPr lang="ru-RU" sz="5400" dirty="0">
                <a:solidFill>
                  <a:schemeClr val="bg1"/>
                </a:solidFill>
              </a:rPr>
              <a:t>система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19F86FA-D697-4C97-B179-D93949DA4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4546" y="4791808"/>
            <a:ext cx="3197469" cy="46599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Михайлов И.Р. 3-22ПИ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CF98DB-F6EB-4AAA-862E-40FA450564C8}"/>
              </a:ext>
            </a:extLst>
          </p:cNvPr>
          <p:cNvSpPr txBox="1"/>
          <p:nvPr/>
        </p:nvSpPr>
        <p:spPr>
          <a:xfrm>
            <a:off x="3549162" y="2809994"/>
            <a:ext cx="433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2C14E"/>
                </a:solidFill>
              </a:rPr>
              <a:t>Финансы, денежное обращение и кредит</a:t>
            </a:r>
          </a:p>
        </p:txBody>
      </p:sp>
    </p:spTree>
    <p:extLst>
      <p:ext uri="{BB962C8B-B14F-4D97-AF65-F5344CB8AC3E}">
        <p14:creationId xmlns:p14="http://schemas.microsoft.com/office/powerpoint/2010/main" val="259863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6CFF8157-5DF3-400F-9557-CD24E36618B5}"/>
              </a:ext>
            </a:extLst>
          </p:cNvPr>
          <p:cNvSpPr/>
          <p:nvPr/>
        </p:nvSpPr>
        <p:spPr>
          <a:xfrm>
            <a:off x="861646" y="1325880"/>
            <a:ext cx="6400800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86B9F23-409E-49F9-916C-CC832A04CC3E}"/>
              </a:ext>
            </a:extLst>
          </p:cNvPr>
          <p:cNvSpPr/>
          <p:nvPr/>
        </p:nvSpPr>
        <p:spPr>
          <a:xfrm>
            <a:off x="1084971" y="1920240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88C796-7097-45D0-BF7B-5995B8E783B7}"/>
              </a:ext>
            </a:extLst>
          </p:cNvPr>
          <p:cNvSpPr/>
          <p:nvPr/>
        </p:nvSpPr>
        <p:spPr>
          <a:xfrm>
            <a:off x="1286139" y="1643811"/>
            <a:ext cx="5559552" cy="66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Определяет правила международных расчётов и валютных отношений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B2E501D-DA23-43F1-B770-B479065D1FC0}"/>
              </a:ext>
            </a:extLst>
          </p:cNvPr>
          <p:cNvSpPr/>
          <p:nvPr/>
        </p:nvSpPr>
        <p:spPr>
          <a:xfrm>
            <a:off x="1084971" y="2705921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EDDBA6-B298-42A5-AC96-8ECDA83F8BE2}"/>
              </a:ext>
            </a:extLst>
          </p:cNvPr>
          <p:cNvSpPr/>
          <p:nvPr/>
        </p:nvSpPr>
        <p:spPr>
          <a:xfrm>
            <a:off x="1286139" y="2614481"/>
            <a:ext cx="555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Закрепила отказ от золотодолларового стандарта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99C156-5C3C-4FEE-9B13-1DD9C0785363}"/>
              </a:ext>
            </a:extLst>
          </p:cNvPr>
          <p:cNvSpPr/>
          <p:nvPr/>
        </p:nvSpPr>
        <p:spPr>
          <a:xfrm>
            <a:off x="1084971" y="3603967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1203FD-97C8-4622-AF3B-B6AAA652E7C7}"/>
              </a:ext>
            </a:extLst>
          </p:cNvPr>
          <p:cNvSpPr/>
          <p:nvPr/>
        </p:nvSpPr>
        <p:spPr>
          <a:xfrm>
            <a:off x="1286139" y="3372642"/>
            <a:ext cx="5559552" cy="57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Разрешила странам выбирать режим валютного курса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939BB35-DB59-4E9B-9781-03329F9260A8}"/>
              </a:ext>
            </a:extLst>
          </p:cNvPr>
          <p:cNvSpPr/>
          <p:nvPr/>
        </p:nvSpPr>
        <p:spPr>
          <a:xfrm>
            <a:off x="1084971" y="4450667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D363FA-86F0-40AE-BE9E-60B39D1BD874}"/>
              </a:ext>
            </a:extLst>
          </p:cNvPr>
          <p:cNvSpPr/>
          <p:nvPr/>
        </p:nvSpPr>
        <p:spPr>
          <a:xfrm>
            <a:off x="1286139" y="4265764"/>
            <a:ext cx="5559552" cy="57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Сохранила центральную роль МВФ в надзоре за системой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Ямайская система — основа современного международного валютного порядка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58FE217A-0874-44FE-B0F4-0ED59EEFF77A}"/>
              </a:ext>
            </a:extLst>
          </p:cNvPr>
          <p:cNvSpPr/>
          <p:nvPr/>
        </p:nvSpPr>
        <p:spPr>
          <a:xfrm>
            <a:off x="7452360" y="4315968"/>
            <a:ext cx="4023360" cy="1536192"/>
          </a:xfrm>
          <a:prstGeom prst="roundRect">
            <a:avLst/>
          </a:prstGeom>
          <a:solidFill>
            <a:srgbClr val="10253B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EE8D97E7-5AB1-4363-93FD-A03EDD114F5F}"/>
              </a:ext>
            </a:extLst>
          </p:cNvPr>
          <p:cNvSpPr/>
          <p:nvPr/>
        </p:nvSpPr>
        <p:spPr>
          <a:xfrm>
            <a:off x="772668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2C14E"/>
                </a:solidFill>
              </a:rPr>
              <a:t>Итог реформы</a:t>
            </a: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6E9D010-8FAF-41DB-A881-6B2F0323B9B4}"/>
              </a:ext>
            </a:extLst>
          </p:cNvPr>
          <p:cNvSpPr/>
          <p:nvPr/>
        </p:nvSpPr>
        <p:spPr>
          <a:xfrm>
            <a:off x="7726680" y="48828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F6F8FB"/>
                </a:solidFill>
              </a:rPr>
              <a:t>От жёсткой системы фиксированных курсов мир перешёл к более гибкой модели валютного регулирования.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0F093-C0F0-4A48-A266-3C8F8C1D8AC9}"/>
              </a:ext>
            </a:extLst>
          </p:cNvPr>
          <p:cNvSpPr txBox="1"/>
          <p:nvPr/>
        </p:nvSpPr>
        <p:spPr>
          <a:xfrm>
            <a:off x="4062046" y="165878"/>
            <a:ext cx="278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Ямайская система</a:t>
            </a:r>
          </a:p>
        </p:txBody>
      </p:sp>
    </p:spTree>
    <p:extLst>
      <p:ext uri="{BB962C8B-B14F-4D97-AF65-F5344CB8AC3E}">
        <p14:creationId xmlns:p14="http://schemas.microsoft.com/office/powerpoint/2010/main" val="2462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Перехода к Ямайской реформе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04CF076-7735-42CB-991D-C81CF756EF0D}"/>
              </a:ext>
            </a:extLst>
          </p:cNvPr>
          <p:cNvSpPr/>
          <p:nvPr/>
        </p:nvSpPr>
        <p:spPr>
          <a:xfrm>
            <a:off x="2189284" y="4290672"/>
            <a:ext cx="8862647" cy="7887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2C592A91-2185-42ED-8AC0-808796ED7914}"/>
              </a:ext>
            </a:extLst>
          </p:cNvPr>
          <p:cNvSpPr/>
          <p:nvPr/>
        </p:nvSpPr>
        <p:spPr>
          <a:xfrm>
            <a:off x="1943092" y="4062072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A845E3D6-978D-47A9-B096-385BCCF49E37}"/>
              </a:ext>
            </a:extLst>
          </p:cNvPr>
          <p:cNvSpPr/>
          <p:nvPr/>
        </p:nvSpPr>
        <p:spPr>
          <a:xfrm>
            <a:off x="914400" y="1600200"/>
            <a:ext cx="2514600" cy="196596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3D6AF1F6-CC40-4E08-B6D5-39348806190A}"/>
              </a:ext>
            </a:extLst>
          </p:cNvPr>
          <p:cNvSpPr/>
          <p:nvPr/>
        </p:nvSpPr>
        <p:spPr>
          <a:xfrm>
            <a:off x="1854999" y="1875396"/>
            <a:ext cx="633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C14E"/>
                </a:solidFill>
              </a:rPr>
              <a:t>1944</a:t>
            </a:r>
            <a:endParaRPr lang="en-US" sz="23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8117C4A2-C6D6-4C7C-AA5B-5A13EDC7497B}"/>
              </a:ext>
            </a:extLst>
          </p:cNvPr>
          <p:cNvSpPr/>
          <p:nvPr/>
        </p:nvSpPr>
        <p:spPr>
          <a:xfrm>
            <a:off x="914399" y="2130551"/>
            <a:ext cx="2514599" cy="14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Бреттон-</a:t>
            </a:r>
            <a:r>
              <a:rPr lang="ru-RU" sz="1420" dirty="0" err="1">
                <a:solidFill>
                  <a:srgbClr val="F6F8FB"/>
                </a:solidFill>
              </a:rPr>
              <a:t>Вудская</a:t>
            </a:r>
            <a:r>
              <a:rPr lang="ru-RU" sz="1420" dirty="0">
                <a:solidFill>
                  <a:srgbClr val="F6F8FB"/>
                </a:solidFill>
              </a:rPr>
              <a:t> система: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Фиксированные, но корректируемые курсы.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Доллар привязан к золоту по 35 долл. за унцию.</a:t>
            </a: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D3BC2CDE-F92C-42F6-A9C6-E347CF1D01CB}"/>
              </a:ext>
            </a:extLst>
          </p:cNvPr>
          <p:cNvSpPr/>
          <p:nvPr/>
        </p:nvSpPr>
        <p:spPr>
          <a:xfrm>
            <a:off x="5189216" y="4077867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C6E9762A-B4BD-4C0E-90AD-9B185CB86191}"/>
              </a:ext>
            </a:extLst>
          </p:cNvPr>
          <p:cNvSpPr/>
          <p:nvPr/>
        </p:nvSpPr>
        <p:spPr>
          <a:xfrm>
            <a:off x="4160520" y="1600200"/>
            <a:ext cx="2514600" cy="196596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DBC45ACD-191B-4440-B112-D23F46A30879}"/>
              </a:ext>
            </a:extLst>
          </p:cNvPr>
          <p:cNvSpPr/>
          <p:nvPr/>
        </p:nvSpPr>
        <p:spPr>
          <a:xfrm>
            <a:off x="5106392" y="1828798"/>
            <a:ext cx="622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C14E"/>
                </a:solidFill>
              </a:rPr>
              <a:t>1971</a:t>
            </a:r>
            <a:endParaRPr lang="en-US" sz="2300" dirty="0">
              <a:solidFill>
                <a:srgbClr val="F2C14E"/>
              </a:solidFill>
            </a:endParaRPr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BA3BD1F-8FFF-4AED-9C73-B13F73009E2A}"/>
              </a:ext>
            </a:extLst>
          </p:cNvPr>
          <p:cNvSpPr/>
          <p:nvPr/>
        </p:nvSpPr>
        <p:spPr>
          <a:xfrm>
            <a:off x="4160517" y="2130551"/>
            <a:ext cx="2514599" cy="143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Кризис системы: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Рост долларовой массы, инфляция в США.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Прекращение конвертируемости доллара в золото.</a:t>
            </a:r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4D615D51-CF1E-41D8-A119-7579FB76C81D}"/>
              </a:ext>
            </a:extLst>
          </p:cNvPr>
          <p:cNvSpPr/>
          <p:nvPr/>
        </p:nvSpPr>
        <p:spPr>
          <a:xfrm>
            <a:off x="8435340" y="4077867"/>
            <a:ext cx="457200" cy="45720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FE07AD49-2F84-44D0-94E3-243CACBE61D8}"/>
              </a:ext>
            </a:extLst>
          </p:cNvPr>
          <p:cNvSpPr/>
          <p:nvPr/>
        </p:nvSpPr>
        <p:spPr>
          <a:xfrm>
            <a:off x="7406640" y="1600200"/>
            <a:ext cx="2514600" cy="196596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E5593F14-4684-4B3A-8B31-88071715EA5B}"/>
              </a:ext>
            </a:extLst>
          </p:cNvPr>
          <p:cNvSpPr/>
          <p:nvPr/>
        </p:nvSpPr>
        <p:spPr>
          <a:xfrm>
            <a:off x="7626096" y="1856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C14E"/>
                </a:solidFill>
              </a:rPr>
              <a:t>1976–1978</a:t>
            </a:r>
            <a:endParaRPr lang="en-US" sz="23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2E83D8DE-8091-4A90-811B-F0B2E46C0470}"/>
              </a:ext>
            </a:extLst>
          </p:cNvPr>
          <p:cNvSpPr/>
          <p:nvPr/>
        </p:nvSpPr>
        <p:spPr>
          <a:xfrm>
            <a:off x="7406633" y="2130551"/>
            <a:ext cx="2581429" cy="143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Реформа: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В Кингстон (Ямайка)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согласованы принципы реформы,</a:t>
            </a:r>
          </a:p>
          <a:p>
            <a:pPr marL="0" indent="0" algn="ctr">
              <a:buNone/>
            </a:pPr>
            <a:r>
              <a:rPr lang="ru-RU" sz="1420" dirty="0">
                <a:solidFill>
                  <a:srgbClr val="F6F8FB"/>
                </a:solidFill>
              </a:rPr>
              <a:t>а в 1978 году они закреплены в поправке к Статьям МВФ.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3A508-806B-4755-AC23-26126321354A}"/>
              </a:ext>
            </a:extLst>
          </p:cNvPr>
          <p:cNvSpPr txBox="1"/>
          <p:nvPr/>
        </p:nvSpPr>
        <p:spPr>
          <a:xfrm>
            <a:off x="3515774" y="61251"/>
            <a:ext cx="3804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ptos Display" pitchFamily="34" charset="-122"/>
                <a:cs typeface="Aptos Display" pitchFamily="34" charset="-120"/>
              </a:rPr>
              <a:t>От Бреттон-</a:t>
            </a:r>
            <a:r>
              <a:rPr lang="ru-RU" sz="2400" dirty="0" err="1">
                <a:solidFill>
                  <a:schemeClr val="tx1">
                    <a:lumMod val="75000"/>
                    <a:lumOff val="25000"/>
                  </a:schemeClr>
                </a:solidFill>
                <a:ea typeface="Aptos Display" pitchFamily="34" charset="-122"/>
                <a:cs typeface="Aptos Display" pitchFamily="34" charset="-120"/>
              </a:rPr>
              <a:t>Вудса</a:t>
            </a:r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ptos Display" pitchFamily="34" charset="-122"/>
                <a:cs typeface="Aptos Display" pitchFamily="34" charset="-120"/>
              </a:rPr>
              <a:t> к кризису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2DC1F92-0222-4246-AB5F-1C7264744057}"/>
              </a:ext>
            </a:extLst>
          </p:cNvPr>
          <p:cNvCxnSpPr>
            <a:cxnSpLocks/>
          </p:cNvCxnSpPr>
          <p:nvPr/>
        </p:nvCxnSpPr>
        <p:spPr>
          <a:xfrm>
            <a:off x="9758933" y="4298563"/>
            <a:ext cx="1922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09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6CFF8157-5DF3-400F-9557-CD24E36618B5}"/>
              </a:ext>
            </a:extLst>
          </p:cNvPr>
          <p:cNvSpPr/>
          <p:nvPr/>
        </p:nvSpPr>
        <p:spPr>
          <a:xfrm>
            <a:off x="5138926" y="1325880"/>
            <a:ext cx="6400800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86B9F23-409E-49F9-916C-CC832A04CC3E}"/>
              </a:ext>
            </a:extLst>
          </p:cNvPr>
          <p:cNvSpPr/>
          <p:nvPr/>
        </p:nvSpPr>
        <p:spPr>
          <a:xfrm>
            <a:off x="5385697" y="1937825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88C796-7097-45D0-BF7B-5995B8E783B7}"/>
              </a:ext>
            </a:extLst>
          </p:cNvPr>
          <p:cNvSpPr/>
          <p:nvPr/>
        </p:nvSpPr>
        <p:spPr>
          <a:xfrm>
            <a:off x="5586865" y="1813660"/>
            <a:ext cx="555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Отказ от золотодолларового стандарта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B2E501D-DA23-43F1-B770-B479065D1FC0}"/>
              </a:ext>
            </a:extLst>
          </p:cNvPr>
          <p:cNvSpPr/>
          <p:nvPr/>
        </p:nvSpPr>
        <p:spPr>
          <a:xfrm>
            <a:off x="5385697" y="2380538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EDDBA6-B298-42A5-AC96-8ECDA83F8BE2}"/>
              </a:ext>
            </a:extLst>
          </p:cNvPr>
          <p:cNvSpPr/>
          <p:nvPr/>
        </p:nvSpPr>
        <p:spPr>
          <a:xfrm>
            <a:off x="5586865" y="2147454"/>
            <a:ext cx="5559552" cy="57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Демонетизация золота — снижение его официальной денежной роли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99C156-5C3C-4FEE-9B13-1DD9C0785363}"/>
              </a:ext>
            </a:extLst>
          </p:cNvPr>
          <p:cNvSpPr/>
          <p:nvPr/>
        </p:nvSpPr>
        <p:spPr>
          <a:xfrm>
            <a:off x="5385697" y="2988525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1203FD-97C8-4622-AF3B-B6AAA652E7C7}"/>
              </a:ext>
            </a:extLst>
          </p:cNvPr>
          <p:cNvSpPr/>
          <p:nvPr/>
        </p:nvSpPr>
        <p:spPr>
          <a:xfrm>
            <a:off x="5586865" y="2755441"/>
            <a:ext cx="5559552" cy="57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Усиление значения </a:t>
            </a:r>
            <a:r>
              <a:rPr lang="en-US" sz="1900" dirty="0">
                <a:solidFill>
                  <a:srgbClr val="F6F8FB"/>
                </a:solidFill>
              </a:rPr>
              <a:t>SDR</a:t>
            </a:r>
            <a:r>
              <a:rPr lang="ru-RU" sz="1900" dirty="0">
                <a:solidFill>
                  <a:srgbClr val="F6F8FB"/>
                </a:solidFill>
              </a:rPr>
              <a:t> как международного резервного актива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939BB35-DB59-4E9B-9781-03329F9260A8}"/>
              </a:ext>
            </a:extLst>
          </p:cNvPr>
          <p:cNvSpPr/>
          <p:nvPr/>
        </p:nvSpPr>
        <p:spPr>
          <a:xfrm>
            <a:off x="5385697" y="3445901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D363FA-86F0-40AE-BE9E-60B39D1BD874}"/>
              </a:ext>
            </a:extLst>
          </p:cNvPr>
          <p:cNvSpPr/>
          <p:nvPr/>
        </p:nvSpPr>
        <p:spPr>
          <a:xfrm>
            <a:off x="5586865" y="3328568"/>
            <a:ext cx="5559552" cy="34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Право стран выбирать режим валютного курса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Основные принципы реформы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D256B-9802-4736-947B-FBA9A4F1EA14}"/>
              </a:ext>
            </a:extLst>
          </p:cNvPr>
          <p:cNvSpPr txBox="1"/>
          <p:nvPr/>
        </p:nvSpPr>
        <p:spPr>
          <a:xfrm>
            <a:off x="2877017" y="137248"/>
            <a:ext cx="4523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Что закрепила Ямайская система</a:t>
            </a: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A1550E02-5147-40C0-B25D-CA5D1302B4CE}"/>
              </a:ext>
            </a:extLst>
          </p:cNvPr>
          <p:cNvSpPr/>
          <p:nvPr/>
        </p:nvSpPr>
        <p:spPr>
          <a:xfrm>
            <a:off x="5586865" y="3694811"/>
            <a:ext cx="5468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Сохранение надзорной функции МВФ</a:t>
            </a: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22D01AED-D390-4F14-8C62-285EDEAA3D08}"/>
              </a:ext>
            </a:extLst>
          </p:cNvPr>
          <p:cNvSpPr/>
          <p:nvPr/>
        </p:nvSpPr>
        <p:spPr>
          <a:xfrm>
            <a:off x="5385697" y="3813683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77F0B44-1842-4011-B300-5A0F3CBAA1E7}"/>
              </a:ext>
            </a:extLst>
          </p:cNvPr>
          <p:cNvSpPr/>
          <p:nvPr/>
        </p:nvSpPr>
        <p:spPr>
          <a:xfrm>
            <a:off x="5605270" y="5078004"/>
            <a:ext cx="5541147" cy="52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2C14E"/>
                </a:solidFill>
              </a:rPr>
              <a:t>Золото</a:t>
            </a:r>
            <a:r>
              <a:rPr lang="ru-RU" sz="1900" dirty="0">
                <a:solidFill>
                  <a:srgbClr val="F6F8FB"/>
                </a:solidFill>
              </a:rPr>
              <a:t> осталось важным активом, но перестало быть официальной основой системы.</a:t>
            </a:r>
          </a:p>
        </p:txBody>
      </p:sp>
      <p:pic>
        <p:nvPicPr>
          <p:cNvPr id="1026" name="Picture 2" descr="Золотые слитки 99.98 мм ЗлА-2 купить недорого с доставкой , цена 3758 руб">
            <a:extLst>
              <a:ext uri="{FF2B5EF4-FFF2-40B4-BE49-F238E27FC236}">
                <a16:creationId xmlns:a16="http://schemas.microsoft.com/office/drawing/2014/main" id="{B5D4CAD6-2C1C-4AFD-8424-5A2944C4C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65" y="1834105"/>
            <a:ext cx="3721412" cy="372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92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Новая система не отменила </a:t>
            </a:r>
            <a:r>
              <a:rPr lang="ru-RU" sz="2000" dirty="0" err="1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доллароцентричность</a:t>
            </a: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 полностью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D256B-9802-4736-947B-FBA9A4F1EA14}"/>
              </a:ext>
            </a:extLst>
          </p:cNvPr>
          <p:cNvSpPr txBox="1"/>
          <p:nvPr/>
        </p:nvSpPr>
        <p:spPr>
          <a:xfrm>
            <a:off x="2877017" y="137248"/>
            <a:ext cx="4523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Роль доллара США и СДР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18DF48C-2B69-4E5E-8D07-6CB676E2182C}"/>
              </a:ext>
            </a:extLst>
          </p:cNvPr>
          <p:cNvSpPr/>
          <p:nvPr/>
        </p:nvSpPr>
        <p:spPr>
          <a:xfrm>
            <a:off x="237393" y="1325880"/>
            <a:ext cx="5325207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FB6336C2-C315-4456-AF3F-6D208E3EBDC3}"/>
              </a:ext>
            </a:extLst>
          </p:cNvPr>
          <p:cNvSpPr/>
          <p:nvPr/>
        </p:nvSpPr>
        <p:spPr>
          <a:xfrm>
            <a:off x="5867399" y="1325880"/>
            <a:ext cx="5672327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BD3FE-5BD8-49D2-843F-C2D047917CB5}"/>
              </a:ext>
            </a:extLst>
          </p:cNvPr>
          <p:cNvSpPr txBox="1"/>
          <p:nvPr/>
        </p:nvSpPr>
        <p:spPr>
          <a:xfrm>
            <a:off x="1934408" y="1389097"/>
            <a:ext cx="1885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FFFF"/>
                </a:solidFill>
              </a:rPr>
              <a:t>Доллар США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28754-5BA8-45A0-A14D-FC2A8CAB0B6F}"/>
              </a:ext>
            </a:extLst>
          </p:cNvPr>
          <p:cNvSpPr txBox="1"/>
          <p:nvPr/>
        </p:nvSpPr>
        <p:spPr>
          <a:xfrm>
            <a:off x="1629609" y="134560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2C14E"/>
                </a:solidFill>
              </a:rPr>
              <a:t>$</a:t>
            </a:r>
            <a:endParaRPr lang="ru-RU" sz="3200" dirty="0">
              <a:solidFill>
                <a:srgbClr val="F2C14E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A52BE15-0BCF-43AA-9912-556CE073C45E}"/>
              </a:ext>
            </a:extLst>
          </p:cNvPr>
          <p:cNvSpPr/>
          <p:nvPr/>
        </p:nvSpPr>
        <p:spPr>
          <a:xfrm>
            <a:off x="652274" y="2157147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1DF97F9-201E-4C08-9C02-D2F44D63D489}"/>
              </a:ext>
            </a:extLst>
          </p:cNvPr>
          <p:cNvSpPr/>
          <p:nvPr/>
        </p:nvSpPr>
        <p:spPr>
          <a:xfrm>
            <a:off x="853442" y="2065707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Утратил связь с золотом</a:t>
            </a: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2EF6ECC9-3859-412D-9932-7F24EB7075E2}"/>
              </a:ext>
            </a:extLst>
          </p:cNvPr>
          <p:cNvSpPr/>
          <p:nvPr/>
        </p:nvSpPr>
        <p:spPr>
          <a:xfrm>
            <a:off x="646179" y="2763624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13D2CB0-5A60-4860-A3A0-3159B142310E}"/>
              </a:ext>
            </a:extLst>
          </p:cNvPr>
          <p:cNvSpPr/>
          <p:nvPr/>
        </p:nvSpPr>
        <p:spPr>
          <a:xfrm>
            <a:off x="853442" y="2513762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Сохранил ведущие позиции в расчётах и резервах</a:t>
            </a: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9C3B966-B923-46F2-A922-C35130560A42}"/>
              </a:ext>
            </a:extLst>
          </p:cNvPr>
          <p:cNvSpPr/>
          <p:nvPr/>
        </p:nvSpPr>
        <p:spPr>
          <a:xfrm>
            <a:off x="646179" y="3310014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59F3385-E1F8-48EE-AF3C-A66D4E31BE39}"/>
              </a:ext>
            </a:extLst>
          </p:cNvPr>
          <p:cNvSpPr/>
          <p:nvPr/>
        </p:nvSpPr>
        <p:spPr>
          <a:xfrm>
            <a:off x="853442" y="3093188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Остался центральной валютой мировой системы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308FC4-9393-4CF7-8BEF-22E182D7B079}"/>
              </a:ext>
            </a:extLst>
          </p:cNvPr>
          <p:cNvSpPr txBox="1"/>
          <p:nvPr/>
        </p:nvSpPr>
        <p:spPr>
          <a:xfrm>
            <a:off x="7616477" y="1330169"/>
            <a:ext cx="2856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FFFF"/>
                </a:solidFill>
              </a:rPr>
              <a:t>Специальные права заимствования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E20987-401D-4F3F-A4C0-DCD794D8A6C8}"/>
              </a:ext>
            </a:extLst>
          </p:cNvPr>
          <p:cNvSpPr txBox="1"/>
          <p:nvPr/>
        </p:nvSpPr>
        <p:spPr>
          <a:xfrm>
            <a:off x="6570770" y="1365793"/>
            <a:ext cx="8499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2C14E"/>
                </a:solidFill>
              </a:rPr>
              <a:t>SDR</a:t>
            </a:r>
            <a:endParaRPr lang="ru-RU" sz="3200" dirty="0">
              <a:solidFill>
                <a:srgbClr val="F2C14E"/>
              </a:solidFill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6A6124F-78DF-4201-934F-CC4E4C204C07}"/>
              </a:ext>
            </a:extLst>
          </p:cNvPr>
          <p:cNvSpPr/>
          <p:nvPr/>
        </p:nvSpPr>
        <p:spPr>
          <a:xfrm>
            <a:off x="6576865" y="2157147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771FA069-6D19-4FA5-AFF1-B16811C37FD0}"/>
              </a:ext>
            </a:extLst>
          </p:cNvPr>
          <p:cNvSpPr/>
          <p:nvPr/>
        </p:nvSpPr>
        <p:spPr>
          <a:xfrm>
            <a:off x="6778033" y="2065707"/>
            <a:ext cx="4325112" cy="54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Международный резервный актив, а не обычная валюта</a:t>
            </a: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EBD94ADF-9816-422F-9680-80F0387EA84D}"/>
              </a:ext>
            </a:extLst>
          </p:cNvPr>
          <p:cNvSpPr/>
          <p:nvPr/>
        </p:nvSpPr>
        <p:spPr>
          <a:xfrm>
            <a:off x="6570770" y="2792045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6424BA2-1A5A-4E2D-A1A5-26EB54B76738}"/>
              </a:ext>
            </a:extLst>
          </p:cNvPr>
          <p:cNvSpPr/>
          <p:nvPr/>
        </p:nvSpPr>
        <p:spPr>
          <a:xfrm>
            <a:off x="6778033" y="2609087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Сохранил ведущие позиции в расчётах и резервах</a:t>
            </a: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854D2B98-B867-4A0F-B974-F197BD612E56}"/>
              </a:ext>
            </a:extLst>
          </p:cNvPr>
          <p:cNvSpPr/>
          <p:nvPr/>
        </p:nvSpPr>
        <p:spPr>
          <a:xfrm>
            <a:off x="6570770" y="3367431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C5266B4A-29A9-4EC8-BFDD-7EF9FCF034FE}"/>
              </a:ext>
            </a:extLst>
          </p:cNvPr>
          <p:cNvSpPr/>
          <p:nvPr/>
        </p:nvSpPr>
        <p:spPr>
          <a:xfrm>
            <a:off x="6778033" y="3140961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Остался центральной валютой мировой системы</a:t>
            </a: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D28F9529-2772-433F-AB20-98A7043B73B4}"/>
              </a:ext>
            </a:extLst>
          </p:cNvPr>
          <p:cNvSpPr/>
          <p:nvPr/>
        </p:nvSpPr>
        <p:spPr>
          <a:xfrm>
            <a:off x="6680498" y="5093893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i="1" dirty="0">
                <a:solidFill>
                  <a:srgbClr val="D9E2EC"/>
                </a:solidFill>
              </a:rPr>
              <a:t>Реформа изменила правила системы, но не уничтожила доминирование доллара.</a:t>
            </a:r>
          </a:p>
        </p:txBody>
      </p:sp>
    </p:spTree>
    <p:extLst>
      <p:ext uri="{BB962C8B-B14F-4D97-AF65-F5344CB8AC3E}">
        <p14:creationId xmlns:p14="http://schemas.microsoft.com/office/powerpoint/2010/main" val="2277378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Баланс: больше гибкости — меньше устойчивости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9D256B-9802-4736-947B-FBA9A4F1EA14}"/>
              </a:ext>
            </a:extLst>
          </p:cNvPr>
          <p:cNvSpPr txBox="1"/>
          <p:nvPr/>
        </p:nvSpPr>
        <p:spPr>
          <a:xfrm>
            <a:off x="2877017" y="137248"/>
            <a:ext cx="4962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Плюсы и минусы Ямайской системы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D18DF48C-2B69-4E5E-8D07-6CB676E2182C}"/>
              </a:ext>
            </a:extLst>
          </p:cNvPr>
          <p:cNvSpPr/>
          <p:nvPr/>
        </p:nvSpPr>
        <p:spPr>
          <a:xfrm>
            <a:off x="237393" y="1325880"/>
            <a:ext cx="5325207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FB6336C2-C315-4456-AF3F-6D208E3EBDC3}"/>
              </a:ext>
            </a:extLst>
          </p:cNvPr>
          <p:cNvSpPr/>
          <p:nvPr/>
        </p:nvSpPr>
        <p:spPr>
          <a:xfrm>
            <a:off x="5867399" y="1325880"/>
            <a:ext cx="5672327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BD3FE-5BD8-49D2-843F-C2D047917CB5}"/>
              </a:ext>
            </a:extLst>
          </p:cNvPr>
          <p:cNvSpPr txBox="1"/>
          <p:nvPr/>
        </p:nvSpPr>
        <p:spPr>
          <a:xfrm>
            <a:off x="2240381" y="1398212"/>
            <a:ext cx="1197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FFFF"/>
                </a:solidFill>
              </a:rPr>
              <a:t>Плюсы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28754-5BA8-45A0-A14D-FC2A8CAB0B6F}"/>
              </a:ext>
            </a:extLst>
          </p:cNvPr>
          <p:cNvSpPr txBox="1"/>
          <p:nvPr/>
        </p:nvSpPr>
        <p:spPr>
          <a:xfrm>
            <a:off x="1975288" y="1328444"/>
            <a:ext cx="3367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F2C14E"/>
                </a:solidFill>
              </a:rPr>
              <a:t>+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CA52BE15-0BCF-43AA-9912-556CE073C45E}"/>
              </a:ext>
            </a:extLst>
          </p:cNvPr>
          <p:cNvSpPr/>
          <p:nvPr/>
        </p:nvSpPr>
        <p:spPr>
          <a:xfrm>
            <a:off x="652274" y="2157147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B1DF97F9-201E-4C08-9C02-D2F44D63D489}"/>
              </a:ext>
            </a:extLst>
          </p:cNvPr>
          <p:cNvSpPr/>
          <p:nvPr/>
        </p:nvSpPr>
        <p:spPr>
          <a:xfrm>
            <a:off x="853442" y="2065707"/>
            <a:ext cx="4325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Гибкость валютной политики</a:t>
            </a: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2EF6ECC9-3859-412D-9932-7F24EB7075E2}"/>
              </a:ext>
            </a:extLst>
          </p:cNvPr>
          <p:cNvSpPr/>
          <p:nvPr/>
        </p:nvSpPr>
        <p:spPr>
          <a:xfrm>
            <a:off x="646179" y="2763624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13D2CB0-5A60-4860-A3A0-3159B142310E}"/>
              </a:ext>
            </a:extLst>
          </p:cNvPr>
          <p:cNvSpPr/>
          <p:nvPr/>
        </p:nvSpPr>
        <p:spPr>
          <a:xfrm>
            <a:off x="853442" y="2513762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Возможность выбирать подходящий режим курса</a:t>
            </a:r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9C3B966-B923-46F2-A922-C35130560A42}"/>
              </a:ext>
            </a:extLst>
          </p:cNvPr>
          <p:cNvSpPr/>
          <p:nvPr/>
        </p:nvSpPr>
        <p:spPr>
          <a:xfrm>
            <a:off x="646179" y="3310014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559F3385-E1F8-48EE-AF3C-A66D4E31BE39}"/>
              </a:ext>
            </a:extLst>
          </p:cNvPr>
          <p:cNvSpPr/>
          <p:nvPr/>
        </p:nvSpPr>
        <p:spPr>
          <a:xfrm>
            <a:off x="853442" y="3093188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Отказ от жёсткой привязки к золоту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C308FC4-9393-4CF7-8BEF-22E182D7B079}"/>
              </a:ext>
            </a:extLst>
          </p:cNvPr>
          <p:cNvSpPr txBox="1"/>
          <p:nvPr/>
        </p:nvSpPr>
        <p:spPr>
          <a:xfrm>
            <a:off x="8271797" y="1325880"/>
            <a:ext cx="1397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FFFFFF"/>
                </a:solidFill>
              </a:rPr>
              <a:t>Минусы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E20987-401D-4F3F-A4C0-DCD794D8A6C8}"/>
              </a:ext>
            </a:extLst>
          </p:cNvPr>
          <p:cNvSpPr txBox="1"/>
          <p:nvPr/>
        </p:nvSpPr>
        <p:spPr>
          <a:xfrm>
            <a:off x="8089062" y="1235230"/>
            <a:ext cx="1515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rgbClr val="F2C14E"/>
                </a:solidFill>
              </a:rPr>
              <a:t>-</a:t>
            </a: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6A6124F-78DF-4201-934F-CC4E4C204C07}"/>
              </a:ext>
            </a:extLst>
          </p:cNvPr>
          <p:cNvSpPr/>
          <p:nvPr/>
        </p:nvSpPr>
        <p:spPr>
          <a:xfrm>
            <a:off x="6576865" y="2157147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771FA069-6D19-4FA5-AFF1-B16811C37FD0}"/>
              </a:ext>
            </a:extLst>
          </p:cNvPr>
          <p:cNvSpPr/>
          <p:nvPr/>
        </p:nvSpPr>
        <p:spPr>
          <a:xfrm>
            <a:off x="6778033" y="2065707"/>
            <a:ext cx="4325112" cy="253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Рост волатильности валютных курсов</a:t>
            </a:r>
          </a:p>
        </p:txBody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EBD94ADF-9816-422F-9680-80F0387EA84D}"/>
              </a:ext>
            </a:extLst>
          </p:cNvPr>
          <p:cNvSpPr/>
          <p:nvPr/>
        </p:nvSpPr>
        <p:spPr>
          <a:xfrm>
            <a:off x="6570770" y="2514374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6424BA2-1A5A-4E2D-A1A5-26EB54B76738}"/>
              </a:ext>
            </a:extLst>
          </p:cNvPr>
          <p:cNvSpPr/>
          <p:nvPr/>
        </p:nvSpPr>
        <p:spPr>
          <a:xfrm>
            <a:off x="6778033" y="2401338"/>
            <a:ext cx="4325112" cy="316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Сохранение зависимости от доллара США</a:t>
            </a:r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854D2B98-B867-4A0F-B974-F197BD612E56}"/>
              </a:ext>
            </a:extLst>
          </p:cNvPr>
          <p:cNvSpPr/>
          <p:nvPr/>
        </p:nvSpPr>
        <p:spPr>
          <a:xfrm>
            <a:off x="6570770" y="2816737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C5266B4A-29A9-4EC8-BFDD-7EF9FCF034FE}"/>
              </a:ext>
            </a:extLst>
          </p:cNvPr>
          <p:cNvSpPr/>
          <p:nvPr/>
        </p:nvSpPr>
        <p:spPr>
          <a:xfrm>
            <a:off x="6778033" y="2731512"/>
            <a:ext cx="4325112" cy="255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СДР не стали главным резервным активом</a:t>
            </a: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59AB12EC-1F33-4283-85C1-2609EA9F28E0}"/>
              </a:ext>
            </a:extLst>
          </p:cNvPr>
          <p:cNvSpPr/>
          <p:nvPr/>
        </p:nvSpPr>
        <p:spPr>
          <a:xfrm>
            <a:off x="646179" y="3746676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14061D17-CEEE-4A69-AC3D-B1BC55B0E7A5}"/>
              </a:ext>
            </a:extLst>
          </p:cNvPr>
          <p:cNvSpPr/>
          <p:nvPr/>
        </p:nvSpPr>
        <p:spPr>
          <a:xfrm>
            <a:off x="853442" y="3529850"/>
            <a:ext cx="4325112" cy="543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Лучшая адаптация к изменениям мировой экономики</a:t>
            </a: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A0AF842-3722-43A2-9B42-9A641995BE68}"/>
              </a:ext>
            </a:extLst>
          </p:cNvPr>
          <p:cNvSpPr/>
          <p:nvPr/>
        </p:nvSpPr>
        <p:spPr>
          <a:xfrm>
            <a:off x="6778033" y="3051551"/>
            <a:ext cx="4325112" cy="255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80" dirty="0">
                <a:solidFill>
                  <a:srgbClr val="F6F8FB"/>
                </a:solidFill>
              </a:rPr>
              <a:t>Валютные и финансовые кризисы не исчезли.</a:t>
            </a: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4F5DBAB9-ADFC-488F-A914-7E6AF63355BD}"/>
              </a:ext>
            </a:extLst>
          </p:cNvPr>
          <p:cNvSpPr/>
          <p:nvPr/>
        </p:nvSpPr>
        <p:spPr>
          <a:xfrm>
            <a:off x="6570770" y="3112880"/>
            <a:ext cx="109728" cy="109728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86077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6CFF8157-5DF3-400F-9557-CD24E36618B5}"/>
              </a:ext>
            </a:extLst>
          </p:cNvPr>
          <p:cNvSpPr/>
          <p:nvPr/>
        </p:nvSpPr>
        <p:spPr>
          <a:xfrm>
            <a:off x="838200" y="1308295"/>
            <a:ext cx="6400800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86B9F23-409E-49F9-916C-CC832A04CC3E}"/>
              </a:ext>
            </a:extLst>
          </p:cNvPr>
          <p:cNvSpPr/>
          <p:nvPr/>
        </p:nvSpPr>
        <p:spPr>
          <a:xfrm>
            <a:off x="1084971" y="1920240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88C796-7097-45D0-BF7B-5995B8E783B7}"/>
              </a:ext>
            </a:extLst>
          </p:cNvPr>
          <p:cNvSpPr/>
          <p:nvPr/>
        </p:nvSpPr>
        <p:spPr>
          <a:xfrm>
            <a:off x="1286139" y="1643811"/>
            <a:ext cx="5559552" cy="66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Валютные курсы по-прежнему подвержены сильным колебаниям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B2E501D-DA23-43F1-B770-B479065D1FC0}"/>
              </a:ext>
            </a:extLst>
          </p:cNvPr>
          <p:cNvSpPr/>
          <p:nvPr/>
        </p:nvSpPr>
        <p:spPr>
          <a:xfrm>
            <a:off x="1084971" y="2595050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EDDBA6-B298-42A5-AC96-8ECDA83F8BE2}"/>
              </a:ext>
            </a:extLst>
          </p:cNvPr>
          <p:cNvSpPr/>
          <p:nvPr/>
        </p:nvSpPr>
        <p:spPr>
          <a:xfrm>
            <a:off x="1286139" y="2338087"/>
            <a:ext cx="5559552" cy="57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rgbClr val="F6F8FB"/>
                </a:solidFill>
              </a:rPr>
              <a:t>Доллар остаётся доминирующей мировой валютой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99C156-5C3C-4FEE-9B13-1DD9C0785363}"/>
              </a:ext>
            </a:extLst>
          </p:cNvPr>
          <p:cNvSpPr/>
          <p:nvPr/>
        </p:nvSpPr>
        <p:spPr>
          <a:xfrm>
            <a:off x="1084971" y="3168193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1203FD-97C8-4622-AF3B-B6AAA652E7C7}"/>
              </a:ext>
            </a:extLst>
          </p:cNvPr>
          <p:cNvSpPr/>
          <p:nvPr/>
        </p:nvSpPr>
        <p:spPr>
          <a:xfrm>
            <a:off x="1286139" y="2940042"/>
            <a:ext cx="5559552" cy="57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Вопрос о реформировании международной валютной системы остаётся открытым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939BB35-DB59-4E9B-9781-03329F9260A8}"/>
              </a:ext>
            </a:extLst>
          </p:cNvPr>
          <p:cNvSpPr/>
          <p:nvPr/>
        </p:nvSpPr>
        <p:spPr>
          <a:xfrm>
            <a:off x="1084971" y="3759389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D363FA-86F0-40AE-BE9E-60B39D1BD874}"/>
              </a:ext>
            </a:extLst>
          </p:cNvPr>
          <p:cNvSpPr/>
          <p:nvPr/>
        </p:nvSpPr>
        <p:spPr>
          <a:xfrm>
            <a:off x="1286139" y="3574486"/>
            <a:ext cx="5559552" cy="57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Обсуждаются усиление роли СДР и развитие более </a:t>
            </a:r>
            <a:r>
              <a:rPr lang="ru-RU" sz="1900" dirty="0" err="1">
                <a:solidFill>
                  <a:srgbClr val="F6F8FB"/>
                </a:solidFill>
              </a:rPr>
              <a:t>многовалютной</a:t>
            </a:r>
            <a:r>
              <a:rPr lang="ru-RU" sz="1900" dirty="0">
                <a:solidFill>
                  <a:srgbClr val="F6F8FB"/>
                </a:solidFill>
              </a:rPr>
              <a:t> модели</a:t>
            </a: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3492C1CB-806A-4487-AAF0-EAE9A18205C6}"/>
              </a:ext>
            </a:extLst>
          </p:cNvPr>
          <p:cNvSpPr/>
          <p:nvPr/>
        </p:nvSpPr>
        <p:spPr>
          <a:xfrm>
            <a:off x="658367" y="547937"/>
            <a:ext cx="10881359" cy="430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Актуальность сегодня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658368" y="1005840"/>
            <a:ext cx="1088136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58FE217A-0874-44FE-B0F4-0ED59EEFF77A}"/>
              </a:ext>
            </a:extLst>
          </p:cNvPr>
          <p:cNvSpPr/>
          <p:nvPr/>
        </p:nvSpPr>
        <p:spPr>
          <a:xfrm>
            <a:off x="7452360" y="4315968"/>
            <a:ext cx="4023360" cy="1536192"/>
          </a:xfrm>
          <a:prstGeom prst="roundRect">
            <a:avLst/>
          </a:prstGeom>
          <a:solidFill>
            <a:srgbClr val="10253B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EE8D97E7-5AB1-4363-93FD-A03EDD114F5F}"/>
              </a:ext>
            </a:extLst>
          </p:cNvPr>
          <p:cNvSpPr/>
          <p:nvPr/>
        </p:nvSpPr>
        <p:spPr>
          <a:xfrm>
            <a:off x="772668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F2C14E"/>
                </a:solidFill>
              </a:rPr>
              <a:t>Вывод</a:t>
            </a:r>
            <a:endParaRPr lang="en-US" sz="1300" dirty="0">
              <a:solidFill>
                <a:srgbClr val="F2C14E"/>
              </a:solidFill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6E9D010-8FAF-41DB-A881-6B2F0323B9B4}"/>
              </a:ext>
            </a:extLst>
          </p:cNvPr>
          <p:cNvSpPr/>
          <p:nvPr/>
        </p:nvSpPr>
        <p:spPr>
          <a:xfrm>
            <a:off x="7726680" y="48828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550" dirty="0">
                <a:solidFill>
                  <a:srgbClr val="F6F8FB"/>
                </a:solidFill>
              </a:rPr>
              <a:t>Ямайская система не решила все проблемы, но остаётся базой международных валютных отношений.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F0F093-C0F0-4A48-A266-3C8F8C1D8AC9}"/>
              </a:ext>
            </a:extLst>
          </p:cNvPr>
          <p:cNvSpPr txBox="1"/>
          <p:nvPr/>
        </p:nvSpPr>
        <p:spPr>
          <a:xfrm>
            <a:off x="3263851" y="33641"/>
            <a:ext cx="4462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Современное значение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95003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6CFF8157-5DF3-400F-9557-CD24E36618B5}"/>
              </a:ext>
            </a:extLst>
          </p:cNvPr>
          <p:cNvSpPr/>
          <p:nvPr/>
        </p:nvSpPr>
        <p:spPr>
          <a:xfrm>
            <a:off x="594360" y="905053"/>
            <a:ext cx="10881359" cy="4526280"/>
          </a:xfrm>
          <a:prstGeom prst="roundRect">
            <a:avLst/>
          </a:prstGeom>
          <a:solidFill>
            <a:srgbClr val="13283E"/>
          </a:solidFill>
          <a:ln w="12700">
            <a:solidFill>
              <a:srgbClr val="2A4258"/>
            </a:solidFill>
            <a:prstDash val="solid"/>
          </a:ln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86B9F23-409E-49F9-916C-CC832A04CC3E}"/>
              </a:ext>
            </a:extLst>
          </p:cNvPr>
          <p:cNvSpPr/>
          <p:nvPr/>
        </p:nvSpPr>
        <p:spPr>
          <a:xfrm>
            <a:off x="1084971" y="1917268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988C796-7097-45D0-BF7B-5995B8E783B7}"/>
              </a:ext>
            </a:extLst>
          </p:cNvPr>
          <p:cNvSpPr/>
          <p:nvPr/>
        </p:nvSpPr>
        <p:spPr>
          <a:xfrm>
            <a:off x="1286139" y="1756393"/>
            <a:ext cx="10096234" cy="391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Ямайская система появилась как ответ на кризис Бреттон-</a:t>
            </a:r>
            <a:r>
              <a:rPr lang="ru-RU" sz="1900" dirty="0" err="1">
                <a:solidFill>
                  <a:srgbClr val="F6F8FB"/>
                </a:solidFill>
              </a:rPr>
              <a:t>Вудской</a:t>
            </a:r>
            <a:r>
              <a:rPr lang="ru-RU" sz="1900" dirty="0">
                <a:solidFill>
                  <a:srgbClr val="F6F8FB"/>
                </a:solidFill>
              </a:rPr>
              <a:t> модели.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B2E501D-DA23-43F1-B770-B479065D1FC0}"/>
              </a:ext>
            </a:extLst>
          </p:cNvPr>
          <p:cNvSpPr/>
          <p:nvPr/>
        </p:nvSpPr>
        <p:spPr>
          <a:xfrm>
            <a:off x="1084971" y="2482197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EDDBA6-B298-42A5-AC96-8ECDA83F8BE2}"/>
              </a:ext>
            </a:extLst>
          </p:cNvPr>
          <p:cNvSpPr/>
          <p:nvPr/>
        </p:nvSpPr>
        <p:spPr>
          <a:xfrm>
            <a:off x="1286139" y="2341168"/>
            <a:ext cx="10096236" cy="391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dirty="0">
                <a:solidFill>
                  <a:srgbClr val="F6F8FB"/>
                </a:solidFill>
              </a:rPr>
              <a:t>Она закрепила отказ от золотодолларового стандарта и большую гибкость валютных курсов.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699C156-5C3C-4FEE-9B13-1DD9C0785363}"/>
              </a:ext>
            </a:extLst>
          </p:cNvPr>
          <p:cNvSpPr/>
          <p:nvPr/>
        </p:nvSpPr>
        <p:spPr>
          <a:xfrm>
            <a:off x="1084972" y="3061080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B1203FD-97C8-4622-AF3B-B6AAA652E7C7}"/>
              </a:ext>
            </a:extLst>
          </p:cNvPr>
          <p:cNvSpPr/>
          <p:nvPr/>
        </p:nvSpPr>
        <p:spPr>
          <a:xfrm>
            <a:off x="1286139" y="2925943"/>
            <a:ext cx="10096235" cy="38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МВФ сохранил ключевую роль, а СДР усилили значение как резервный актив.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939BB35-DB59-4E9B-9781-03329F9260A8}"/>
              </a:ext>
            </a:extLst>
          </p:cNvPr>
          <p:cNvSpPr/>
          <p:nvPr/>
        </p:nvSpPr>
        <p:spPr>
          <a:xfrm>
            <a:off x="1083065" y="3667043"/>
            <a:ext cx="109728" cy="10972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D363FA-86F0-40AE-BE9E-60B39D1BD874}"/>
              </a:ext>
            </a:extLst>
          </p:cNvPr>
          <p:cNvSpPr/>
          <p:nvPr/>
        </p:nvSpPr>
        <p:spPr>
          <a:xfrm>
            <a:off x="1286139" y="3527755"/>
            <a:ext cx="10096234" cy="380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dirty="0">
                <a:solidFill>
                  <a:srgbClr val="F6F8FB"/>
                </a:solidFill>
              </a:rPr>
              <a:t>При этом система не устранила доминирование доллара и общую валютную нестабильность.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413B22E-A0D4-4E38-966A-39708EAE300E}"/>
              </a:ext>
            </a:extLst>
          </p:cNvPr>
          <p:cNvSpPr/>
          <p:nvPr/>
        </p:nvSpPr>
        <p:spPr>
          <a:xfrm>
            <a:off x="594360" y="638488"/>
            <a:ext cx="10881359" cy="26930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5F04FCA0-0793-47A6-9FD5-5E92079D2DFD}"/>
              </a:ext>
            </a:extLst>
          </p:cNvPr>
          <p:cNvSpPr/>
          <p:nvPr/>
        </p:nvSpPr>
        <p:spPr>
          <a:xfrm>
            <a:off x="0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Финансы, денежное обращение и кредит</a:t>
            </a: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64BE59D8-3237-477C-AA63-D838C48F9CEA}"/>
              </a:ext>
            </a:extLst>
          </p:cNvPr>
          <p:cNvSpPr/>
          <p:nvPr/>
        </p:nvSpPr>
        <p:spPr>
          <a:xfrm>
            <a:off x="8754207" y="6419088"/>
            <a:ext cx="34377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chemeClr val="tx1">
                    <a:lumMod val="75000"/>
                    <a:lumOff val="25000"/>
                  </a:schemeClr>
                </a:solidFill>
                <a:ea typeface="Aptos" pitchFamily="34" charset="-122"/>
                <a:cs typeface="Aptos" pitchFamily="34" charset="-120"/>
              </a:rPr>
              <a:t>Михайлов И.Р. 3-22ПИ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440DE3-970D-4AB4-A676-A519BA7C8E6B}"/>
              </a:ext>
            </a:extLst>
          </p:cNvPr>
          <p:cNvSpPr txBox="1"/>
          <p:nvPr/>
        </p:nvSpPr>
        <p:spPr>
          <a:xfrm>
            <a:off x="4876800" y="905053"/>
            <a:ext cx="1587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F2C14E"/>
                </a:solidFill>
              </a:rPr>
              <a:t>Выводы</a:t>
            </a: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5CFEC852-D158-4058-9613-A3E805A479F7}"/>
              </a:ext>
            </a:extLst>
          </p:cNvPr>
          <p:cNvSpPr/>
          <p:nvPr/>
        </p:nvSpPr>
        <p:spPr>
          <a:xfrm flipV="1">
            <a:off x="594360" y="5794131"/>
            <a:ext cx="10881359" cy="7672"/>
          </a:xfrm>
          <a:prstGeom prst="line">
            <a:avLst/>
          </a:prstGeom>
          <a:noFill/>
          <a:ln w="12700">
            <a:solidFill>
              <a:srgbClr val="D9A44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20865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960</Words>
  <Application>Microsoft Office PowerPoint</Application>
  <PresentationFormat>Широкоэкранный</PresentationFormat>
  <Paragraphs>102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Ямайская денежная система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Ямайская денежная система</dc:title>
  <dc:creator>Ontirabon</dc:creator>
  <cp:lastModifiedBy>Ontirabon</cp:lastModifiedBy>
  <cp:revision>27</cp:revision>
  <dcterms:created xsi:type="dcterms:W3CDTF">2026-03-09T20:37:26Z</dcterms:created>
  <dcterms:modified xsi:type="dcterms:W3CDTF">2026-03-10T06:11:54Z</dcterms:modified>
</cp:coreProperties>
</file>