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3"/>
  </p:notes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61" r:id="rId9"/>
    <p:sldId id="262" r:id="rId10"/>
    <p:sldId id="263" r:id="rId11"/>
    <p:sldId id="298" r:id="rId12"/>
    <p:sldId id="299" r:id="rId13"/>
    <p:sldId id="300" r:id="rId14"/>
    <p:sldId id="285" r:id="rId15"/>
    <p:sldId id="301" r:id="rId16"/>
    <p:sldId id="302" r:id="rId17"/>
    <p:sldId id="303" r:id="rId18"/>
    <p:sldId id="286" r:id="rId19"/>
    <p:sldId id="287" r:id="rId20"/>
    <p:sldId id="288" r:id="rId21"/>
    <p:sldId id="289" r:id="rId22"/>
    <p:sldId id="291" r:id="rId23"/>
    <p:sldId id="305" r:id="rId24"/>
    <p:sldId id="306" r:id="rId25"/>
    <p:sldId id="290" r:id="rId26"/>
    <p:sldId id="293" r:id="rId27"/>
    <p:sldId id="264" r:id="rId28"/>
    <p:sldId id="315" r:id="rId29"/>
    <p:sldId id="31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ACEFF-1655-4451-BCDC-EA94DE9ED878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4E5EF-C9DA-43C3-B44A-40BFA1399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17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CCC3E-E794-4ADE-BD76-7CE76AC1D859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8F11E-6787-4431-94C2-29E2B73CE06A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380307522"/>
      </p:ext>
    </p:extLst>
  </p:cSld>
  <p:clrMapOvr>
    <a:masterClrMapping/>
  </p:clrMapOvr>
  <p:transition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05.03.2025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Финансовая система страны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1. Финансовая система страны, ее сферы и звенья</a:t>
            </a:r>
          </a:p>
          <a:p>
            <a:r>
              <a:rPr lang="ru-RU" dirty="0"/>
              <a:t>2.Финансовая политика государства. </a:t>
            </a:r>
          </a:p>
        </p:txBody>
      </p:sp>
    </p:spTree>
    <p:extLst>
      <p:ext uri="{BB962C8B-B14F-4D97-AF65-F5344CB8AC3E}">
        <p14:creationId xmlns:p14="http://schemas.microsoft.com/office/powerpoint/2010/main" val="134396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332656"/>
            <a:ext cx="8363272" cy="5865515"/>
          </a:xfrm>
        </p:spPr>
        <p:txBody>
          <a:bodyPr>
            <a:normAutofit/>
          </a:bodyPr>
          <a:lstStyle/>
          <a:p>
            <a:pPr indent="457200" algn="just">
              <a:spcAft>
                <a:spcPts val="0"/>
              </a:spcAft>
            </a:pPr>
            <a:r>
              <a:rPr lang="ru-RU" i="1" u="sng" dirty="0">
                <a:latin typeface="Times New Roman"/>
                <a:ea typeface="Times New Roman"/>
              </a:rPr>
              <a:t>финансовая система</a:t>
            </a:r>
            <a:r>
              <a:rPr lang="ru-RU" dirty="0">
                <a:latin typeface="Times New Roman"/>
                <a:ea typeface="Times New Roman"/>
              </a:rPr>
              <a:t> – </a:t>
            </a:r>
            <a:r>
              <a:rPr lang="ru-RU" i="1" dirty="0">
                <a:latin typeface="Times New Roman"/>
                <a:ea typeface="Times New Roman"/>
              </a:rPr>
              <a:t>это совокупность различных сфер финансовых отношений, каждая из которых формирует систему специфических форм и методов образования, распределения, и использования фондов денежных средств государства и предприятий.</a:t>
            </a:r>
            <a:endParaRPr lang="ru-RU" dirty="0">
              <a:latin typeface="Times New Roman"/>
              <a:ea typeface="Times New Roman"/>
            </a:endParaRPr>
          </a:p>
          <a:p>
            <a:pPr marL="0" indent="0">
              <a:buNone/>
            </a:pPr>
            <a:r>
              <a:rPr lang="ru-RU" dirty="0"/>
              <a:t>Каждое </a:t>
            </a:r>
            <a:r>
              <a:rPr lang="ru-RU" u="sng" dirty="0"/>
              <a:t>звено финансовой системы </a:t>
            </a:r>
            <a:r>
              <a:rPr lang="ru-RU" dirty="0"/>
              <a:t>– это достаточно самостоятельная, относительно обособленная группа финансовых отношений, отличающаяся от других специфическими методами и формами образования и использования денежных фондов и доходов.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804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87624" y="476672"/>
            <a:ext cx="6563072" cy="1872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Финансовая система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68720" y="2924944"/>
            <a:ext cx="3744416" cy="864096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Централизованные финансы (государственные и муниципальные финансы)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788024" y="2924944"/>
            <a:ext cx="3960440" cy="864096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Децентрализованные финансы (финансы организаций и домашних хозяйств)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4149080"/>
            <a:ext cx="1512168" cy="1296144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Бюджет (система бюджетов)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340928" y="4168496"/>
            <a:ext cx="2016224" cy="1296144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Внебюджетный фонд (система внебюджетных фондов)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36772" y="5576680"/>
            <a:ext cx="2520280" cy="1296144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Государственные финансовые резервы и резервные фонды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796024" y="4168496"/>
            <a:ext cx="1800200" cy="648072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Финансы организаций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948264" y="4149080"/>
            <a:ext cx="1728192" cy="936104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Финансы домашних хозяйств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811959" y="5333216"/>
            <a:ext cx="1391081" cy="1512168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Финансы коммерческих организаций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6264188" y="5333216"/>
            <a:ext cx="1368152" cy="1512168"/>
          </a:xfrm>
          <a:prstGeom prst="rect">
            <a:avLst/>
          </a:prstGeom>
          <a:solidFill>
            <a:srgbClr val="F07F09"/>
          </a:solidFill>
          <a:ln w="42500" cap="flat" cmpd="sng" algn="ctr">
            <a:solidFill>
              <a:srgbClr val="F07F0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rPr>
              <a:t>Финансы некоммерческих организаций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 flipH="1">
            <a:off x="5234265" y="4869160"/>
            <a:ext cx="443513" cy="43204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16" name="Прямая со стрелкой 15"/>
          <p:cNvCxnSpPr/>
          <p:nvPr/>
        </p:nvCxnSpPr>
        <p:spPr>
          <a:xfrm flipH="1">
            <a:off x="5100595" y="3789040"/>
            <a:ext cx="443513" cy="43204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17" name="Прямая со стрелкой 16"/>
          <p:cNvCxnSpPr/>
          <p:nvPr/>
        </p:nvCxnSpPr>
        <p:spPr>
          <a:xfrm flipH="1">
            <a:off x="1502467" y="3778744"/>
            <a:ext cx="443513" cy="43204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1" name="Прямая со стрелкой 20"/>
          <p:cNvCxnSpPr/>
          <p:nvPr/>
        </p:nvCxnSpPr>
        <p:spPr>
          <a:xfrm>
            <a:off x="2196912" y="3609020"/>
            <a:ext cx="0" cy="2016224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2" name="Прямая со стрелкой 21"/>
          <p:cNvCxnSpPr/>
          <p:nvPr/>
        </p:nvCxnSpPr>
        <p:spPr>
          <a:xfrm>
            <a:off x="6840252" y="3717032"/>
            <a:ext cx="972108" cy="43204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3" name="Прямая со стрелкой 22"/>
          <p:cNvCxnSpPr/>
          <p:nvPr/>
        </p:nvCxnSpPr>
        <p:spPr>
          <a:xfrm>
            <a:off x="2862986" y="3789048"/>
            <a:ext cx="972108" cy="43204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4" name="Прямая со стрелкой 23"/>
          <p:cNvCxnSpPr/>
          <p:nvPr/>
        </p:nvCxnSpPr>
        <p:spPr>
          <a:xfrm>
            <a:off x="5868144" y="4825720"/>
            <a:ext cx="972108" cy="43204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5" name="Прямая со стрелкой 24"/>
          <p:cNvCxnSpPr/>
          <p:nvPr/>
        </p:nvCxnSpPr>
        <p:spPr>
          <a:xfrm>
            <a:off x="5868144" y="2420888"/>
            <a:ext cx="972108" cy="43204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6" name="Прямая со стрелкой 25"/>
          <p:cNvCxnSpPr/>
          <p:nvPr/>
        </p:nvCxnSpPr>
        <p:spPr>
          <a:xfrm flipH="1">
            <a:off x="2121021" y="2379196"/>
            <a:ext cx="2065303" cy="50405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58957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28616"/>
            <a:ext cx="6097488" cy="504056"/>
          </a:xfrm>
        </p:spPr>
        <p:txBody>
          <a:bodyPr/>
          <a:lstStyle/>
          <a:p>
            <a:pPr algn="ctr"/>
            <a:r>
              <a:rPr lang="ru-RU" sz="2000" i="1" u="sng" dirty="0"/>
              <a:t>Состав финансовой системы РФ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692696"/>
            <a:ext cx="7681664" cy="5708104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ru-RU" i="1" u="sng" dirty="0"/>
              <a:t>Состав финансовой системы РФ</a:t>
            </a:r>
            <a:r>
              <a:rPr lang="ru-RU" dirty="0"/>
              <a:t> в настоящее время имеет следующий вид.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Государственные финансы – </a:t>
            </a:r>
          </a:p>
          <a:p>
            <a:pPr lvl="0"/>
            <a:r>
              <a:rPr lang="ru-RU" dirty="0"/>
              <a:t>государственный бюджет, оформленный как бюджетная система;</a:t>
            </a:r>
          </a:p>
          <a:p>
            <a:pPr lvl="0"/>
            <a:r>
              <a:rPr lang="ru-RU" dirty="0"/>
              <a:t>система внебюджетных фондов;</a:t>
            </a:r>
          </a:p>
          <a:p>
            <a:pPr lvl="0"/>
            <a:r>
              <a:rPr lang="ru-RU" dirty="0"/>
              <a:t>государственный кредит.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Финансы предприятий и организаций–</a:t>
            </a:r>
          </a:p>
          <a:p>
            <a:pPr lvl="0"/>
            <a:r>
              <a:rPr lang="ru-RU" u="sng" dirty="0"/>
              <a:t>финансы</a:t>
            </a:r>
            <a:r>
              <a:rPr lang="ru-RU" dirty="0"/>
              <a:t> предприятий </a:t>
            </a:r>
            <a:r>
              <a:rPr lang="ru-RU" u="sng" dirty="0"/>
              <a:t>материального производства </a:t>
            </a:r>
            <a:r>
              <a:rPr lang="ru-RU" dirty="0"/>
              <a:t>(сфера производства товарно-материальных ценностей);</a:t>
            </a:r>
          </a:p>
          <a:p>
            <a:pPr lvl="0"/>
            <a:r>
              <a:rPr lang="ru-RU" u="sng" dirty="0"/>
              <a:t>финансы</a:t>
            </a:r>
            <a:r>
              <a:rPr lang="ru-RU" dirty="0"/>
              <a:t> предприятий, организаций и учреждений </a:t>
            </a:r>
            <a:r>
              <a:rPr lang="ru-RU" u="sng" dirty="0"/>
              <a:t>нематериального производства </a:t>
            </a:r>
            <a:r>
              <a:rPr lang="ru-RU" dirty="0"/>
              <a:t>(сфера услуг);</a:t>
            </a:r>
          </a:p>
          <a:p>
            <a:pPr lvl="0"/>
            <a:r>
              <a:rPr lang="ru-RU" u="sng" dirty="0"/>
              <a:t>финансы</a:t>
            </a:r>
            <a:r>
              <a:rPr lang="ru-RU" dirty="0"/>
              <a:t> учреждений и организаций </a:t>
            </a:r>
            <a:r>
              <a:rPr lang="ru-RU" u="sng" dirty="0"/>
              <a:t>непроизводственной сферы (</a:t>
            </a:r>
            <a:r>
              <a:rPr lang="ru-RU" dirty="0"/>
              <a:t>социальная сфера);</a:t>
            </a:r>
          </a:p>
          <a:p>
            <a:pPr lvl="0"/>
            <a:r>
              <a:rPr lang="ru-RU" dirty="0"/>
              <a:t>финансы общественных объединений и организаций.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Страхование – </a:t>
            </a:r>
          </a:p>
          <a:p>
            <a:pPr lvl="0"/>
            <a:r>
              <a:rPr lang="ru-RU" dirty="0"/>
              <a:t>самострахование;</a:t>
            </a:r>
          </a:p>
          <a:p>
            <a:pPr lvl="0"/>
            <a:r>
              <a:rPr lang="ru-RU" dirty="0"/>
              <a:t>государственное страхование;</a:t>
            </a:r>
          </a:p>
          <a:p>
            <a:pPr lvl="0"/>
            <a:r>
              <a:rPr lang="ru-RU" dirty="0"/>
              <a:t>коммерческое страхование.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Финансы домашних хозяйств.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570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16632"/>
            <a:ext cx="7753672" cy="628416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Структура федеральных финансовых органов управления определяется указом Президента РФ. </a:t>
            </a:r>
          </a:p>
          <a:p>
            <a:pPr marL="114300" indent="0">
              <a:buNone/>
            </a:pPr>
            <a:r>
              <a:rPr lang="ru-RU" dirty="0"/>
              <a:t>К </a:t>
            </a:r>
            <a:r>
              <a:rPr lang="ru-RU" i="1" u="sng" dirty="0"/>
              <a:t>органам государственного управления финансами  относят</a:t>
            </a:r>
            <a:r>
              <a:rPr lang="ru-RU" u="sng" dirty="0"/>
              <a:t>:</a:t>
            </a:r>
            <a:endParaRPr lang="ru-RU" dirty="0"/>
          </a:p>
          <a:p>
            <a:pPr marL="114300" indent="0">
              <a:buNone/>
            </a:pPr>
            <a:r>
              <a:rPr lang="ru-RU" dirty="0"/>
              <a:t>1. Государственные органы власти, осуществляющие общее управление финансами:</a:t>
            </a:r>
          </a:p>
          <a:p>
            <a:pPr lvl="0"/>
            <a:r>
              <a:rPr lang="ru-RU" dirty="0"/>
              <a:t>Президента РФ (администрацию Президента);</a:t>
            </a:r>
          </a:p>
          <a:p>
            <a:pPr lvl="0"/>
            <a:r>
              <a:rPr lang="ru-RU" dirty="0"/>
              <a:t>Парламент РФ (Федеральное Собрание, состоящее из двух палат: Совета Федерации и Государственной Думы);</a:t>
            </a:r>
          </a:p>
          <a:p>
            <a:pPr lvl="0"/>
            <a:r>
              <a:rPr lang="ru-RU" dirty="0"/>
              <a:t>Правительство РФ как единый центр управления финансами.</a:t>
            </a:r>
          </a:p>
          <a:p>
            <a:pPr marL="114300" indent="0">
              <a:buNone/>
            </a:pPr>
            <a:r>
              <a:rPr lang="ru-RU" dirty="0"/>
              <a:t>2. Органы государственного управления финансами министерского уровня:</a:t>
            </a:r>
          </a:p>
          <a:p>
            <a:pPr lvl="0"/>
            <a:r>
              <a:rPr lang="ru-RU" dirty="0"/>
              <a:t>Министерство финансов РФ;</a:t>
            </a:r>
          </a:p>
          <a:p>
            <a:pPr lvl="0"/>
            <a:r>
              <a:rPr lang="ru-RU" dirty="0"/>
              <a:t>Федеральная налоговая служба(ФНС России);</a:t>
            </a:r>
          </a:p>
          <a:p>
            <a:pPr lvl="0"/>
            <a:r>
              <a:rPr lang="ru-RU" dirty="0"/>
              <a:t>Федеральная служба страхового надзора (</a:t>
            </a:r>
            <a:r>
              <a:rPr lang="ru-RU" dirty="0" err="1"/>
              <a:t>Росстрахнадзор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Федеральная служба финансово-бюджетного надзора (</a:t>
            </a:r>
            <a:r>
              <a:rPr lang="ru-RU" dirty="0" err="1"/>
              <a:t>Росфиннадзор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Федеральная служба по финансовому мониторингу;</a:t>
            </a:r>
          </a:p>
          <a:p>
            <a:pPr lvl="0"/>
            <a:r>
              <a:rPr lang="ru-RU" dirty="0"/>
              <a:t>Федеральное казначейство;</a:t>
            </a:r>
          </a:p>
          <a:p>
            <a:pPr lvl="0"/>
            <a:r>
              <a:rPr lang="ru-RU" dirty="0"/>
              <a:t>Министерство экономического развития и торговли РФ;</a:t>
            </a:r>
          </a:p>
          <a:p>
            <a:pPr lvl="0"/>
            <a:r>
              <a:rPr lang="ru-RU" dirty="0"/>
              <a:t>Банк России;</a:t>
            </a:r>
          </a:p>
          <a:p>
            <a:pPr lvl="0"/>
            <a:r>
              <a:rPr lang="ru-RU" dirty="0"/>
              <a:t>Счетная палата РФ.</a:t>
            </a:r>
          </a:p>
        </p:txBody>
      </p:sp>
    </p:spTree>
    <p:extLst>
      <p:ext uri="{BB962C8B-B14F-4D97-AF65-F5344CB8AC3E}">
        <p14:creationId xmlns:p14="http://schemas.microsoft.com/office/powerpoint/2010/main" val="312757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88640"/>
            <a:ext cx="7537648" cy="6212160"/>
          </a:xfrm>
        </p:spPr>
        <p:txBody>
          <a:bodyPr>
            <a:normAutofit lnSpcReduction="10000"/>
          </a:bodyPr>
          <a:lstStyle/>
          <a:p>
            <a:r>
              <a:rPr lang="ru-RU" u="sng" dirty="0"/>
              <a:t>Президент РФ </a:t>
            </a:r>
            <a:r>
              <a:rPr lang="ru-RU" dirty="0"/>
              <a:t>регламентирует деятельность финансовой системы, подписывает принятые Парламентом РФ  законы, в </a:t>
            </a:r>
            <a:r>
              <a:rPr lang="ru-RU" dirty="0" err="1"/>
              <a:t>т.ч</a:t>
            </a:r>
            <a:r>
              <a:rPr lang="ru-RU" dirty="0"/>
              <a:t>. "О федеральном бюджете на текущий год", имеет право "вето" на все принятые законы.</a:t>
            </a:r>
          </a:p>
          <a:p>
            <a:r>
              <a:rPr lang="ru-RU" u="sng" dirty="0"/>
              <a:t>Парламент РФ </a:t>
            </a:r>
            <a:r>
              <a:rPr lang="ru-RU" dirty="0"/>
              <a:t>устанавливает налоги, сборы, неналоговые платежи, утверждает федеральный бюджет, принимает федеральные законы, регулирующие финансовую деятельность в стране.</a:t>
            </a:r>
          </a:p>
          <a:p>
            <a:r>
              <a:rPr lang="ru-RU" u="sng" dirty="0"/>
              <a:t>Правительство РФ </a:t>
            </a:r>
            <a:r>
              <a:rPr lang="ru-RU" dirty="0"/>
              <a:t>обеспечивает единство всех направлений финансовой политики, рассматривает федеральный бюджет, координирует всю текущую деятельность финансовых исполнительных органов власти РФ.</a:t>
            </a:r>
          </a:p>
          <a:p>
            <a:r>
              <a:rPr lang="ru-RU" u="sng" dirty="0"/>
              <a:t>Министерство финансов РФ</a:t>
            </a:r>
            <a:r>
              <a:rPr lang="ru-RU" dirty="0"/>
              <a:t> является центральным органом исполнительной власти, осуществляющим управление финансами. Оно осуществляет методическое руководство в сфере финансового планирования и финансирования отраслей народного хозяйства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1239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332656"/>
            <a:ext cx="7825680" cy="6068144"/>
          </a:xfrm>
        </p:spPr>
        <p:txBody>
          <a:bodyPr>
            <a:normAutofit fontScale="92500" lnSpcReduction="10000"/>
          </a:bodyPr>
          <a:lstStyle/>
          <a:p>
            <a:r>
              <a:rPr lang="ru-RU" u="sng" dirty="0"/>
              <a:t>Федеральная налоговая служба </a:t>
            </a:r>
            <a:r>
              <a:rPr lang="ru-RU" dirty="0"/>
              <a:t>разрабатывает и проводит единую государственную налоговую политику, осуществляет контроль за правильностью исчисления, полнотой и своевременностью внесения в бюджетные  и внебюджетные фонды налогов, сборов и других платежей</a:t>
            </a:r>
            <a:endParaRPr lang="en-US" dirty="0"/>
          </a:p>
          <a:p>
            <a:r>
              <a:rPr lang="ru-RU" u="sng" dirty="0"/>
              <a:t>Федеральная служба страхового надзора </a:t>
            </a:r>
            <a:r>
              <a:rPr lang="ru-RU" dirty="0"/>
              <a:t>осуществляет функции страхового надзора Минфина РФ.</a:t>
            </a:r>
          </a:p>
          <a:p>
            <a:r>
              <a:rPr lang="ru-RU" u="sng" dirty="0"/>
              <a:t>Федеральная служба финансово-бюджетного надзора </a:t>
            </a:r>
            <a:r>
              <a:rPr lang="ru-RU" dirty="0"/>
              <a:t>(</a:t>
            </a:r>
            <a:r>
              <a:rPr lang="ru-RU" dirty="0" err="1"/>
              <a:t>Росфиннадзор</a:t>
            </a:r>
            <a:r>
              <a:rPr lang="ru-RU" dirty="0"/>
              <a:t>) осуществляет функции по контролю и надзору в бюджетно-финансовой сфере;</a:t>
            </a:r>
          </a:p>
          <a:p>
            <a:r>
              <a:rPr lang="ru-RU" u="sng" dirty="0"/>
              <a:t>Федеральное казначейство </a:t>
            </a:r>
            <a:r>
              <a:rPr lang="ru-RU" dirty="0"/>
              <a:t>осуществляет и организует кассовое исполнение федерального бюджета, контроль за поступлением и расходованием средств бюджета, регулирует отношения между федеральным бюджетом и внебюджетными фондами</a:t>
            </a:r>
          </a:p>
          <a:p>
            <a:r>
              <a:rPr lang="ru-RU" u="sng" dirty="0"/>
              <a:t>Центральный банк РФ (Банк России) </a:t>
            </a:r>
            <a:r>
              <a:rPr lang="ru-RU" dirty="0"/>
              <a:t>совместно с Федеральным казначейством РФ разрабатывает и проводит денежно-кредитную политику</a:t>
            </a:r>
          </a:p>
          <a:p>
            <a:r>
              <a:rPr lang="ru-RU" u="sng" dirty="0"/>
              <a:t>Счетная палата РФ </a:t>
            </a:r>
            <a:r>
              <a:rPr lang="ru-RU" dirty="0"/>
              <a:t>осуществляет парламентский контроль за своевременным исполнением доходных и расходных статей федерального бюджета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537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435280" cy="58655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i="1" u="sng" dirty="0"/>
              <a:t>Состав финансовой системы РФ</a:t>
            </a:r>
            <a:r>
              <a:rPr lang="ru-RU" dirty="0"/>
              <a:t> в настоящее время имеет следующий вид.</a:t>
            </a:r>
          </a:p>
          <a:p>
            <a:pPr lvl="0"/>
            <a:r>
              <a:rPr lang="ru-RU" b="1" dirty="0"/>
              <a:t>Государственные финансы </a:t>
            </a:r>
          </a:p>
          <a:p>
            <a:pPr marL="0" lvl="0" indent="0">
              <a:buNone/>
            </a:pPr>
            <a:r>
              <a:rPr lang="ru-RU" dirty="0"/>
              <a:t>государственный бюджет, оформленный как бюджетная система;</a:t>
            </a:r>
          </a:p>
          <a:p>
            <a:pPr marL="0" lvl="0" indent="0">
              <a:buNone/>
            </a:pPr>
            <a:r>
              <a:rPr lang="ru-RU" dirty="0"/>
              <a:t>система внебюджетных фондов;</a:t>
            </a:r>
          </a:p>
          <a:p>
            <a:pPr marL="0" lvl="0" indent="0">
              <a:buNone/>
            </a:pPr>
            <a:r>
              <a:rPr lang="ru-RU" dirty="0"/>
              <a:t>государственный кредит.</a:t>
            </a:r>
          </a:p>
          <a:p>
            <a:pPr lvl="0"/>
            <a:r>
              <a:rPr lang="ru-RU" b="1" dirty="0"/>
              <a:t>Финансы предприятий и организаций</a:t>
            </a:r>
            <a:endParaRPr lang="ru-RU" dirty="0"/>
          </a:p>
          <a:p>
            <a:pPr marL="0" lvl="0" indent="0">
              <a:buNone/>
            </a:pPr>
            <a:r>
              <a:rPr lang="ru-RU" u="sng" dirty="0"/>
              <a:t>финансы</a:t>
            </a:r>
            <a:r>
              <a:rPr lang="ru-RU" dirty="0"/>
              <a:t> предприятий </a:t>
            </a:r>
            <a:r>
              <a:rPr lang="ru-RU" u="sng" dirty="0"/>
              <a:t>материального производства </a:t>
            </a:r>
            <a:r>
              <a:rPr lang="ru-RU" dirty="0"/>
              <a:t>(сфера производства товарно-материальных ценностей);</a:t>
            </a:r>
          </a:p>
          <a:p>
            <a:pPr marL="0" lvl="0" indent="0">
              <a:buNone/>
            </a:pPr>
            <a:r>
              <a:rPr lang="ru-RU" u="sng" dirty="0"/>
              <a:t>финансы</a:t>
            </a:r>
            <a:r>
              <a:rPr lang="ru-RU" dirty="0"/>
              <a:t> предприятий, организаций и учреждений </a:t>
            </a:r>
            <a:r>
              <a:rPr lang="ru-RU" u="sng" dirty="0"/>
              <a:t>нематериального производства </a:t>
            </a:r>
            <a:r>
              <a:rPr lang="ru-RU" dirty="0"/>
              <a:t>(сфера услуг);</a:t>
            </a:r>
          </a:p>
          <a:p>
            <a:pPr marL="0" lvl="0" indent="0">
              <a:buNone/>
            </a:pPr>
            <a:r>
              <a:rPr lang="ru-RU" u="sng" dirty="0"/>
              <a:t>финансы</a:t>
            </a:r>
            <a:r>
              <a:rPr lang="ru-RU" dirty="0"/>
              <a:t> учреждений и организаций </a:t>
            </a:r>
            <a:r>
              <a:rPr lang="ru-RU" u="sng" dirty="0"/>
              <a:t>непроизводственной сферы (</a:t>
            </a:r>
            <a:r>
              <a:rPr lang="ru-RU" dirty="0"/>
              <a:t>социальная сфера);</a:t>
            </a:r>
          </a:p>
          <a:p>
            <a:pPr marL="0" lvl="0" indent="0">
              <a:buNone/>
            </a:pPr>
            <a:r>
              <a:rPr lang="ru-RU" dirty="0"/>
              <a:t>финансы общественных объединений и организаций.</a:t>
            </a:r>
          </a:p>
          <a:p>
            <a:pPr marL="0" lvl="0" indent="0">
              <a:buNone/>
            </a:pPr>
            <a:r>
              <a:rPr lang="ru-RU" dirty="0"/>
              <a:t>Страхование – </a:t>
            </a:r>
          </a:p>
          <a:p>
            <a:pPr marL="0" lvl="0" indent="0">
              <a:buNone/>
            </a:pPr>
            <a:r>
              <a:rPr lang="ru-RU" dirty="0"/>
              <a:t>самострахование;</a:t>
            </a:r>
          </a:p>
          <a:p>
            <a:pPr marL="0" lvl="0" indent="0">
              <a:buNone/>
            </a:pPr>
            <a:r>
              <a:rPr lang="ru-RU" dirty="0"/>
              <a:t>государственное страхование;</a:t>
            </a:r>
          </a:p>
          <a:p>
            <a:pPr marL="0" lvl="0" indent="0">
              <a:buNone/>
            </a:pPr>
            <a:r>
              <a:rPr lang="ru-RU" dirty="0"/>
              <a:t>коммерческое страхование.</a:t>
            </a:r>
          </a:p>
          <a:p>
            <a:r>
              <a:rPr lang="ru-RU" dirty="0"/>
              <a:t> </a:t>
            </a:r>
            <a:r>
              <a:rPr lang="ru-RU" b="1" dirty="0"/>
              <a:t>Финансы домашних хозяйств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404664"/>
            <a:ext cx="8291264" cy="57214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/>
              <a:t>Государственным финансам </a:t>
            </a:r>
            <a:r>
              <a:rPr lang="ru-RU" dirty="0"/>
              <a:t>принадлежит ведущая роль в обеспечении развития всех отраслей  народного хозяйства; перераспределения финансовых ресурсов между отраслями экономики и регионами страны, производственной и непроизводственной сферами, формами собственности, отдельными группами и слоями населения.</a:t>
            </a:r>
          </a:p>
          <a:p>
            <a:pPr marL="0" indent="0" algn="just">
              <a:buNone/>
            </a:pPr>
            <a:r>
              <a:rPr lang="ru-RU" dirty="0"/>
              <a:t>Государственные финансы находятся в собственности государства в соответствии с Бюджетным кодексом, включают в себя </a:t>
            </a:r>
            <a:r>
              <a:rPr lang="ru-RU" u="sng" dirty="0"/>
              <a:t>бюджетную систему, внебюджетные фонды и государственный кредит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784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301608" cy="58941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/>
              <a:t>Финансы предприятий и организаций </a:t>
            </a:r>
            <a:r>
              <a:rPr lang="ru-RU" dirty="0"/>
              <a:t>составляют основу финансов государства. Они являются составляющей экономического базиса государства, обслуживают процесс создания и распределения ВВП и НД и являются главным фактором формирования централизованных денежных фондов.</a:t>
            </a:r>
          </a:p>
          <a:p>
            <a:pPr marL="0" indent="0" algn="just">
              <a:buNone/>
            </a:pPr>
            <a:r>
              <a:rPr lang="ru-RU" dirty="0"/>
              <a:t>От состояния финансов предприятий зависит обеспеченность централизованных денежных фондов финансовыми ресурсами. В свою очередь  предприятия и организации активно используют финансовые средства бюджета, государственного кредита, страхования.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211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Группа 41"/>
          <p:cNvGrpSpPr/>
          <p:nvPr/>
        </p:nvGrpSpPr>
        <p:grpSpPr>
          <a:xfrm>
            <a:off x="323528" y="260648"/>
            <a:ext cx="8424936" cy="6192688"/>
            <a:chOff x="323528" y="260648"/>
            <a:chExt cx="8424936" cy="6192688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2339752" y="260648"/>
              <a:ext cx="4464496" cy="792088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4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Финансовые ресурсы  предприятия</a:t>
              </a:r>
            </a:p>
          </p:txBody>
        </p:sp>
        <p:sp>
          <p:nvSpPr>
            <p:cNvPr id="3" name="Прямоугольник 2"/>
            <p:cNvSpPr/>
            <p:nvPr/>
          </p:nvSpPr>
          <p:spPr>
            <a:xfrm>
              <a:off x="323528" y="1484784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4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Внутренние</a:t>
              </a: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323528" y="227687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Уставный капитал</a:t>
              </a: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323528" y="3789040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Резервный капитал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323528" y="299695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Добавочный капитал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323528" y="4581128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8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Нераспределенная прибыль</a:t>
              </a:r>
            </a:p>
          </p:txBody>
        </p:sp>
        <p:sp>
          <p:nvSpPr>
            <p:cNvPr id="8" name="Прямоугольник 7"/>
            <p:cNvSpPr/>
            <p:nvPr/>
          </p:nvSpPr>
          <p:spPr>
            <a:xfrm>
              <a:off x="323528" y="5373216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Прочие резервы</a:t>
              </a:r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5436096" y="227687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Кредиты банков</a:t>
              </a: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5436096" y="299695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Заемные средства других организаций</a:t>
              </a: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5436096" y="371703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Бюджетные средства</a:t>
              </a: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5436096" y="443711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Средства внебюджетных фондов</a:t>
              </a: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5436096" y="515719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Средства от выпуска корпоративных облигаций</a:t>
              </a: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5436096" y="5877272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Средства от эмиссии акций</a:t>
              </a:r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5436096" y="1484784"/>
              <a:ext cx="3312368" cy="576064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00"/>
                </a:lnSpc>
              </a:pPr>
              <a:r>
                <a:rPr lang="ru-RU" sz="24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Внешние</a:t>
              </a:r>
            </a:p>
          </p:txBody>
        </p:sp>
        <p:cxnSp>
          <p:nvCxnSpPr>
            <p:cNvPr id="20" name="Прямая соединительная линия 19"/>
            <p:cNvCxnSpPr>
              <a:stCxn id="2" idx="2"/>
              <a:endCxn id="3" idx="0"/>
            </p:cNvCxnSpPr>
            <p:nvPr/>
          </p:nvCxnSpPr>
          <p:spPr>
            <a:xfrm flipH="1">
              <a:off x="1979712" y="1052736"/>
              <a:ext cx="2592288" cy="432048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>
              <a:stCxn id="2" idx="2"/>
              <a:endCxn id="15" idx="0"/>
            </p:cNvCxnSpPr>
            <p:nvPr/>
          </p:nvCxnSpPr>
          <p:spPr>
            <a:xfrm>
              <a:off x="4572000" y="1052736"/>
              <a:ext cx="2520280" cy="432048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/>
            <p:cNvCxnSpPr/>
            <p:nvPr/>
          </p:nvCxnSpPr>
          <p:spPr>
            <a:xfrm>
              <a:off x="4067944" y="1844824"/>
              <a:ext cx="0" cy="3816424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/>
            <p:nvPr/>
          </p:nvCxnSpPr>
          <p:spPr>
            <a:xfrm>
              <a:off x="4932040" y="1844824"/>
              <a:ext cx="0" cy="432048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>
              <a:off x="3635896" y="1844824"/>
              <a:ext cx="43204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3635896" y="2636912"/>
              <a:ext cx="43204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/>
            <p:cNvCxnSpPr/>
            <p:nvPr/>
          </p:nvCxnSpPr>
          <p:spPr>
            <a:xfrm flipH="1">
              <a:off x="3635896" y="3284984"/>
              <a:ext cx="43204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/>
            <p:cNvCxnSpPr/>
            <p:nvPr/>
          </p:nvCxnSpPr>
          <p:spPr>
            <a:xfrm flipH="1">
              <a:off x="3635896" y="4149080"/>
              <a:ext cx="43204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/>
            <p:nvPr/>
          </p:nvCxnSpPr>
          <p:spPr>
            <a:xfrm flipH="1">
              <a:off x="3635896" y="4869160"/>
              <a:ext cx="43204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/>
            <p:nvPr/>
          </p:nvCxnSpPr>
          <p:spPr>
            <a:xfrm flipH="1">
              <a:off x="3635896" y="5661248"/>
              <a:ext cx="43204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/>
            <p:cNvCxnSpPr/>
            <p:nvPr/>
          </p:nvCxnSpPr>
          <p:spPr>
            <a:xfrm>
              <a:off x="4932040" y="1844824"/>
              <a:ext cx="50405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/>
            <p:nvPr/>
          </p:nvCxnSpPr>
          <p:spPr>
            <a:xfrm>
              <a:off x="4932040" y="2636912"/>
              <a:ext cx="50405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>
              <a:off x="4932040" y="3284984"/>
              <a:ext cx="50405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/>
            <p:nvPr/>
          </p:nvCxnSpPr>
          <p:spPr>
            <a:xfrm>
              <a:off x="4932040" y="4005064"/>
              <a:ext cx="50405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/>
            <p:cNvCxnSpPr/>
            <p:nvPr/>
          </p:nvCxnSpPr>
          <p:spPr>
            <a:xfrm>
              <a:off x="4932040" y="4725144"/>
              <a:ext cx="50405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/>
            <p:nvPr/>
          </p:nvCxnSpPr>
          <p:spPr>
            <a:xfrm>
              <a:off x="4932040" y="5445224"/>
              <a:ext cx="50405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/>
            <p:cNvCxnSpPr/>
            <p:nvPr/>
          </p:nvCxnSpPr>
          <p:spPr>
            <a:xfrm>
              <a:off x="4932040" y="6165304"/>
              <a:ext cx="50405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8820472" cy="685800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Финансовые ресурсы предприятия</a:t>
            </a:r>
          </a:p>
          <a:p>
            <a:pPr algn="ctr">
              <a:buFont typeface="Wingdings" pitchFamily="2" charset="2"/>
              <a:buNone/>
            </a:pP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Основой организации финансов предприятий всех форм собственности является</a:t>
            </a:r>
          </a:p>
          <a:p>
            <a:pPr algn="ctr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Ф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инансовые ресурсы организации (предприятия)  </a:t>
            </a:r>
          </a:p>
          <a:p>
            <a:pPr algn="ctr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это совокупность источников денежных средств, </a:t>
            </a:r>
          </a:p>
          <a:p>
            <a:pPr algn="ctr">
              <a:lnSpc>
                <a:spcPts val="26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аккумулируемых организацией в целях осуществления всех видов деятельности.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3068960"/>
            <a:ext cx="864096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buFont typeface="Wingdings" pitchFamily="2" charset="2"/>
              <a:buNone/>
            </a:pPr>
            <a:r>
              <a:rPr lang="ru-RU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По источникам формирования финансовые ресурсы делятся на 2 группы:</a:t>
            </a:r>
          </a:p>
          <a:p>
            <a:pPr algn="just">
              <a:lnSpc>
                <a:spcPts val="2400"/>
              </a:lnSpc>
              <a:buFont typeface="Wingdings" pitchFamily="2" charset="2"/>
              <a:buChar char="q"/>
            </a:pPr>
            <a:r>
              <a:rPr lang="ru-RU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Внутренние:</a:t>
            </a:r>
          </a:p>
          <a:p>
            <a:pPr algn="just">
              <a:lnSpc>
                <a:spcPts val="2400"/>
              </a:lnSpc>
              <a:buFont typeface="Wingdings" pitchFamily="2" charset="2"/>
              <a:buChar char="v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(собственные и приравненные к ним средства);</a:t>
            </a:r>
          </a:p>
          <a:p>
            <a:pPr algn="just">
              <a:lnSpc>
                <a:spcPts val="2400"/>
              </a:lnSpc>
              <a:buFont typeface="Wingdings" pitchFamily="2" charset="2"/>
              <a:buChar char="v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привлеченные;</a:t>
            </a:r>
          </a:p>
          <a:p>
            <a:pPr>
              <a:lnSpc>
                <a:spcPts val="2400"/>
              </a:lnSpc>
              <a:buFont typeface="Wingdings" pitchFamily="2" charset="2"/>
              <a:buChar char="q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внешние:</a:t>
            </a:r>
          </a:p>
          <a:p>
            <a:pPr algn="just">
              <a:lnSpc>
                <a:spcPts val="2400"/>
              </a:lnSpc>
              <a:buFont typeface="Wingdings" pitchFamily="2" charset="2"/>
              <a:buChar char="v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заемные (поступления денежных средств от финансово-банковской системы).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0"/>
            <a:ext cx="8640960" cy="6858000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К внутренним финансовым ресурсам относятся собственные и приравненные к ним средства:</a:t>
            </a:r>
          </a:p>
          <a:p>
            <a:pPr marL="0" indent="0" algn="just"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поступления от учредителей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при формировании уставного капитала;</a:t>
            </a:r>
          </a:p>
          <a:p>
            <a:pPr marL="0" indent="0" algn="just"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2)  </a:t>
            </a:r>
            <a:r>
              <a:rPr lang="ru-RU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прибыль;</a:t>
            </a:r>
          </a:p>
          <a:p>
            <a:pPr marL="0" indent="0" algn="just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амортизационные отчисления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 - денежное выражение стоимости износа основных производственных фондов и нематериальных активов.</a:t>
            </a:r>
          </a:p>
          <a:p>
            <a:pPr marL="0" indent="0" algn="just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4) устойчивые пассивы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(устойчивая кредиторская задолженность) - переходящая минимальная задолженность по заработной плате и отчислениям в бюджет и во внебюджетные фонды.</a:t>
            </a:r>
          </a:p>
          <a:p>
            <a:pPr marL="0" indent="0" algn="just"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4018505"/>
            <a:ext cx="8496944" cy="2839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К привлеченным финансовым ресурсам относятся:</a:t>
            </a:r>
          </a:p>
          <a:p>
            <a:pPr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1) дополнительные паевые и иные взносы учредителей в уставный капитал;</a:t>
            </a:r>
          </a:p>
          <a:p>
            <a:pPr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2) дополнительная эмиссия и размещение акций (IPO);</a:t>
            </a:r>
          </a:p>
          <a:p>
            <a:pPr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3) финансовые ресурсы, поступившие в порядке перераспределения: страховое возмещение; дивиденды и проценты по ценным бумагам сторонних эмитентов; бюджетные ассигнования и т.п.</a:t>
            </a:r>
          </a:p>
          <a:p>
            <a:pPr>
              <a:lnSpc>
                <a:spcPts val="2400"/>
              </a:lnSpc>
              <a:spcBef>
                <a:spcPts val="0"/>
              </a:spcBef>
              <a:buFont typeface="Wingdings" pitchFamily="2" charset="2"/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80000"/>
              </a:lnSpc>
              <a:buFont typeface="Wingdings" pitchFamily="2" charset="2"/>
              <a:buNone/>
            </a:pPr>
            <a:endParaRPr lang="ru-RU" sz="2800" b="1" u="sng" dirty="0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Заемные финансовые ресурсы: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1) кредиты банков;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2) займы, предоставленные другими организациями;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3) коммерческий кредит;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4) средства от выпуска и размещения облигаций;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5) лизинг;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6) бюджетные ассигнования, предоставляемые на возвратной основе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Финансовые ресурсы используются предприятием в процессе производственной и инвестиционной деятельности. 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Они находятся в постоянном движении и пребывают в денежной форме лишь в виде остатков денежных средств на расчетном счете в банке и в кассе предприятия.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27584" y="0"/>
            <a:ext cx="7776864" cy="43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ru-RU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К внешним финансовым ресурсам относятся</a:t>
            </a:r>
            <a:r>
              <a:rPr lang="ru-RU" dirty="0">
                <a:solidFill>
                  <a:srgbClr val="7030A0"/>
                </a:solidFill>
              </a:rPr>
              <a:t>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47" name="Group 183"/>
          <p:cNvGraphicFramePr>
            <a:graphicFrameLocks noGrp="1"/>
          </p:cNvGraphicFramePr>
          <p:nvPr>
            <p:ph idx="1"/>
          </p:nvPr>
        </p:nvGraphicFramePr>
        <p:xfrm>
          <a:off x="73025" y="1000125"/>
          <a:ext cx="9036050" cy="5389632"/>
        </p:xfrm>
        <a:graphic>
          <a:graphicData uri="http://schemas.openxmlformats.org/drawingml/2006/table">
            <a:tbl>
              <a:tblPr/>
              <a:tblGrid>
                <a:gridCol w="2260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342900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Собственные средства</a:t>
                      </a:r>
                      <a:endParaRPr kumimoji="0" lang="ru-RU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Заёмные средства</a:t>
                      </a:r>
                      <a:endParaRPr kumimoji="0" lang="ru-RU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Привлечённые средства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Оперативные денежные средства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Уставный капитал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Кредиты банков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Фонды потребления</a:t>
                      </a:r>
                      <a:endParaRPr kumimoji="0" lang="ru-RU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Фонд заработной платы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Добавочный капитал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Коммерческие кредиты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Расчёты по дивидендам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Фонд для выплаты дивидендов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Резервный капитал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Факторинг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Доходы будущих периодов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Платежи в бюджет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Инвестиционный фонд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Лизинг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8255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Резервы предстоящих расходов и платежей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Прочие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Валютный фонд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588" marR="0" lvl="0" indent="17463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Кредиторская задолженность</a:t>
                      </a: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u-RU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u-RU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39552" y="404664"/>
            <a:ext cx="83534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Денежные фонды предприятия</a:t>
            </a:r>
          </a:p>
        </p:txBody>
      </p:sp>
    </p:spTree>
  </p:cSld>
  <p:clrMapOvr>
    <a:masterClrMapping/>
  </p:clrMapOvr>
  <p:transition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539552" y="188640"/>
            <a:ext cx="83534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Бухгалтерский баланс предприятия </a:t>
            </a:r>
          </a:p>
        </p:txBody>
      </p:sp>
      <p:graphicFrame>
        <p:nvGraphicFramePr>
          <p:cNvPr id="64644" name="Group 132"/>
          <p:cNvGraphicFramePr>
            <a:graphicFrameLocks noGrp="1"/>
          </p:cNvGraphicFramePr>
          <p:nvPr>
            <p:ph idx="1"/>
          </p:nvPr>
        </p:nvGraphicFramePr>
        <p:xfrm>
          <a:off x="250825" y="806450"/>
          <a:ext cx="8642350" cy="5575301"/>
        </p:xfrm>
        <a:graphic>
          <a:graphicData uri="http://schemas.openxmlformats.org/drawingml/2006/table">
            <a:tbl>
              <a:tblPr/>
              <a:tblGrid>
                <a:gridCol w="442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148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Активы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Пассивы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Основные фонды (машины, оборудование)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Собственные средства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Уставный (акционерный) капитал.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Дополнительный капитал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 Амортизационный фонд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 Накопленная прибыль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477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Нематериальные активы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080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 Запасы материально производственных средств (сырье, товары, запчасти и др.)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Привлечённые средства (обязательства)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Долгосрочная задолженность (кредиты, займы, ссуды), сроком более 12 месяцев.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Краткосрочная задолженность (кредиты, займы, ссуды), сроком менее 12 месяцев.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 Дебиторская задолженность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080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5. Денежные средства (расчётный и другие счета, наличные средства в кассе)</a:t>
                      </a:r>
                      <a:endParaRPr kumimoji="0" 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125538"/>
            <a:ext cx="8640763" cy="5040312"/>
          </a:xfrm>
        </p:spPr>
        <p:txBody>
          <a:bodyPr/>
          <a:lstStyle/>
          <a:p>
            <a:pPr marL="0" lvl="1" indent="0"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Ликвидность</a:t>
            </a:r>
          </a:p>
          <a:p>
            <a:pPr marL="0" lvl="1" indent="0"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Это способность за счет быстрой реализации средств по активу погасить срочные обязательства по пассиву. На уровень ликвидности влияет структура активов баланса </a:t>
            </a:r>
          </a:p>
          <a:p>
            <a:pPr marL="0" lvl="1" indent="0"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Платежеспособность предприятия</a:t>
            </a:r>
          </a:p>
          <a:p>
            <a:pPr marL="0" lvl="1" indent="0"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это способность расплачиваться по своим обязательствам. </a:t>
            </a:r>
          </a:p>
          <a:p>
            <a:pPr marL="0" lvl="1" indent="0"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Предприятия могут расплачиваться денежными средствами, вырученными средствами от продажи имущества, вырученными средствами от продажи запасов. </a:t>
            </a:r>
          </a:p>
          <a:p>
            <a:pPr marL="0" lvl="1" indent="0" algn="ctr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Таким образом, если предприятие обладает ликвидными активами, то оно является платежеспособным. 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23528" y="260648"/>
            <a:ext cx="84969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Ликвидность и платежеспособность предприятия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2. Финансовый механизм предприятия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Финансовый механизм предприятия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 - </a:t>
            </a: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это система управления финансами предприятия в целях достижения максимальной прибыли.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Стратегические цели управления финансами предприятия: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1) максимизация прибыли;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2) достижение финансовой устойчивости и финансовой независимости организации;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3) обеспечение необходимого уровня ликвидности;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4) сбалансированность движения материальных и денежных потоков;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5) формирование необходимого объема финансовых ресурсов и их эффективное использование.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8892480" cy="6858000"/>
          </a:xfrm>
        </p:spPr>
        <p:txBody>
          <a:bodyPr/>
          <a:lstStyle/>
          <a:p>
            <a:pPr marL="533400" indent="-533400" algn="ctr">
              <a:lnSpc>
                <a:spcPct val="90000"/>
              </a:lnSpc>
              <a:buSzTx/>
              <a:buFont typeface="Wingdings" pitchFamily="2" charset="2"/>
              <a:buNone/>
            </a:pPr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Важнейшими направлениями финансовой работы на предприятии являются:</a:t>
            </a:r>
          </a:p>
          <a:p>
            <a:pPr marL="533400" indent="-533400" algn="just">
              <a:lnSpc>
                <a:spcPct val="90000"/>
              </a:lnSpc>
              <a:buSzTx/>
              <a:buFont typeface="Wingdings" pitchFamily="2" charset="2"/>
              <a:buNone/>
            </a:pP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Финансовое планирование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 — осуществляется на основе анализа информации о финансах предприятия, получаемой из бухгалтерской, статистической и управленческой отчетности.</a:t>
            </a:r>
          </a:p>
          <a:p>
            <a:pPr marL="533400" indent="-533400" algn="ctr">
              <a:lnSpc>
                <a:spcPct val="90000"/>
              </a:lnSpc>
              <a:buSzTx/>
              <a:buFont typeface="Wingdings" pitchFamily="2" charset="2"/>
              <a:buNone/>
            </a:pPr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В области планирования финансовая служба выполняет следующие задачи:</a:t>
            </a:r>
          </a:p>
          <a:p>
            <a:pPr marL="914400" lvl="1" indent="-457200" algn="just">
              <a:lnSpc>
                <a:spcPct val="90000"/>
              </a:lnSpc>
              <a:buFontTx/>
              <a:buAutoNum type="arabicParenR"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разработку финансовых планов со всеми необходимыми расчетами,</a:t>
            </a:r>
          </a:p>
          <a:p>
            <a:pPr marL="914400" lvl="1" indent="-457200" algn="just">
              <a:lnSpc>
                <a:spcPct val="90000"/>
              </a:lnSpc>
              <a:buFontTx/>
              <a:buAutoNum type="arabicParenR"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выявление источников финансирования хозяйственной деятельности,</a:t>
            </a:r>
          </a:p>
          <a:p>
            <a:pPr marL="914400" lvl="1" indent="-457200" algn="just">
              <a:lnSpc>
                <a:spcPct val="90000"/>
              </a:lnSpc>
              <a:buFontTx/>
              <a:buAutoNum type="arabicParenR"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разработку плана капитальных вложений с необходимыми расчетами,</a:t>
            </a:r>
          </a:p>
          <a:p>
            <a:pPr marL="914400" lvl="1" indent="-457200" algn="just">
              <a:lnSpc>
                <a:spcPct val="90000"/>
              </a:lnSpc>
              <a:buFontTx/>
              <a:buAutoNum type="arabicParenR"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участие в разработке бизнес-плана,</a:t>
            </a:r>
          </a:p>
          <a:p>
            <a:pPr marL="914400" lvl="1" indent="-457200" algn="just">
              <a:lnSpc>
                <a:spcPct val="90000"/>
              </a:lnSpc>
              <a:buFontTx/>
              <a:buAutoNum type="arabicParenR"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составление кассовых планов.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8820472" cy="6858000"/>
          </a:xfrm>
        </p:spPr>
        <p:txBody>
          <a:bodyPr/>
          <a:lstStyle/>
          <a:p>
            <a:pPr marL="609600" indent="-609600" algn="ctr">
              <a:buFont typeface="Wingdings" pitchFamily="2" charset="2"/>
              <a:buNone/>
            </a:pP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Оперативная работа </a:t>
            </a:r>
          </a:p>
          <a:p>
            <a:pPr marL="609600" indent="-609600" algn="ctr"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выполняются основные задачи:</a:t>
            </a:r>
          </a:p>
          <a:p>
            <a:pPr marL="990600" lvl="1" indent="-533400" algn="just">
              <a:buFont typeface="+mj-lt"/>
              <a:buAutoNum type="arabicParenR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обеспечение в установленные сроки платежей в бюджет, банкам, работникам, поставщикам и т.д.;</a:t>
            </a:r>
          </a:p>
          <a:p>
            <a:pPr marL="990600" lvl="1" indent="-533400" algn="just">
              <a:buFont typeface="+mj-lt"/>
              <a:buAutoNum type="arabicParenR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обеспечение финансирования затрат плана;</a:t>
            </a:r>
          </a:p>
          <a:p>
            <a:pPr marL="990600" lvl="1" indent="-533400" algn="just">
              <a:buFont typeface="+mj-lt"/>
              <a:buAutoNum type="arabicParenR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оформление кредитов в соответствии с договорами;</a:t>
            </a:r>
          </a:p>
          <a:p>
            <a:pPr marL="990600" lvl="1" indent="-533400" algn="just">
              <a:buFont typeface="+mj-lt"/>
              <a:buAutoNum type="arabicParenR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ведение ежедневного оперативного учета показателей финансового плана;</a:t>
            </a:r>
          </a:p>
          <a:p>
            <a:pPr marL="990600" lvl="1" indent="-533400" algn="just">
              <a:buFont typeface="+mj-lt"/>
              <a:buAutoNum type="arabicParenR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составление справок о ходе выполнения плана и финансовом состоянии предприятия.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609600" indent="-609600"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Контрольно-аналитическая работа</a:t>
            </a:r>
            <a:r>
              <a:rPr lang="ru-RU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—</a:t>
            </a:r>
          </a:p>
          <a:p>
            <a:pPr marL="609600" indent="-609600"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совместно с бухгалтерией проверяется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правильность составления смет,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расчет окупаемости капитальных вложений,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анализируются все виды отчетности,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контролируется соблюдение финансовой и плановой дисциплины.</a:t>
            </a:r>
          </a:p>
          <a:p>
            <a:pPr marL="609600" indent="-609600"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Структура финансовой службы зависит от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Char char="q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организационно-правовой формы предприятия, его размеров;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Char char="q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вида деятельности;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Char char="q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задач, поставленных руководством компании.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457200" indent="-457200"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Процессы управления финансами</a:t>
            </a:r>
          </a:p>
          <a:p>
            <a:pPr marL="785812">
              <a:lnSpc>
                <a:spcPct val="90000"/>
              </a:lnSpc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управления затратами, </a:t>
            </a:r>
          </a:p>
          <a:p>
            <a:pPr marL="785812">
              <a:lnSpc>
                <a:spcPct val="90000"/>
              </a:lnSpc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введения в финансовую политику</a:t>
            </a:r>
          </a:p>
          <a:p>
            <a:pPr marL="785812">
              <a:lnSpc>
                <a:spcPct val="90000"/>
              </a:lnSpc>
            </a:pPr>
            <a:r>
              <a:rPr lang="ru-RU" sz="2500" b="1" dirty="0" err="1">
                <a:latin typeface="Times New Roman" pitchFamily="18" charset="0"/>
                <a:cs typeface="Times New Roman" pitchFamily="18" charset="0"/>
              </a:rPr>
              <a:t>бюджетирования</a:t>
            </a: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 и управленческого учета, </a:t>
            </a:r>
          </a:p>
          <a:p>
            <a:pPr marL="785812">
              <a:lnSpc>
                <a:spcPct val="90000"/>
              </a:lnSpc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в работе с дебиторской задолженностью,</a:t>
            </a:r>
          </a:p>
          <a:p>
            <a:pPr marL="785812">
              <a:lnSpc>
                <a:spcPct val="90000"/>
              </a:lnSpc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формировании кредитной политики.</a:t>
            </a:r>
          </a:p>
          <a:p>
            <a:pPr marL="457200" indent="-457200" algn="ctr">
              <a:lnSpc>
                <a:spcPct val="90000"/>
              </a:lnSpc>
              <a:buNone/>
            </a:pPr>
            <a:r>
              <a:rPr lang="ru-RU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 предприятиях  управление финансами осуществляют финансовый директор, бухгалтерская служба, планово-экономический отдел. </a:t>
            </a:r>
          </a:p>
          <a:p>
            <a:pPr marL="457200" indent="-457200"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5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Задачи управления финансами: </a:t>
            </a:r>
          </a:p>
          <a:p>
            <a:pPr marL="457200" indent="-14288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планирование и оптимизация денежных потоков; </a:t>
            </a:r>
          </a:p>
          <a:p>
            <a:pPr marL="457200" indent="-14288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управление затратами;</a:t>
            </a:r>
          </a:p>
          <a:p>
            <a:pPr marL="457200" indent="-14288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привлечение дополнительных средств;</a:t>
            </a:r>
          </a:p>
          <a:p>
            <a:pPr marL="457200" indent="-14288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постановка и ведение управленческого учета;</a:t>
            </a:r>
          </a:p>
          <a:p>
            <a:pPr marL="457200" indent="-14288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антикризисное  управление;</a:t>
            </a:r>
          </a:p>
          <a:p>
            <a:pPr marL="457200" indent="-14288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ru-RU" sz="2500" b="1" dirty="0">
                <a:latin typeface="Times New Roman" pitchFamily="18" charset="0"/>
                <a:cs typeface="Times New Roman" pitchFamily="18" charset="0"/>
              </a:rPr>
              <a:t>инвестиционные расчеты.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263" name="Group 135"/>
          <p:cNvGraphicFramePr>
            <a:graphicFrameLocks noGrp="1"/>
          </p:cNvGraphicFramePr>
          <p:nvPr>
            <p:ph idx="1"/>
          </p:nvPr>
        </p:nvGraphicFramePr>
        <p:xfrm>
          <a:off x="179512" y="1196752"/>
          <a:ext cx="8713788" cy="4850516"/>
        </p:xfrm>
        <a:graphic>
          <a:graphicData uri="http://schemas.openxmlformats.org/drawingml/2006/table">
            <a:tbl>
              <a:tblPr/>
              <a:tblGrid>
                <a:gridCol w="43719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41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492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Притоки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Оттоки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7675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Основная деятельность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Выручка от реализации продукции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Платежи поставщикам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Поступления дебиторской задолженности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Выплата заработной платы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Поступления от продажи имущества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Платежи в бюджет и внебюджетные фонды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7675">
                <a:tc rowSpan="3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Авансы покупателей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Платежи процентов за кредит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92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Выплаты по фонду потребления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7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Погашение кредиторской задолженности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25630" name="Text Box 126"/>
          <p:cNvSpPr txBox="1">
            <a:spLocks noChangeArrowheads="1"/>
          </p:cNvSpPr>
          <p:nvPr/>
        </p:nvSpPr>
        <p:spPr bwMode="auto">
          <a:xfrm>
            <a:off x="611560" y="404664"/>
            <a:ext cx="7848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Приток и отток денежных средств</a:t>
            </a:r>
          </a:p>
        </p:txBody>
      </p:sp>
    </p:spTree>
  </p:cSld>
  <p:clrMapOvr>
    <a:masterClrMapping/>
  </p:clrMapOvr>
  <p:transition>
    <p:zoom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9"/>
          <p:cNvSpPr txBox="1">
            <a:spLocks noChangeArrowheads="1"/>
          </p:cNvSpPr>
          <p:nvPr/>
        </p:nvSpPr>
        <p:spPr bwMode="auto">
          <a:xfrm>
            <a:off x="683568" y="332656"/>
            <a:ext cx="7848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Приток и отток денежных средств</a:t>
            </a:r>
          </a:p>
        </p:txBody>
      </p:sp>
      <p:graphicFrame>
        <p:nvGraphicFramePr>
          <p:cNvPr id="51374" name="Group 174"/>
          <p:cNvGraphicFramePr>
            <a:graphicFrameLocks noGrp="1"/>
          </p:cNvGraphicFramePr>
          <p:nvPr>
            <p:ph type="tbl" idx="1"/>
          </p:nvPr>
        </p:nvGraphicFramePr>
        <p:xfrm>
          <a:off x="250825" y="1196975"/>
          <a:ext cx="8642350" cy="5032512"/>
        </p:xfrm>
        <a:graphic>
          <a:graphicData uri="http://schemas.openxmlformats.org/drawingml/2006/table">
            <a:tbl>
              <a:tblPr/>
              <a:tblGrid>
                <a:gridCol w="43354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068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Притоки</a:t>
                      </a:r>
                      <a:endParaRPr kumimoji="0" 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Оттоки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Финансовая деятельность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Краткосрочные кредиты и займы</a:t>
                      </a:r>
                      <a:endParaRPr kumimoji="0" lang="ru-RU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Погашение краткосрочных кредитов и займов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Долгосрочные кредиты и займы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Погашение долгосрочных кредитов и займов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Поступления от продажи и оплаты векселей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Выплата дивидендов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Поступления от эмиссии акций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Оплата векселей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Целевое финансирование</a:t>
                      </a: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u-RU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Инвестиционная деятельность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Продажа основных фондов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Долгосрочные финансовые вложения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Дивиденды, проценты от долгосрочных финансовых вложений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Капитальные вложения на развитие производства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8964488" cy="6858000"/>
          </a:xfrm>
        </p:spPr>
        <p:txBody>
          <a:bodyPr/>
          <a:lstStyle/>
          <a:p>
            <a:pPr marL="514350" indent="-514350" algn="just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На малых предприятиях по причинам экономической целесообразности не существует глубокого разделения управленческого труда и управление финансами осуществляет сам руководитель с помощью бухгалтера.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Главная цель управления финансами малого предприятия - постановка и ведение бухгалтерского учета и оптимизация налогов. Чем крупнее бизнес, тем актуальнее обеспечение прозрачности и управляемости его подразделений.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Для крупного бизнеса одной из первостепенных задач становится оперативное получение информации по текущему состоянию, результатам деятельности отдельных подразделений и компании в целом.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ru-RU" sz="28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 крупных предприятиях структура финансовой службы более сложная и в общем виде может быть представлена финансовым департаментом со структурными подразделениями: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/>
              <a:t>о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тдел финансового контроллинга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планирование и прогнозирование финансовой деятельности организации;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бухгалтерия;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отдел по корпоративным финансам;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отдел налогового планирования;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отдел внутреннего аудита;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отдел управления рисками</a:t>
            </a:r>
            <a:r>
              <a:rPr lang="ru-RU" sz="2800" b="1" dirty="0"/>
              <a:t>.</a:t>
            </a:r>
          </a:p>
          <a:p>
            <a:pPr>
              <a:lnSpc>
                <a:spcPct val="90000"/>
              </a:lnSpc>
            </a:pPr>
            <a:endParaRPr lang="ru-RU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00953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4200" b="1" dirty="0"/>
              <a:t> </a:t>
            </a:r>
            <a:r>
              <a:rPr lang="ru-RU" sz="8000" b="1" dirty="0"/>
              <a:t>Финансы граждан </a:t>
            </a:r>
            <a:r>
              <a:rPr lang="ru-RU" sz="8000" dirty="0"/>
              <a:t>формируют доходы и используют их на текущие расходы, приобретение имущества, создание финансового портфеля.</a:t>
            </a:r>
          </a:p>
          <a:p>
            <a:pPr marL="0" indent="0">
              <a:buNone/>
            </a:pPr>
            <a:r>
              <a:rPr lang="ru-RU" sz="8000" dirty="0"/>
              <a:t>Финансы граждан </a:t>
            </a:r>
            <a:r>
              <a:rPr lang="ru-RU" sz="8000" i="1" dirty="0"/>
              <a:t>- </a:t>
            </a:r>
            <a:r>
              <a:rPr lang="ru-RU" sz="8000" dirty="0"/>
              <a:t>отношения по поводу образования, распределения и использования денежных средств населения.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sz="7200" dirty="0"/>
              <a:t>К финансовым отношениям граждан относятся их денежные отношения с различными контрагентами:</a:t>
            </a:r>
          </a:p>
          <a:p>
            <a:pPr lvl="0"/>
            <a:r>
              <a:rPr lang="ru-RU" sz="7200" dirty="0"/>
              <a:t>органами государственного управления по платежам различного рода;</a:t>
            </a:r>
          </a:p>
          <a:p>
            <a:pPr lvl="0"/>
            <a:r>
              <a:rPr lang="ru-RU" sz="7200" dirty="0"/>
              <a:t>органами налоговой службы при внесении налогов, сборов и других платежей;</a:t>
            </a:r>
          </a:p>
          <a:p>
            <a:pPr lvl="0"/>
            <a:r>
              <a:rPr lang="ru-RU" sz="7200" dirty="0"/>
              <a:t>органами муниципального управления при приватизации жилья, земельного участка и других объектов, при уплате сборов, административных штрафов и взносов, при выплате арендной платы за земельные участки и участки лесного фонда и т.п.;</a:t>
            </a:r>
          </a:p>
          <a:p>
            <a:pPr lvl="0"/>
            <a:r>
              <a:rPr lang="ru-RU" sz="7200" dirty="0"/>
              <a:t>банковской системой при получении и погашении кредитов, залоге имущества, купле-продаже валюты и ценных бумаг, при депозитных срочных вкладах, участии в лотереях и т.п.;</a:t>
            </a:r>
          </a:p>
          <a:p>
            <a:pPr lvl="0"/>
            <a:r>
              <a:rPr lang="ru-RU" sz="7200" dirty="0"/>
              <a:t>страховыми обществами по всем видам страхования;</a:t>
            </a:r>
          </a:p>
          <a:p>
            <a:pPr lvl="0"/>
            <a:r>
              <a:rPr lang="ru-RU" sz="7200" dirty="0"/>
              <a:t>негосударственными пенсионными фондами по вкладам и получению пенсий и выплат;</a:t>
            </a:r>
          </a:p>
          <a:p>
            <a:pPr lvl="0"/>
            <a:r>
              <a:rPr lang="ru-RU" sz="7200" dirty="0"/>
              <a:t>финансовыми и финансово-кредитными хозяйствующими субъектами при осуществлении трастовых операций, залоговых операций, селенге, купле-продаже ценных бумаг, участии в розыгрышах и лотереях и т.п.;</a:t>
            </a:r>
          </a:p>
          <a:p>
            <a:pPr lvl="0"/>
            <a:r>
              <a:rPr lang="ru-RU" sz="7200" dirty="0"/>
              <a:t>хозяйствующими субъектами при выплате арендной платы за землю и другое имущество, при арендном и бригадном подрядах, долевом участии в совместной деятельности, купле-продаже ценных бумаг, участии в перераспределении прибыли, выплате заработной платы, паевых долей, дивидендов по акциям и т.п.;</a:t>
            </a:r>
          </a:p>
          <a:p>
            <a:pPr lvl="0"/>
            <a:r>
              <a:rPr lang="ru-RU" sz="7200" dirty="0"/>
              <a:t>другими гражданами при выплате арендной платы за земельные участки, квартиры и другое имущество, наследовании и дарении имущества, оплате труда на условиях трудового подряда, </a:t>
            </a:r>
            <a:r>
              <a:rPr lang="ru-RU" sz="7400" dirty="0"/>
              <a:t>взятии в долг, купле-продаже недвижимости и транспортных средств и т.п.</a:t>
            </a:r>
          </a:p>
        </p:txBody>
      </p:sp>
    </p:spTree>
    <p:extLst>
      <p:ext uri="{BB962C8B-B14F-4D97-AF65-F5344CB8AC3E}">
        <p14:creationId xmlns:p14="http://schemas.microsoft.com/office/powerpoint/2010/main" val="515283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Темы презентаций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Государственные органы управления финансами в РФ: цели, задачи, функции</a:t>
            </a:r>
          </a:p>
          <a:p>
            <a:pPr lvl="0"/>
            <a:r>
              <a:rPr lang="ru-RU" dirty="0"/>
              <a:t>Роль Министерства финансов в функционировании финансовой системы РФ</a:t>
            </a:r>
          </a:p>
          <a:p>
            <a:pPr lvl="0"/>
            <a:r>
              <a:rPr lang="ru-RU" dirty="0"/>
              <a:t>Формы и виды государственного контроля и органы его проводящие</a:t>
            </a:r>
          </a:p>
          <a:p>
            <a:pPr lvl="0"/>
            <a:r>
              <a:rPr lang="ru-RU" dirty="0"/>
              <a:t>Денежные потоки и денежные агрегаты. Закон денежного обращения.</a:t>
            </a:r>
          </a:p>
          <a:p>
            <a:pPr lvl="0"/>
            <a:r>
              <a:rPr lang="ru-RU" dirty="0"/>
              <a:t>Денежный оборот и его структура на современном этапе в РФ.</a:t>
            </a:r>
          </a:p>
          <a:p>
            <a:pPr lvl="0"/>
            <a:r>
              <a:rPr lang="ru-RU" dirty="0" err="1"/>
              <a:t>Бреттон-Вудская</a:t>
            </a:r>
            <a:r>
              <a:rPr lang="ru-RU" dirty="0"/>
              <a:t> денежная система, период формирования и основные положения.</a:t>
            </a:r>
          </a:p>
          <a:p>
            <a:pPr lvl="0"/>
            <a:r>
              <a:rPr lang="ru-RU" dirty="0"/>
              <a:t>Ямайская денежная система, период формирования и основные положения</a:t>
            </a:r>
          </a:p>
          <a:p>
            <a:pPr lvl="0"/>
            <a:r>
              <a:rPr lang="ru-RU" dirty="0"/>
              <a:t>Виды межбанковских расчетов и их современное состояние.</a:t>
            </a:r>
          </a:p>
          <a:p>
            <a:pPr lvl="0"/>
            <a:r>
              <a:rPr lang="ru-RU" dirty="0"/>
              <a:t>Эмиссия денег и организация эмиссионных операций.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8844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332656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1.Понятие финансов предприятия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2. Принципы организации  финансов предприятий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3.Функции  финансов предприятия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4. Финансовый механизм предприятия.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5.Организационные структуры управления финансами на предприятии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6. Анализ финансового состояния предприятия: цели, инструменты, индикаторы.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7. Нормативные  и правовые основы  организации финансов предприятия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6632"/>
            <a:ext cx="7897688" cy="6284168"/>
          </a:xfrm>
        </p:spPr>
        <p:txBody>
          <a:bodyPr>
            <a:normAutofit lnSpcReduction="10000"/>
          </a:bodyPr>
          <a:lstStyle/>
          <a:p>
            <a:endParaRPr lang="ru-RU" b="1" dirty="0"/>
          </a:p>
          <a:p>
            <a:pPr algn="just"/>
            <a:r>
              <a:rPr lang="ru-RU" sz="2400" dirty="0">
                <a:latin typeface="Times New Roman"/>
                <a:ea typeface="Times New Roman"/>
              </a:rPr>
              <a:t>Под </a:t>
            </a:r>
            <a:r>
              <a:rPr lang="ru-RU" sz="2400" i="1" u="sng" dirty="0">
                <a:latin typeface="Times New Roman"/>
                <a:ea typeface="Times New Roman"/>
              </a:rPr>
              <a:t>финансовой политикой</a:t>
            </a:r>
            <a:r>
              <a:rPr lang="ru-RU" sz="2400" dirty="0">
                <a:latin typeface="Times New Roman"/>
                <a:ea typeface="Times New Roman"/>
              </a:rPr>
              <a:t> </a:t>
            </a:r>
            <a:r>
              <a:rPr lang="ru-RU" sz="2400" i="1" dirty="0">
                <a:latin typeface="Times New Roman"/>
                <a:ea typeface="Times New Roman"/>
              </a:rPr>
              <a:t>понимают комплекс мероприятий государства по использованию финансовых отношений, мобилизации финансовых ресурсов, их распределению и использованию на основе финансового законодательства для осуществления государством своих функций</a:t>
            </a:r>
            <a:r>
              <a:rPr lang="ru-RU" sz="2400" dirty="0">
                <a:latin typeface="Times New Roman"/>
                <a:ea typeface="Times New Roman"/>
              </a:rPr>
              <a:t>.</a:t>
            </a:r>
            <a:endParaRPr lang="ru-RU" b="1" dirty="0"/>
          </a:p>
          <a:p>
            <a:r>
              <a:rPr lang="ru-RU" b="1" dirty="0"/>
              <a:t>Политика (греч.) – искусство управления государством. </a:t>
            </a:r>
            <a:endParaRPr lang="ru-RU" dirty="0"/>
          </a:p>
          <a:p>
            <a:r>
              <a:rPr lang="ru-RU" b="1" dirty="0"/>
              <a:t>Финансовая политика – это деятельность государства по целенаправленному использованию финансов. </a:t>
            </a:r>
            <a:endParaRPr lang="ru-RU" dirty="0"/>
          </a:p>
          <a:p>
            <a:r>
              <a:rPr lang="ru-RU" b="1" dirty="0"/>
              <a:t>Финансовая политика включает: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accent3">
                    <a:lumMod val="75000"/>
                  </a:schemeClr>
                </a:solidFill>
              </a:rPr>
              <a:t>-   </a:t>
            </a:r>
            <a:r>
              <a:rPr lang="ru-RU" b="1" dirty="0"/>
              <a:t>  финансовая стратегия – это долговременный курс финансовой политики.</a:t>
            </a:r>
            <a:endParaRPr lang="ru-RU" dirty="0"/>
          </a:p>
          <a:p>
            <a:pPr>
              <a:buFontTx/>
              <a:buChar char="-"/>
            </a:pPr>
            <a:r>
              <a:rPr lang="ru-RU" b="1" dirty="0"/>
              <a:t>финансовая тактика – это решение задач конкретного периода.</a:t>
            </a:r>
          </a:p>
          <a:p>
            <a:pPr>
              <a:buFontTx/>
              <a:buChar char="-"/>
            </a:pPr>
            <a:r>
              <a:rPr lang="ru-RU" b="1" dirty="0"/>
              <a:t>Цель финансовой политики – эффективное использование финансовых ресурсов для удовлетворения общественных потребностей. </a:t>
            </a: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4668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88640"/>
            <a:ext cx="7825680" cy="6212160"/>
          </a:xfrm>
        </p:spPr>
        <p:txBody>
          <a:bodyPr>
            <a:normAutofit/>
          </a:bodyPr>
          <a:lstStyle/>
          <a:p>
            <a:pPr indent="228600" algn="just">
              <a:spcAft>
                <a:spcPts val="0"/>
              </a:spcAft>
            </a:pPr>
            <a:r>
              <a:rPr lang="ru-RU" sz="2400" dirty="0">
                <a:latin typeface="Times New Roman"/>
                <a:ea typeface="Times New Roman"/>
              </a:rPr>
              <a:t>Основные направления финансовой политики на текущий год и перспективу определяются в ежегодных посланиях Президента РФ Федеральному Собранию. </a:t>
            </a:r>
          </a:p>
          <a:p>
            <a:pPr indent="228600" algn="just">
              <a:spcAft>
                <a:spcPts val="0"/>
              </a:spcAft>
            </a:pPr>
            <a:r>
              <a:rPr lang="ru-RU" sz="2400" dirty="0">
                <a:latin typeface="Times New Roman"/>
                <a:ea typeface="Times New Roman"/>
              </a:rPr>
              <a:t>Реализация основных направлений развития народного хозяйства страны и обеспечение стабильности в обществе возложены на Правительство РФ, которое в рамках основных направлений финансовой политики на текущий год разрабатывает проекты законов для ее реализации и вносит их в Государственную Думу для рассмотрения и принятия. </a:t>
            </a:r>
          </a:p>
          <a:p>
            <a:pPr indent="228600" algn="just">
              <a:spcAft>
                <a:spcPts val="0"/>
              </a:spcAft>
            </a:pPr>
            <a:r>
              <a:rPr lang="ru-RU" sz="2400" dirty="0">
                <a:latin typeface="Times New Roman"/>
                <a:ea typeface="Times New Roman"/>
              </a:rPr>
              <a:t>Далее идет стандартная работа законодательной власти по принятию и утверждению законов, необходимых для реализации финансовой политики. Заканчивается эта работа опубликованием федерального закона после подписания его Президентом РФ.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9115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88640"/>
            <a:ext cx="7681664" cy="6212160"/>
          </a:xfrm>
        </p:spPr>
        <p:txBody>
          <a:bodyPr/>
          <a:lstStyle/>
          <a:p>
            <a:pPr marL="114300" indent="0">
              <a:buNone/>
            </a:pPr>
            <a:r>
              <a:rPr lang="ru-RU" i="1" dirty="0"/>
              <a:t>Современная финансовая политика включает в себя следующие элементы:</a:t>
            </a:r>
            <a:endParaRPr lang="ru-RU" dirty="0"/>
          </a:p>
          <a:p>
            <a:pPr lvl="0"/>
            <a:r>
              <a:rPr lang="ru-RU" i="1" dirty="0"/>
              <a:t>налоговую политику,</a:t>
            </a:r>
            <a:endParaRPr lang="ru-RU" dirty="0"/>
          </a:p>
          <a:p>
            <a:pPr lvl="0"/>
            <a:r>
              <a:rPr lang="ru-RU" i="1" dirty="0"/>
              <a:t>бюджетную политику,</a:t>
            </a:r>
            <a:endParaRPr lang="ru-RU" dirty="0"/>
          </a:p>
          <a:p>
            <a:pPr lvl="0"/>
            <a:r>
              <a:rPr lang="ru-RU" i="1" dirty="0"/>
              <a:t>таможенную политику,</a:t>
            </a:r>
            <a:endParaRPr lang="ru-RU" dirty="0"/>
          </a:p>
          <a:p>
            <a:pPr lvl="0"/>
            <a:r>
              <a:rPr lang="ru-RU" i="1" dirty="0"/>
              <a:t>денежно-кредитную политику,</a:t>
            </a:r>
            <a:endParaRPr lang="ru-RU" dirty="0"/>
          </a:p>
          <a:p>
            <a:pPr lvl="0"/>
            <a:r>
              <a:rPr lang="ru-RU" i="1" dirty="0"/>
              <a:t>ценовую политику,</a:t>
            </a:r>
            <a:endParaRPr lang="ru-RU" dirty="0"/>
          </a:p>
          <a:p>
            <a:pPr lvl="0"/>
            <a:r>
              <a:rPr lang="ru-RU" i="1" dirty="0"/>
              <a:t>социальную политику,</a:t>
            </a:r>
            <a:endParaRPr lang="ru-RU" dirty="0"/>
          </a:p>
          <a:p>
            <a:pPr lvl="0"/>
            <a:r>
              <a:rPr lang="ru-RU" i="1" dirty="0"/>
              <a:t>инвестиционную политику.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8082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7465640" cy="562074"/>
          </a:xfrm>
        </p:spPr>
        <p:txBody>
          <a:bodyPr/>
          <a:lstStyle/>
          <a:p>
            <a:pPr algn="ctr"/>
            <a:r>
              <a:rPr lang="ru-RU" dirty="0"/>
              <a:t>Налоговая политика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268760"/>
            <a:ext cx="7681664" cy="5132040"/>
          </a:xfrm>
        </p:spPr>
        <p:txBody>
          <a:bodyPr>
            <a:normAutofit fontScale="92500"/>
          </a:bodyPr>
          <a:lstStyle/>
          <a:p>
            <a:r>
              <a:rPr lang="ru-RU" dirty="0"/>
              <a:t>Важнейшим элементом финансовой политики во все времена являлась </a:t>
            </a:r>
            <a:r>
              <a:rPr lang="ru-RU" u="sng" dirty="0"/>
              <a:t>налоговая политика</a:t>
            </a:r>
            <a:r>
              <a:rPr lang="ru-RU" dirty="0"/>
              <a:t> – основа фискальной политики любого государства. Современная налоговая политика выражается в следующих направлениях:</a:t>
            </a:r>
          </a:p>
          <a:p>
            <a:pPr lvl="0"/>
            <a:r>
              <a:rPr lang="ru-RU" dirty="0"/>
              <a:t>определение оптимального налогового порога (при изъятии более 30% чистого дохода экономический рост останавливается);</a:t>
            </a:r>
          </a:p>
          <a:p>
            <a:pPr lvl="0"/>
            <a:r>
              <a:rPr lang="ru-RU" dirty="0"/>
              <a:t>сокращение налогового бремени;</a:t>
            </a:r>
          </a:p>
          <a:p>
            <a:pPr lvl="0"/>
            <a:r>
              <a:rPr lang="ru-RU" dirty="0"/>
              <a:t>использование в качестве основной налоговой базы прямых налогов, а не легко собираемых косвенных налогов;</a:t>
            </a:r>
          </a:p>
          <a:p>
            <a:pPr lvl="0"/>
            <a:r>
              <a:rPr lang="ru-RU" dirty="0"/>
              <a:t>создание стабильных законов и правил для государственного регулирования экономики;</a:t>
            </a:r>
          </a:p>
          <a:p>
            <a:pPr lvl="0"/>
            <a:r>
              <a:rPr lang="ru-RU" dirty="0"/>
              <a:t>обеспечение простоты, открытости и эффективности налоговой системы.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2396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88640"/>
            <a:ext cx="7897688" cy="6212160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Фискальная политика дополняется </a:t>
            </a:r>
            <a:r>
              <a:rPr lang="ru-RU" u="sng" dirty="0"/>
              <a:t>таможенной и ценовой политикой</a:t>
            </a:r>
            <a:r>
              <a:rPr lang="ru-RU" dirty="0"/>
              <a:t>. Таможенная политика оказывает прямое воздействие на цену товаров и услуг через таможенные сборы и пошлины, чем обеспечивает более льготные условия отечественным производителям и способствует пополнению доходной части государственного бюджета. Ценовая политика сводится к регулированию цен и тарифов на монопольные товары и услуги (напр., железнодорожные тарифы, тарифы на электроэнергию, тарифы на коммунальные услуги, тарифы на воду и т.п.). Эти платежи по сути своей налоговыми не являются, но по своему действию ничем от налоговых платежей не отличаются. За их счет возрастают цены на товары и услуги, а  государство получает зачастую повышенный доход как собственник.</a:t>
            </a:r>
          </a:p>
        </p:txBody>
      </p:sp>
    </p:spTree>
    <p:extLst>
      <p:ext uri="{BB962C8B-B14F-4D97-AF65-F5344CB8AC3E}">
        <p14:creationId xmlns:p14="http://schemas.microsoft.com/office/powerpoint/2010/main" val="3521954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547992" cy="504056"/>
          </a:xfrm>
        </p:spPr>
        <p:txBody>
          <a:bodyPr/>
          <a:lstStyle/>
          <a:p>
            <a:pPr algn="ctr"/>
            <a:r>
              <a:rPr lang="ru-RU" sz="3200" u="sng" spc="0" dirty="0">
                <a:solidFill>
                  <a:srgbClr val="2F2B20"/>
                </a:solidFill>
                <a:latin typeface="Calibri"/>
              </a:rPr>
              <a:t>Бюджетная политика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1196752"/>
            <a:ext cx="7465640" cy="5204048"/>
          </a:xfrm>
        </p:spPr>
        <p:txBody>
          <a:bodyPr/>
          <a:lstStyle/>
          <a:p>
            <a:r>
              <a:rPr lang="ru-RU" u="sng" dirty="0"/>
              <a:t>Бюджетная политика</a:t>
            </a:r>
            <a:r>
              <a:rPr lang="ru-RU" dirty="0"/>
              <a:t> сводится к следующим мероприятиям:</a:t>
            </a:r>
          </a:p>
          <a:p>
            <a:pPr lvl="0"/>
            <a:r>
              <a:rPr lang="ru-RU" dirty="0"/>
              <a:t>определению доли валового внутреннего продукта, мобилизуемой в бюджет; </a:t>
            </a:r>
          </a:p>
          <a:p>
            <a:pPr lvl="0"/>
            <a:r>
              <a:rPr lang="ru-RU" dirty="0"/>
              <a:t>установлению соотношения между доходными и расходными статьями;</a:t>
            </a:r>
          </a:p>
          <a:p>
            <a:pPr lvl="0"/>
            <a:r>
              <a:rPr lang="ru-RU" dirty="0"/>
              <a:t>определению основных путей покрытия бюджетного дефицита, если таковой предусмотрен бюджетной политикой;</a:t>
            </a:r>
          </a:p>
          <a:p>
            <a:pPr lvl="0"/>
            <a:r>
              <a:rPr lang="ru-RU" dirty="0"/>
              <a:t>оптимизации структуры расходной части бюджета;</a:t>
            </a:r>
          </a:p>
          <a:p>
            <a:pPr lvl="0"/>
            <a:r>
              <a:rPr lang="ru-RU" dirty="0"/>
              <a:t>распределению расходов между бюджетами разных уровней.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0854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7465640" cy="562074"/>
          </a:xfrm>
        </p:spPr>
        <p:txBody>
          <a:bodyPr/>
          <a:lstStyle/>
          <a:p>
            <a:pPr algn="ctr"/>
            <a:r>
              <a:rPr lang="ru-RU" sz="2800" b="1" spc="0" dirty="0">
                <a:solidFill>
                  <a:srgbClr val="2F2B20"/>
                </a:solidFill>
                <a:latin typeface="Calibri"/>
              </a:rPr>
              <a:t>Денежно-кредитная политика</a:t>
            </a:r>
            <a:endParaRPr lang="ru-RU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7609656" cy="5276056"/>
          </a:xfrm>
        </p:spPr>
        <p:txBody>
          <a:bodyPr/>
          <a:lstStyle/>
          <a:p>
            <a:r>
              <a:rPr lang="ru-RU" dirty="0"/>
              <a:t>Денежно-кредитная политика включает:</a:t>
            </a:r>
          </a:p>
          <a:p>
            <a:pPr lvl="0"/>
            <a:r>
              <a:rPr lang="ru-RU" dirty="0"/>
              <a:t>эмиссионную политику – определение показателя денежной массы и ее агрегатов и, исходя из этого, предложение необходимого количества денег в оборот;</a:t>
            </a:r>
          </a:p>
          <a:p>
            <a:pPr lvl="0"/>
            <a:r>
              <a:rPr lang="ru-RU" dirty="0"/>
              <a:t>политику стабилизации национальной валюты;</a:t>
            </a:r>
          </a:p>
          <a:p>
            <a:pPr lvl="0"/>
            <a:r>
              <a:rPr lang="ru-RU" dirty="0"/>
              <a:t>кредитную политику – определение условий функционирования ссудного капитала.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7631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274638"/>
            <a:ext cx="7249616" cy="706090"/>
          </a:xfrm>
        </p:spPr>
        <p:txBody>
          <a:bodyPr/>
          <a:lstStyle/>
          <a:p>
            <a:r>
              <a:rPr lang="ru-RU" dirty="0"/>
              <a:t> Социальная политика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340768"/>
            <a:ext cx="7609656" cy="5060032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Современная </a:t>
            </a:r>
            <a:r>
              <a:rPr lang="ru-RU" u="sng" dirty="0"/>
              <a:t>социальная политика</a:t>
            </a:r>
            <a:r>
              <a:rPr lang="ru-RU" dirty="0"/>
              <a:t> не просто связана с финансово-кредитной политикой, она становится ее неотъемлемой составной частью. Эту взаимосвязь можно увидеть в тех мероприятиях, которые включаются в социальную политику, таких как:</a:t>
            </a:r>
          </a:p>
          <a:p>
            <a:pPr lvl="0" algn="just"/>
            <a:r>
              <a:rPr lang="ru-RU" dirty="0"/>
              <a:t>согласование объемов финансовой помощи субъектам РФ с выполнением ими обязательств по финансированию бюджетной сферы за счет собственных доходов; </a:t>
            </a:r>
          </a:p>
          <a:p>
            <a:pPr lvl="0" algn="just"/>
            <a:r>
              <a:rPr lang="ru-RU" dirty="0"/>
              <a:t>разработка механизмов компенсации доходов наименее обеспеченных  слоев населения;</a:t>
            </a:r>
          </a:p>
          <a:p>
            <a:pPr lvl="0" algn="just"/>
            <a:r>
              <a:rPr lang="ru-RU" dirty="0"/>
              <a:t>реализация пенсионной реформы;</a:t>
            </a:r>
          </a:p>
          <a:p>
            <a:pPr lvl="0" algn="just"/>
            <a:r>
              <a:rPr lang="ru-RU" dirty="0"/>
              <a:t>упорядочение системы социальных льгот и выплат;</a:t>
            </a:r>
          </a:p>
          <a:p>
            <a:pPr lvl="0" algn="just"/>
            <a:r>
              <a:rPr lang="ru-RU" dirty="0"/>
              <a:t>повышение заработной платы работников бюджетной сферы;</a:t>
            </a:r>
          </a:p>
          <a:p>
            <a:pPr lvl="0" algn="just"/>
            <a:r>
              <a:rPr lang="ru-RU" dirty="0"/>
              <a:t>регулирование вынужденной миграции.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6715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Инвестиционная политика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340768"/>
            <a:ext cx="7620000" cy="4800600"/>
          </a:xfrm>
        </p:spPr>
        <p:txBody>
          <a:bodyPr/>
          <a:lstStyle/>
          <a:p>
            <a:r>
              <a:rPr lang="ru-RU" dirty="0"/>
              <a:t>Очень важной составляющей финансовой политики  в настоящее время является </a:t>
            </a:r>
            <a:r>
              <a:rPr lang="ru-RU" u="sng" dirty="0"/>
              <a:t>инвестиционная политика</a:t>
            </a:r>
            <a:r>
              <a:rPr lang="ru-RU" dirty="0"/>
              <a:t>, которая предполагает:</a:t>
            </a:r>
          </a:p>
          <a:p>
            <a:pPr lvl="0"/>
            <a:r>
              <a:rPr lang="ru-RU" dirty="0"/>
              <a:t>повышение роли бюджета в развитии экономики РФ;</a:t>
            </a:r>
          </a:p>
          <a:p>
            <a:pPr lvl="0"/>
            <a:r>
              <a:rPr lang="ru-RU" dirty="0"/>
              <a:t>создание условий для организованного накопления и инвестирования сбережений населения;</a:t>
            </a:r>
          </a:p>
          <a:p>
            <a:pPr lvl="0"/>
            <a:r>
              <a:rPr lang="ru-RU" dirty="0"/>
              <a:t>развитие ипотечного кредитования;</a:t>
            </a:r>
          </a:p>
          <a:p>
            <a:pPr lvl="0"/>
            <a:r>
              <a:rPr lang="ru-RU" dirty="0"/>
              <a:t>привлечение прямых иностранных инвестиций.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6361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228600" algn="ctr">
              <a:spcBef>
                <a:spcPct val="20000"/>
              </a:spcBef>
            </a:pPr>
            <a:r>
              <a:rPr lang="ru-RU" sz="2200" spc="0" dirty="0">
                <a:solidFill>
                  <a:srgbClr val="2F2B20"/>
                </a:solidFill>
                <a:latin typeface="Calibri"/>
              </a:rPr>
              <a:t/>
            </a:r>
            <a:br>
              <a:rPr lang="ru-RU" sz="2200" spc="0" dirty="0">
                <a:solidFill>
                  <a:srgbClr val="2F2B20"/>
                </a:solidFill>
                <a:latin typeface="Calibri"/>
              </a:rPr>
            </a:br>
            <a:r>
              <a:rPr lang="ru-RU" sz="2200" spc="0" dirty="0">
                <a:solidFill>
                  <a:srgbClr val="2F2B20"/>
                </a:solidFill>
                <a:latin typeface="Calibri"/>
              </a:rPr>
              <a:t/>
            </a:r>
            <a:br>
              <a:rPr lang="ru-RU" sz="2200" spc="0" dirty="0">
                <a:solidFill>
                  <a:srgbClr val="2F2B20"/>
                </a:solidFill>
                <a:latin typeface="Calibri"/>
              </a:rPr>
            </a:br>
            <a:r>
              <a:rPr lang="ru-RU" sz="2200" spc="0" dirty="0">
                <a:solidFill>
                  <a:srgbClr val="2F2B20"/>
                </a:solidFill>
                <a:latin typeface="Calibri"/>
              </a:rPr>
              <a:t>Экономическую основу любой финансовой политики составляет финансовое управление с присущим ему финансовым механизмом. </a:t>
            </a:r>
            <a:br>
              <a:rPr lang="ru-RU" sz="2200" spc="0" dirty="0">
                <a:solidFill>
                  <a:srgbClr val="2F2B20"/>
                </a:solidFill>
                <a:latin typeface="Calibri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i="1" u="sng" dirty="0"/>
              <a:t>Финансовый механизм</a:t>
            </a:r>
            <a:r>
              <a:rPr lang="ru-RU" i="1" dirty="0"/>
              <a:t> – это совокупность способов организации финансовых отношений в обществе (при помощи различных форм, видов и методов), установленных государством и законодательно оформленных. </a:t>
            </a:r>
            <a:r>
              <a:rPr lang="ru-RU" dirty="0"/>
              <a:t>Практическое использование финансового механизма осуществляется специальными организационными структурами, созданными для управления финансами.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6795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404664"/>
            <a:ext cx="7465640" cy="5996136"/>
          </a:xfrm>
        </p:spPr>
        <p:txBody>
          <a:bodyPr/>
          <a:lstStyle/>
          <a:p>
            <a:pPr indent="228600" algn="just">
              <a:spcAft>
                <a:spcPts val="0"/>
              </a:spcAft>
            </a:pPr>
            <a:r>
              <a:rPr lang="ru-RU" sz="2400" dirty="0">
                <a:latin typeface="Times New Roman"/>
                <a:ea typeface="Times New Roman"/>
              </a:rPr>
              <a:t>Финансовый механизм имеет сложную </a:t>
            </a:r>
            <a:r>
              <a:rPr lang="ru-RU" sz="2400" i="1" dirty="0">
                <a:latin typeface="Times New Roman"/>
                <a:ea typeface="Times New Roman"/>
              </a:rPr>
              <a:t>структуру</a:t>
            </a:r>
            <a:r>
              <a:rPr lang="ru-RU" sz="2400" dirty="0">
                <a:latin typeface="Times New Roman"/>
                <a:ea typeface="Times New Roman"/>
              </a:rPr>
              <a:t>, которая включает в себя:</a:t>
            </a:r>
          </a:p>
          <a:p>
            <a:pPr lvl="0" indent="-342900" algn="just">
              <a:buFont typeface="+mj-lt"/>
              <a:buAutoNum type="arabicPeriod"/>
              <a:tabLst>
                <a:tab pos="228600" algn="l"/>
              </a:tabLst>
            </a:pPr>
            <a:r>
              <a:rPr lang="ru-RU" sz="2400" dirty="0">
                <a:latin typeface="Times New Roman"/>
                <a:ea typeface="Times New Roman"/>
              </a:rPr>
              <a:t>финансовые методы;</a:t>
            </a:r>
          </a:p>
          <a:p>
            <a:pPr lvl="0" indent="-342900" algn="just">
              <a:buFont typeface="+mj-lt"/>
              <a:buAutoNum type="arabicPeriod"/>
              <a:tabLst>
                <a:tab pos="228600" algn="l"/>
              </a:tabLst>
            </a:pPr>
            <a:r>
              <a:rPr lang="ru-RU" sz="2400" dirty="0">
                <a:latin typeface="Times New Roman"/>
                <a:ea typeface="Times New Roman"/>
              </a:rPr>
              <a:t>финансовые инструменты (различные рычаги финансового воздействия и финансовые стимулы);</a:t>
            </a:r>
          </a:p>
          <a:p>
            <a:pPr lvl="0" indent="-342900" algn="just">
              <a:buFont typeface="+mj-lt"/>
              <a:buAutoNum type="arabicPeriod"/>
              <a:tabLst>
                <a:tab pos="228600" algn="l"/>
              </a:tabLst>
            </a:pPr>
            <a:r>
              <a:rPr lang="ru-RU" sz="2400" dirty="0">
                <a:latin typeface="Times New Roman"/>
                <a:ea typeface="Times New Roman"/>
              </a:rPr>
              <a:t>виды информационно-правового обеспечения финансовой деятельности.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757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260648"/>
            <a:ext cx="7753672" cy="6140152"/>
          </a:xfrm>
        </p:spPr>
        <p:txBody>
          <a:bodyPr>
            <a:normAutofit fontScale="85000" lnSpcReduction="10000"/>
          </a:bodyPr>
          <a:lstStyle/>
          <a:p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финансовым методам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относятся:</a:t>
            </a:r>
          </a:p>
          <a:p>
            <a:pPr marL="114300" lv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разработки финансовых планов (балансовый, нормативный, экстраполяции, математического моделирования);</a:t>
            </a:r>
          </a:p>
          <a:p>
            <a:pPr marL="114300" lv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финансового обеспечения (бюджетное финансирование, коммерческий расчет, самоокупаемость и самофинансирование, смешанное финансирование);</a:t>
            </a:r>
          </a:p>
          <a:p>
            <a:pPr marL="114300" lv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финансового регулирования (рыночные и директивные).</a:t>
            </a:r>
          </a:p>
          <a:p>
            <a:pPr indent="228600" algn="just">
              <a:spcAft>
                <a:spcPts val="0"/>
              </a:spcAft>
            </a:pPr>
            <a:r>
              <a:rPr lang="ru-RU" sz="2400" dirty="0">
                <a:latin typeface="Times New Roman"/>
                <a:ea typeface="Times New Roman"/>
              </a:rPr>
              <a:t>В группу </a:t>
            </a:r>
            <a:r>
              <a:rPr lang="ru-RU" sz="2400" u="sng" dirty="0">
                <a:latin typeface="Times New Roman"/>
                <a:ea typeface="Times New Roman"/>
              </a:rPr>
              <a:t>финансовых инструментов</a:t>
            </a:r>
            <a:r>
              <a:rPr lang="ru-RU" sz="2400" dirty="0">
                <a:latin typeface="Times New Roman"/>
                <a:ea typeface="Times New Roman"/>
              </a:rPr>
              <a:t> попадают: прибыль, доход, амортизационные отчисления, налоги, финансовые льготы и санкции, цена, дивиденды, процентные ставки, дисконт, паевые взносы, инвестиции, валютные курсы и другие формы и виды финансовых отношений, используемых в финансовом управлении.</a:t>
            </a:r>
          </a:p>
          <a:p>
            <a:pPr indent="228600" algn="just">
              <a:spcAft>
                <a:spcPts val="0"/>
              </a:spcAft>
            </a:pPr>
            <a:r>
              <a:rPr lang="ru-RU" sz="2400" dirty="0">
                <a:latin typeface="Times New Roman"/>
                <a:ea typeface="Times New Roman"/>
              </a:rPr>
              <a:t>Основными видами </a:t>
            </a:r>
            <a:r>
              <a:rPr lang="ru-RU" sz="2400" u="sng" dirty="0">
                <a:latin typeface="Times New Roman"/>
                <a:ea typeface="Times New Roman"/>
              </a:rPr>
              <a:t>информационно-правового обеспечения</a:t>
            </a:r>
            <a:r>
              <a:rPr lang="ru-RU" sz="2400" dirty="0">
                <a:latin typeface="Times New Roman"/>
                <a:ea typeface="Times New Roman"/>
              </a:rPr>
              <a:t> финансового управления являются:</a:t>
            </a:r>
          </a:p>
          <a:p>
            <a:pPr lvl="0" indent="-342900" algn="just">
              <a:buFont typeface="Symbol"/>
              <a:buChar char=""/>
              <a:tabLst>
                <a:tab pos="228600" algn="l"/>
              </a:tabLst>
            </a:pPr>
            <a:r>
              <a:rPr lang="ru-RU" sz="2400" dirty="0">
                <a:latin typeface="Times New Roman"/>
                <a:ea typeface="Times New Roman"/>
              </a:rPr>
              <a:t>правовое обеспечение – Законы РФ, Указы Президента РФ, Постановления Правительства РФ, приказы и письма Министерств и ведомств РФ, устав юридического лица;</a:t>
            </a:r>
          </a:p>
          <a:p>
            <a:pPr lvl="0" indent="-342900" algn="just">
              <a:buFont typeface="Symbol"/>
              <a:buChar char=""/>
              <a:tabLst>
                <a:tab pos="228600" algn="l"/>
              </a:tabLst>
            </a:pPr>
            <a:r>
              <a:rPr lang="ru-RU" sz="2400" dirty="0">
                <a:latin typeface="Times New Roman"/>
                <a:ea typeface="Times New Roman"/>
              </a:rPr>
              <a:t>нормативное обеспечение – инструкции, нормативы, нормы, методические указания и другая документация;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5543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седство">
  <a:themeElements>
    <a:clrScheme name="Соседство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Стандартная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едство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158</TotalTime>
  <Words>2782</Words>
  <Application>Microsoft Office PowerPoint</Application>
  <PresentationFormat>Экран (4:3)</PresentationFormat>
  <Paragraphs>356</Paragraphs>
  <Slides>41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2" baseType="lpstr">
      <vt:lpstr>Соседство</vt:lpstr>
      <vt:lpstr>Финансовая система страны</vt:lpstr>
      <vt:lpstr>Презентация PowerPoint</vt:lpstr>
      <vt:lpstr>Презентация PowerPoint</vt:lpstr>
      <vt:lpstr>Состав финансовой системы РФ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Темы презентаций</vt:lpstr>
      <vt:lpstr>Презентация PowerPoint</vt:lpstr>
      <vt:lpstr>Презентация PowerPoint</vt:lpstr>
      <vt:lpstr>Презентация PowerPoint</vt:lpstr>
      <vt:lpstr>Презентация PowerPoint</vt:lpstr>
      <vt:lpstr>Налоговая политика </vt:lpstr>
      <vt:lpstr>Презентация PowerPoint</vt:lpstr>
      <vt:lpstr>Бюджетная политика</vt:lpstr>
      <vt:lpstr>Денежно-кредитная политика</vt:lpstr>
      <vt:lpstr> Социальная политика </vt:lpstr>
      <vt:lpstr>Инвестиционная политика</vt:lpstr>
      <vt:lpstr>  Экономическую основу любой финансовой политики составляет финансовое управление с присущим ему финансовым механизмом. 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Финансовая система страны, её сферы и звенья</dc:title>
  <dc:creator>Паутова А.В.</dc:creator>
  <cp:lastModifiedBy>Паутова Анна Владиславовна</cp:lastModifiedBy>
  <cp:revision>59</cp:revision>
  <dcterms:created xsi:type="dcterms:W3CDTF">2023-09-28T10:49:22Z</dcterms:created>
  <dcterms:modified xsi:type="dcterms:W3CDTF">2025-03-05T06:03:47Z</dcterms:modified>
</cp:coreProperties>
</file>