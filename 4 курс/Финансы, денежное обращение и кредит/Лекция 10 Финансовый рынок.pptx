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90" r:id="rId31"/>
    <p:sldId id="291" r:id="rId32"/>
    <p:sldId id="285" r:id="rId3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331640" y="2420888"/>
            <a:ext cx="749808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effectLst/>
              </a:rPr>
              <a:t>Финансовый рынок, сущность и структура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8973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Вопросы: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6646" indent="-514350">
              <a:buFont typeface="+mj-lt"/>
              <a:buAutoNum type="arabicPeriod"/>
            </a:pPr>
            <a:r>
              <a:rPr lang="ru-RU" dirty="0"/>
              <a:t>Финансовый рынок, сущность и </a:t>
            </a:r>
            <a:r>
              <a:rPr lang="ru-RU" dirty="0" smtClean="0"/>
              <a:t>структура</a:t>
            </a:r>
          </a:p>
          <a:p>
            <a:pPr marL="596646" indent="-514350">
              <a:buFont typeface="+mj-lt"/>
              <a:buAutoNum type="arabicPeriod"/>
            </a:pPr>
            <a:r>
              <a:rPr lang="ru-RU" dirty="0"/>
              <a:t>Формирование рынка ценных </a:t>
            </a:r>
            <a:r>
              <a:rPr lang="ru-RU" dirty="0" smtClean="0"/>
              <a:t>бумаг</a:t>
            </a:r>
          </a:p>
          <a:p>
            <a:pPr marL="596646" indent="-514350">
              <a:buFont typeface="+mj-lt"/>
              <a:buAutoNum type="arabicPeriod"/>
            </a:pPr>
            <a:r>
              <a:rPr lang="ru-RU" dirty="0" smtClean="0"/>
              <a:t>Понятие </a:t>
            </a:r>
            <a:r>
              <a:rPr lang="ru-RU" dirty="0"/>
              <a:t>ценных бумаг и их виды </a:t>
            </a:r>
          </a:p>
        </p:txBody>
      </p:sp>
    </p:spTree>
    <p:extLst>
      <p:ext uri="{BB962C8B-B14F-4D97-AF65-F5344CB8AC3E}">
        <p14:creationId xmlns:p14="http://schemas.microsoft.com/office/powerpoint/2010/main" val="1631717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07704" y="0"/>
            <a:ext cx="7498080" cy="1143000"/>
          </a:xfrm>
        </p:spPr>
        <p:txBody>
          <a:bodyPr/>
          <a:lstStyle/>
          <a:p>
            <a:r>
              <a:rPr lang="ru-RU" dirty="0" smtClean="0"/>
              <a:t>Вопрос 1.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0" y="1196752"/>
            <a:ext cx="7962088" cy="5267672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>
                <a:solidFill>
                  <a:schemeClr val="tx2"/>
                </a:solidFill>
              </a:rPr>
              <a:t>Финансовый рынок </a:t>
            </a:r>
            <a:r>
              <a:rPr lang="ru-RU" dirty="0"/>
              <a:t>— это совокупность всех денежных ресурсов, находящихся в постоянном </a:t>
            </a:r>
            <a:r>
              <a:rPr lang="ru-RU" dirty="0" smtClean="0"/>
              <a:t>движении, </a:t>
            </a:r>
            <a:r>
              <a:rPr lang="ru-RU" dirty="0"/>
              <a:t>т.е. распределении и перераспределении под </a:t>
            </a:r>
            <a:r>
              <a:rPr lang="ru-RU" dirty="0" smtClean="0"/>
              <a:t>влиянием </a:t>
            </a:r>
            <a:r>
              <a:rPr lang="ru-RU" dirty="0"/>
              <a:t>меняющегося соотношения спроса и предложения на эти ресурсы со стороны различных субъектов экономики.</a:t>
            </a:r>
          </a:p>
          <a:p>
            <a:endParaRPr lang="ru-RU" dirty="0" smtClean="0"/>
          </a:p>
          <a:p>
            <a:r>
              <a:rPr lang="ru-RU" dirty="0" smtClean="0"/>
              <a:t>По </a:t>
            </a:r>
            <a:r>
              <a:rPr lang="ru-RU" dirty="0"/>
              <a:t>структуре финансовый рынок состоит из 3 взаимосвязанных дополняющих друг друга рынках:</a:t>
            </a:r>
          </a:p>
          <a:p>
            <a:pPr marL="82296" indent="0">
              <a:buNone/>
            </a:pPr>
            <a:r>
              <a:rPr lang="ru-RU" dirty="0"/>
              <a:t>1. Рынок находящихся в обращении </a:t>
            </a:r>
            <a:r>
              <a:rPr lang="ru-RU" dirty="0">
                <a:solidFill>
                  <a:srgbClr val="C00000"/>
                </a:solidFill>
              </a:rPr>
              <a:t>наличных денег </a:t>
            </a:r>
            <a:r>
              <a:rPr lang="ru-RU" dirty="0"/>
              <a:t>и выполняющих их функции краткосрочных платежных средств. (векселей, чеков и др.).</a:t>
            </a:r>
          </a:p>
          <a:p>
            <a:pPr marL="82296" indent="0">
              <a:buNone/>
            </a:pPr>
            <a:r>
              <a:rPr lang="ru-RU" dirty="0"/>
              <a:t>2. </a:t>
            </a:r>
            <a:r>
              <a:rPr lang="ru-RU" dirty="0">
                <a:solidFill>
                  <a:srgbClr val="C00000"/>
                </a:solidFill>
              </a:rPr>
              <a:t>Рынок банковских кредитов</a:t>
            </a:r>
            <a:r>
              <a:rPr lang="ru-RU" dirty="0"/>
              <a:t>. </a:t>
            </a:r>
          </a:p>
          <a:p>
            <a:pPr marL="82296" indent="0">
              <a:buNone/>
            </a:pPr>
            <a:r>
              <a:rPr lang="ru-RU" dirty="0"/>
              <a:t>3. </a:t>
            </a:r>
            <a:r>
              <a:rPr lang="ru-RU" dirty="0">
                <a:solidFill>
                  <a:srgbClr val="C00000"/>
                </a:solidFill>
              </a:rPr>
              <a:t>Рынок ценных бумаг</a:t>
            </a:r>
            <a:r>
              <a:rPr lang="ru-RU" dirty="0"/>
              <a:t>. 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4110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8" y="0"/>
            <a:ext cx="7890080" cy="624840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Воспроизводственный процесс включает четыре стадии — </a:t>
            </a:r>
            <a:r>
              <a:rPr lang="ru-RU" dirty="0">
                <a:solidFill>
                  <a:srgbClr val="FF0000"/>
                </a:solidFill>
              </a:rPr>
              <a:t>производство, </a:t>
            </a:r>
            <a:r>
              <a:rPr lang="ru-RU" dirty="0" smtClean="0">
                <a:solidFill>
                  <a:srgbClr val="FF0000"/>
                </a:solidFill>
              </a:rPr>
              <a:t>распределение</a:t>
            </a:r>
            <a:r>
              <a:rPr lang="ru-RU" dirty="0">
                <a:solidFill>
                  <a:srgbClr val="FF0000"/>
                </a:solidFill>
              </a:rPr>
              <a:t>, обмен и </a:t>
            </a:r>
            <a:r>
              <a:rPr lang="ru-RU" dirty="0" smtClean="0">
                <a:solidFill>
                  <a:srgbClr val="FF0000"/>
                </a:solidFill>
              </a:rPr>
              <a:t>потребление</a:t>
            </a:r>
          </a:p>
          <a:p>
            <a:r>
              <a:rPr lang="ru-RU" dirty="0"/>
              <a:t>В воспроизводстве участвуют государство, хозяйствующие субъекты, домашние хозяйства. </a:t>
            </a:r>
          </a:p>
          <a:p>
            <a:endParaRPr lang="ru-RU" dirty="0" smtClean="0"/>
          </a:p>
          <a:p>
            <a:pPr marL="596646" indent="-514350">
              <a:buFont typeface="+mj-lt"/>
              <a:buAutoNum type="arabicPeriod"/>
            </a:pPr>
            <a:r>
              <a:rPr lang="ru-RU" dirty="0"/>
              <a:t> </a:t>
            </a:r>
            <a:r>
              <a:rPr lang="ru-RU" dirty="0" smtClean="0"/>
              <a:t>На первой </a:t>
            </a:r>
            <a:r>
              <a:rPr lang="ru-RU" dirty="0"/>
              <a:t>стадии происходит первичное распределение и перераспределение </a:t>
            </a:r>
            <a:r>
              <a:rPr lang="ru-RU" dirty="0" smtClean="0"/>
              <a:t>стоимости ВВП </a:t>
            </a:r>
          </a:p>
          <a:p>
            <a:pPr marL="596646" indent="-514350">
              <a:buFont typeface="+mj-lt"/>
              <a:buAutoNum type="arabicPeriod"/>
            </a:pPr>
            <a:r>
              <a:rPr lang="ru-RU" dirty="0"/>
              <a:t> Обмен связывает производство и </a:t>
            </a:r>
            <a:r>
              <a:rPr lang="ru-RU" dirty="0" smtClean="0"/>
              <a:t>распределение </a:t>
            </a:r>
            <a:r>
              <a:rPr lang="ru-RU" dirty="0"/>
              <a:t>с </a:t>
            </a:r>
            <a:r>
              <a:rPr lang="ru-RU" dirty="0" smtClean="0"/>
              <a:t>потреблением</a:t>
            </a:r>
          </a:p>
          <a:p>
            <a:pPr marL="596646" indent="-514350">
              <a:buFont typeface="+mj-lt"/>
              <a:buAutoNum type="arabicPeriod"/>
            </a:pPr>
            <a:r>
              <a:rPr lang="ru-RU" dirty="0" smtClean="0"/>
              <a:t>Распределение </a:t>
            </a:r>
            <a:r>
              <a:rPr lang="ru-RU" dirty="0"/>
              <a:t>в нем делится на </a:t>
            </a:r>
            <a:r>
              <a:rPr lang="ru-RU" dirty="0" smtClean="0"/>
              <a:t>первичное </a:t>
            </a:r>
            <a:r>
              <a:rPr lang="ru-RU" dirty="0"/>
              <a:t>и вторичное (или перераспределение). </a:t>
            </a:r>
          </a:p>
        </p:txBody>
      </p:sp>
    </p:spTree>
    <p:extLst>
      <p:ext uri="{BB962C8B-B14F-4D97-AF65-F5344CB8AC3E}">
        <p14:creationId xmlns:p14="http://schemas.microsoft.com/office/powerpoint/2010/main" val="3378455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9632" y="332656"/>
            <a:ext cx="7674056" cy="591574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Перераспределение доходов </a:t>
            </a:r>
            <a:r>
              <a:rPr lang="ru-RU" dirty="0" smtClean="0"/>
              <a:t>участников </a:t>
            </a:r>
            <a:r>
              <a:rPr lang="ru-RU" dirty="0"/>
              <a:t>воспроизводственного процесса осуществляется с помощью </a:t>
            </a:r>
            <a:r>
              <a:rPr lang="ru-RU" dirty="0" smtClean="0"/>
              <a:t>государственных финансов </a:t>
            </a:r>
            <a:r>
              <a:rPr lang="ru-RU" dirty="0"/>
              <a:t>(налоги и сборы в бюджет и внебюджетные фонды), страхования (</a:t>
            </a:r>
            <a:r>
              <a:rPr lang="ru-RU" dirty="0" smtClean="0"/>
              <a:t>отчисления </a:t>
            </a:r>
            <a:r>
              <a:rPr lang="ru-RU" dirty="0"/>
              <a:t>на обязательное и добровольное страхование), финансового рынка (через </a:t>
            </a:r>
            <a:r>
              <a:rPr lang="ru-RU" dirty="0" smtClean="0"/>
              <a:t>финансовых </a:t>
            </a:r>
            <a:r>
              <a:rPr lang="ru-RU" dirty="0"/>
              <a:t>посредников и без их участия). </a:t>
            </a:r>
            <a:endParaRPr lang="ru-RU" dirty="0" smtClean="0"/>
          </a:p>
          <a:p>
            <a:r>
              <a:rPr lang="ru-RU" dirty="0" smtClean="0"/>
              <a:t>Таким </a:t>
            </a:r>
            <a:r>
              <a:rPr lang="ru-RU" dirty="0"/>
              <a:t>образом, финансовый рынок прямо не</a:t>
            </a:r>
          </a:p>
          <a:p>
            <a:pPr marL="82296" indent="0">
              <a:buNone/>
            </a:pPr>
            <a:r>
              <a:rPr lang="ru-RU" dirty="0"/>
              <a:t>участвует в воспроизводственном процессе, но косвенно, как один из </a:t>
            </a:r>
            <a:r>
              <a:rPr lang="ru-RU" dirty="0" smtClean="0"/>
              <a:t>инструментов вторичного </a:t>
            </a:r>
            <a:r>
              <a:rPr lang="ru-RU" dirty="0"/>
              <a:t>распределения (перераспределения), вовлечен в данный </a:t>
            </a:r>
            <a:r>
              <a:rPr lang="ru-RU" dirty="0" smtClean="0"/>
              <a:t>процесс.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1473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5616" y="188640"/>
            <a:ext cx="7818072" cy="6059760"/>
          </a:xfrm>
        </p:spPr>
        <p:txBody>
          <a:bodyPr>
            <a:normAutofit lnSpcReduction="10000"/>
          </a:bodyPr>
          <a:lstStyle/>
          <a:p>
            <a:pPr marL="82296" indent="0">
              <a:buNone/>
            </a:pPr>
            <a:r>
              <a:rPr lang="ru-RU" dirty="0"/>
              <a:t>Профессор Л. Н. Красавина указывает, что финансовый рынок представляет собой</a:t>
            </a:r>
          </a:p>
          <a:p>
            <a:pPr marL="82296" indent="0">
              <a:buNone/>
            </a:pPr>
            <a:r>
              <a:rPr lang="ru-RU" dirty="0"/>
              <a:t>«(с функциональной точки зрения)… сферу рыночных отношений, </a:t>
            </a:r>
            <a:r>
              <a:rPr lang="ru-RU" dirty="0" smtClean="0"/>
              <a:t>обеспечивающих аккумуляцию </a:t>
            </a:r>
            <a:r>
              <a:rPr lang="ru-RU" dirty="0"/>
              <a:t>и межотраслевое перераспределение денежных капиталов в целях </a:t>
            </a:r>
            <a:r>
              <a:rPr lang="ru-RU" dirty="0" smtClean="0"/>
              <a:t>непрерывности </a:t>
            </a:r>
            <a:r>
              <a:rPr lang="ru-RU" dirty="0"/>
              <a:t>и рентабельности воспроизводства». Поэтому, на ее взгляд, </a:t>
            </a:r>
            <a:r>
              <a:rPr lang="ru-RU" dirty="0" smtClean="0"/>
              <a:t>целесообразна </a:t>
            </a:r>
            <a:r>
              <a:rPr lang="ru-RU" dirty="0"/>
              <a:t>широкая трактовка финансового рынка, включая все его сегменты — </a:t>
            </a:r>
            <a:r>
              <a:rPr lang="ru-RU" dirty="0" smtClean="0"/>
              <a:t>фондовый, кредитный</a:t>
            </a:r>
            <a:r>
              <a:rPr lang="ru-RU" dirty="0"/>
              <a:t>, валютный, </a:t>
            </a:r>
            <a:r>
              <a:rPr lang="ru-RU" dirty="0" smtClean="0"/>
              <a:t>страховой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0460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9632" y="260648"/>
            <a:ext cx="7674056" cy="5987752"/>
          </a:xfrm>
        </p:spPr>
        <p:txBody>
          <a:bodyPr>
            <a:normAutofit/>
          </a:bodyPr>
          <a:lstStyle/>
          <a:p>
            <a:r>
              <a:rPr lang="ru-RU" dirty="0"/>
              <a:t>А. А. </a:t>
            </a:r>
            <a:r>
              <a:rPr lang="ru-RU" dirty="0" err="1"/>
              <a:t>Суэтин</a:t>
            </a:r>
            <a:r>
              <a:rPr lang="ru-RU" dirty="0"/>
              <a:t>, профессор Финансовой академии при Правительстве России</a:t>
            </a:r>
          </a:p>
          <a:p>
            <a:pPr marL="82296" indent="0">
              <a:buNone/>
            </a:pPr>
            <a:r>
              <a:rPr lang="ru-RU" dirty="0"/>
              <a:t>считает, что «финансовый рынок — это место, где осуществляется </a:t>
            </a:r>
            <a:r>
              <a:rPr lang="ru-RU" dirty="0" smtClean="0"/>
              <a:t>продажа-покупка финансового </a:t>
            </a:r>
            <a:r>
              <a:rPr lang="ru-RU" dirty="0"/>
              <a:t>капитала — денежных средств</a:t>
            </a:r>
            <a:r>
              <a:rPr lang="ru-RU" dirty="0" smtClean="0"/>
              <a:t>»</a:t>
            </a:r>
          </a:p>
          <a:p>
            <a:r>
              <a:rPr lang="ru-RU" dirty="0"/>
              <a:t>В Большом экономическом словаре </a:t>
            </a:r>
            <a:endParaRPr lang="ru-RU" dirty="0" smtClean="0"/>
          </a:p>
          <a:p>
            <a:pPr marL="82296" indent="0">
              <a:buNone/>
            </a:pPr>
            <a:r>
              <a:rPr lang="ru-RU" dirty="0" smtClean="0"/>
              <a:t>дается </a:t>
            </a:r>
            <a:r>
              <a:rPr lang="ru-RU" dirty="0"/>
              <a:t>определение финансового рынка как рынка краткосрочных, среднесрочных и долгосрочных кредитов, инвестиций, </a:t>
            </a:r>
            <a:r>
              <a:rPr lang="ru-RU" dirty="0" smtClean="0"/>
              <a:t>ценных бумаг</a:t>
            </a:r>
            <a:r>
              <a:rPr lang="ru-RU" dirty="0"/>
              <a:t>, вкладов и т. п</a:t>
            </a:r>
          </a:p>
        </p:txBody>
      </p:sp>
    </p:spTree>
    <p:extLst>
      <p:ext uri="{BB962C8B-B14F-4D97-AF65-F5344CB8AC3E}">
        <p14:creationId xmlns:p14="http://schemas.microsoft.com/office/powerpoint/2010/main" val="396488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0" y="836712"/>
            <a:ext cx="7962088" cy="5411688"/>
          </a:xfrm>
        </p:spPr>
        <p:txBody>
          <a:bodyPr>
            <a:normAutofit lnSpcReduction="10000"/>
          </a:bodyPr>
          <a:lstStyle/>
          <a:p>
            <a:pPr marL="82296" indent="0" algn="ctr">
              <a:buNone/>
            </a:pPr>
            <a:r>
              <a:rPr lang="ru-RU" u="sng" dirty="0" smtClean="0"/>
              <a:t>Рынок ценных бумаг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smtClean="0"/>
              <a:t>Этот </a:t>
            </a:r>
            <a:r>
              <a:rPr lang="ru-RU" dirty="0"/>
              <a:t>рынок отсутствовал в России более 70 лет и его развитие начавшееся в конце 80-х годов 20 века не может быть одномоментным процессом.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Рынок ценных бумаг в царской России формировался и развивался около 150 лет (1769-1913 гг.) в тесной связи с эволюцией экономики и политикой страны. Здесь можно выделить три периода.</a:t>
            </a:r>
          </a:p>
          <a:p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347864" y="116632"/>
            <a:ext cx="2232248" cy="43204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Вопрос 2.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7570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5656" y="44624"/>
            <a:ext cx="7530040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Периоды становления рынка ценных бумаг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87624" y="1124744"/>
            <a:ext cx="7746064" cy="547260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ru-RU" sz="3400" i="1" dirty="0">
                <a:solidFill>
                  <a:srgbClr val="C00000"/>
                </a:solidFill>
              </a:rPr>
              <a:t>Первый период </a:t>
            </a:r>
            <a:r>
              <a:rPr lang="ru-RU" sz="3400" i="1" dirty="0"/>
              <a:t>- </a:t>
            </a:r>
            <a:r>
              <a:rPr lang="ru-RU" sz="3400" dirty="0"/>
              <a:t>с 1769 г. до конца 50-х гг. </a:t>
            </a:r>
            <a:r>
              <a:rPr lang="en-US" sz="3400" dirty="0"/>
              <a:t>XIX</a:t>
            </a:r>
            <a:r>
              <a:rPr lang="ru-RU" sz="3400" dirty="0"/>
              <a:t> в. - время возникновения и начала становления рынка ценных бумаг, когда происходило преимущественно обращение государственных ценных бумаг.</a:t>
            </a:r>
          </a:p>
          <a:p>
            <a:pPr algn="just"/>
            <a:r>
              <a:rPr lang="ru-RU" sz="3400" i="1" dirty="0">
                <a:solidFill>
                  <a:srgbClr val="C00000"/>
                </a:solidFill>
              </a:rPr>
              <a:t>Второй период </a:t>
            </a:r>
            <a:r>
              <a:rPr lang="ru-RU" sz="3400" i="1" dirty="0"/>
              <a:t>- </a:t>
            </a:r>
            <a:r>
              <a:rPr lang="ru-RU" sz="3400" dirty="0"/>
              <a:t>с 60-х гг. </a:t>
            </a:r>
            <a:r>
              <a:rPr lang="en-US" sz="3400" dirty="0"/>
              <a:t>XIX</a:t>
            </a:r>
            <a:r>
              <a:rPr lang="ru-RU" sz="3400" dirty="0"/>
              <a:t> в. по 1897 г. - совпал с завершением денежной реформы (введением "золотой валюты"). Этот период считается важнейшим, так как охватывает интенсивное развитие рынка ценных бумаг.</a:t>
            </a:r>
          </a:p>
          <a:p>
            <a:pPr algn="just"/>
            <a:r>
              <a:rPr lang="ru-RU" sz="3400" i="1" dirty="0">
                <a:solidFill>
                  <a:srgbClr val="C00000"/>
                </a:solidFill>
              </a:rPr>
              <a:t>Третий период </a:t>
            </a:r>
            <a:r>
              <a:rPr lang="ru-RU" sz="3400" i="1" dirty="0"/>
              <a:t>- </a:t>
            </a:r>
            <a:r>
              <a:rPr lang="ru-RU" sz="3400" dirty="0"/>
              <a:t>с 1897 по 1913 г. (начало первой мировой войны) -соответствует чертам становления "зрелого" рынка ценных бумаг.</a:t>
            </a:r>
          </a:p>
          <a:p>
            <a:pPr marL="82296" indent="0" algn="just">
              <a:buNone/>
            </a:pPr>
            <a:r>
              <a:rPr lang="ru-RU" sz="3400" dirty="0"/>
              <a:t>В России, как и в других европейских странах, первыми фондовыми ценностями на зарождающемся финансовом рынке выступали государственные ценные бумаги (ГЦБ).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3571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87624" y="260648"/>
            <a:ext cx="7746064" cy="5987752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 До возникновения ГЦБ главными источниками покрытия чрезвычайных расходов государства служили заимствование средств у государственных кредитных учреждений и эмиссия бумажных денег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 smtClean="0"/>
              <a:t> </a:t>
            </a:r>
            <a:r>
              <a:rPr lang="ru-RU" dirty="0"/>
              <a:t>Непрерывные войны заставляли правительство искать новые источники финансирования. </a:t>
            </a:r>
            <a:endParaRPr lang="en-US" dirty="0" smtClean="0"/>
          </a:p>
          <a:p>
            <a:r>
              <a:rPr lang="ru-RU" dirty="0" smtClean="0"/>
              <a:t>В </a:t>
            </a:r>
            <a:r>
              <a:rPr lang="ru-RU" dirty="0"/>
              <a:t>1769 г. (при Екатерине </a:t>
            </a:r>
            <a:r>
              <a:rPr lang="en-US" dirty="0"/>
              <a:t>II</a:t>
            </a:r>
            <a:r>
              <a:rPr lang="ru-RU" dirty="0"/>
              <a:t>) впервые появились государственные ценные бумаги в форме облигационного внешнего займа России, который был размещен на голландском рынке через посредника-банкира, исходя из 5% годовых сроком на 10 лет. </a:t>
            </a:r>
          </a:p>
        </p:txBody>
      </p:sp>
    </p:spTree>
    <p:extLst>
      <p:ext uri="{BB962C8B-B14F-4D97-AF65-F5344CB8AC3E}">
        <p14:creationId xmlns:p14="http://schemas.microsoft.com/office/powerpoint/2010/main" val="2475944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608" y="188640"/>
            <a:ext cx="7570088" cy="597666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В истории ценных бумаг России особое место заняли </a:t>
            </a:r>
            <a:r>
              <a:rPr lang="ru-RU" i="1" dirty="0"/>
              <a:t>государственные ценные бумаги железнодорожных займов, </a:t>
            </a:r>
            <a:r>
              <a:rPr lang="ru-RU" dirty="0"/>
              <a:t>представившие собой инструмент инвестиционной политики правительства.</a:t>
            </a:r>
          </a:p>
          <a:p>
            <a:r>
              <a:rPr lang="ru-RU" dirty="0"/>
              <a:t>Первоначально в железнодорожном деле в качестве инвестора выступало казначейство, используя выпуск правительственных железнодорожных облигаций. </a:t>
            </a:r>
            <a:r>
              <a:rPr lang="ru-RU" dirty="0" smtClean="0"/>
              <a:t>Параллельно </a:t>
            </a:r>
            <a:r>
              <a:rPr lang="ru-RU" dirty="0"/>
              <a:t>с обращением государственных ценных бумаг развивались ценные бумаги во взаимосвязи с деятельностью хозяйственных субъектов. В первую очередь это относится к </a:t>
            </a:r>
            <a:r>
              <a:rPr lang="ru-RU" b="1" dirty="0"/>
              <a:t>векселям и акциям.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5381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87624" y="188640"/>
            <a:ext cx="7642096" cy="626469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Акционерные общества в России возникли еще в дореформенное время. К 1861 г. в России было 120 акционерных </a:t>
            </a:r>
            <a:r>
              <a:rPr lang="ru-RU" dirty="0" smtClean="0"/>
              <a:t>обществ. </a:t>
            </a:r>
            <a:r>
              <a:rPr lang="ru-RU" dirty="0"/>
              <a:t>К 1881 г. число акционерных обществ увеличилось до </a:t>
            </a:r>
            <a:r>
              <a:rPr lang="ru-RU" dirty="0" smtClean="0"/>
              <a:t>635</a:t>
            </a:r>
          </a:p>
          <a:p>
            <a:r>
              <a:rPr lang="ru-RU" dirty="0"/>
              <a:t>С 1810 г., когда Россия выпустила первый внутренний государственный </a:t>
            </a:r>
            <a:r>
              <a:rPr lang="ru-RU" dirty="0" err="1"/>
              <a:t>займ</a:t>
            </a:r>
            <a:r>
              <a:rPr lang="ru-RU" dirty="0"/>
              <a:t>, началась история формирования ее фондового рынка. Это проявилось прежде всего в возникновении </a:t>
            </a:r>
            <a:r>
              <a:rPr lang="ru-RU" b="1" dirty="0"/>
              <a:t>бирж, </a:t>
            </a:r>
            <a:r>
              <a:rPr lang="ru-RU" dirty="0"/>
              <a:t>на которых обращались ценные бумаги</a:t>
            </a:r>
            <a:r>
              <a:rPr lang="ru-RU" dirty="0" smtClean="0"/>
              <a:t>.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dirty="0" smtClean="0"/>
              <a:t>Рынок </a:t>
            </a:r>
            <a:r>
              <a:rPr lang="ru-RU" dirty="0"/>
              <a:t>ценных бумаг быстро развивался после отмены крепостного права, благодаря преобразованию экономической системы и развитию производительных сил</a:t>
            </a:r>
            <a:r>
              <a:rPr lang="ru-RU" dirty="0" smtClean="0"/>
              <a:t>.</a:t>
            </a:r>
          </a:p>
          <a:p>
            <a:r>
              <a:rPr lang="ru-RU" dirty="0"/>
              <a:t>Усиление государственного регулирования фондового рынка осуществлялось в течение 1900-1914 гг., т.е. в период наивысшего подъема биржевого дела в стране.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3486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9632" y="260648"/>
            <a:ext cx="7674056" cy="5987752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После октябрьских событий 1917 г, все операции с ценными бумагами на территории страны были запрещены. Были аннулированы облигации внутренних и внешних государственных займов. Это, с одной стороны, освободило страну от платежей по государственному долгу; с другой - привело к отказу от исторического опыта использования ценных </a:t>
            </a:r>
            <a:r>
              <a:rPr lang="ru-RU" dirty="0" smtClean="0"/>
              <a:t>бумаг. </a:t>
            </a:r>
          </a:p>
          <a:p>
            <a:r>
              <a:rPr lang="ru-RU" dirty="0" smtClean="0"/>
              <a:t>В </a:t>
            </a:r>
            <a:r>
              <a:rPr lang="ru-RU" dirty="0"/>
              <a:t>процессе национализации прекратили существование акционерные общества. Их акции и облигации утратили юридическую силу. В результате корпоративные ценные бумаги также были выведены из экономического оборота. Рынок ценных бумаг прекратил свое существование на территории Советской России.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2765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75656" y="116632"/>
            <a:ext cx="7458032" cy="613176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Великая Отечественная война потребовала огромных финансовых ресурсов. Государственные займы служили одним из существенных источников средств для финансирования военных расходов. С 1946 по 1957 г. было выпущено пять займов восстановления и развития народного хозяйства </a:t>
            </a:r>
            <a:r>
              <a:rPr lang="ru-RU" dirty="0" smtClean="0"/>
              <a:t>СССР.</a:t>
            </a:r>
          </a:p>
          <a:p>
            <a:r>
              <a:rPr lang="ru-RU" dirty="0"/>
              <a:t>В дальнейшем ценные бумаги почти вышли из народнохозяйственного оборота СССР. С этого практически нулевого состояния начинается возрождение рынка ценных бумаг.</a:t>
            </a:r>
          </a:p>
          <a:p>
            <a:r>
              <a:rPr lang="ru-RU" dirty="0"/>
              <a:t>В 90-х гг. Россия стала на путь возрождения рынка ценных бумаг</a:t>
            </a:r>
          </a:p>
        </p:txBody>
      </p:sp>
    </p:spTree>
    <p:extLst>
      <p:ext uri="{BB962C8B-B14F-4D97-AF65-F5344CB8AC3E}">
        <p14:creationId xmlns:p14="http://schemas.microsoft.com/office/powerpoint/2010/main" val="1709262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3648" y="260648"/>
            <a:ext cx="7530040" cy="5987752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Многие десятилетия в России, по существу, не было ни финансового рынка, ни его инфраструктуры: частных коммерческих и инвестиционных банков, бирж, страховых обществ и т.п</a:t>
            </a:r>
            <a:r>
              <a:rPr lang="ru-RU" dirty="0" smtClean="0"/>
              <a:t>.</a:t>
            </a:r>
          </a:p>
          <a:p>
            <a:r>
              <a:rPr lang="ru-RU" dirty="0"/>
              <a:t> В стране не существовало конкуренции между производителями товаров и услуг, в том числе финансовых, которая является двигателем общественного прогресса. </a:t>
            </a:r>
            <a:endParaRPr lang="ru-RU" dirty="0" smtClean="0"/>
          </a:p>
          <a:p>
            <a:r>
              <a:rPr lang="ru-RU" dirty="0" smtClean="0"/>
              <a:t>Поэтому </a:t>
            </a:r>
            <a:r>
              <a:rPr lang="ru-RU" dirty="0"/>
              <a:t>за годы существования "плановой экономики" объем и структура общественного производства оказались в отрыве от объема и структуры общественно необходимых потребностей населения. В результате сформировалась "экономика </a:t>
            </a:r>
            <a:r>
              <a:rPr lang="ru-RU" dirty="0" smtClean="0"/>
              <a:t>дефицита».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0797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Вопрос 3. Понятие ценных бумаг и их виды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790468"/>
            <a:ext cx="6264696" cy="3331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Прямая соединительная линия 6"/>
          <p:cNvCxnSpPr/>
          <p:nvPr/>
        </p:nvCxnSpPr>
        <p:spPr>
          <a:xfrm>
            <a:off x="8028384" y="1988840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1115616" y="4365104"/>
            <a:ext cx="78488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Юридическое содержание ценных бумаг определено в первой части Гражданского кодекса РФ (ст. 142). Ценной бумагой является документ, удостоверяющий с соблюдением установленной формы и обязательных реквизитов имущественные права, осуществление или передача которых возможны только при его предъявлении.</a:t>
            </a:r>
          </a:p>
        </p:txBody>
      </p:sp>
    </p:spTree>
    <p:extLst>
      <p:ext uri="{BB962C8B-B14F-4D97-AF65-F5344CB8AC3E}">
        <p14:creationId xmlns:p14="http://schemas.microsoft.com/office/powerpoint/2010/main" val="1328288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56872" cy="922114"/>
          </a:xfrm>
        </p:spPr>
        <p:txBody>
          <a:bodyPr>
            <a:noAutofit/>
          </a:bodyPr>
          <a:lstStyle/>
          <a:p>
            <a:pPr algn="ctr">
              <a:spcAft>
                <a:spcPts val="0"/>
              </a:spcAft>
            </a:pPr>
            <a:r>
              <a:rPr lang="ru-RU" sz="2400" b="1" dirty="0" smtClean="0">
                <a:effectLst/>
                <a:latin typeface="Times New Roman"/>
                <a:ea typeface="Times New Roman"/>
              </a:rPr>
              <a:t>Различные признаки </a:t>
            </a:r>
            <a:r>
              <a:rPr lang="ru-RU" sz="2400" b="1" dirty="0">
                <a:effectLst/>
                <a:latin typeface="Times New Roman"/>
                <a:ea typeface="Times New Roman"/>
              </a:rPr>
              <a:t>ценных бумаг</a:t>
            </a:r>
            <a:r>
              <a:rPr lang="ru-RU" sz="2400" dirty="0">
                <a:effectLst/>
                <a:latin typeface="Times New Roman"/>
                <a:ea typeface="Times New Roman"/>
              </a:rPr>
              <a:t/>
            </a:r>
            <a:br>
              <a:rPr lang="ru-RU" sz="2400" dirty="0">
                <a:effectLst/>
                <a:latin typeface="Times New Roman"/>
                <a:ea typeface="Times New Roman"/>
              </a:rPr>
            </a:br>
            <a:endParaRPr lang="ru-RU" sz="24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628800"/>
            <a:ext cx="6696744" cy="4854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1832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31640" y="188640"/>
            <a:ext cx="7530040" cy="6248400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 В зависимости от перехода прав на них и их осуществления ценные бумаги делятся на именные, на предъявительские и на ордерные. </a:t>
            </a:r>
            <a:endParaRPr lang="ru-RU" dirty="0" smtClean="0"/>
          </a:p>
          <a:p>
            <a:r>
              <a:rPr lang="ru-RU" i="1" dirty="0" smtClean="0"/>
              <a:t>Именные </a:t>
            </a:r>
            <a:r>
              <a:rPr lang="ru-RU" dirty="0"/>
              <a:t>эмиссионные ценные бумаги выписываются на определенного </a:t>
            </a:r>
            <a:r>
              <a:rPr lang="ru-RU" dirty="0" smtClean="0"/>
              <a:t>владельца. Переход </a:t>
            </a:r>
            <a:r>
              <a:rPr lang="ru-RU" dirty="0"/>
              <a:t>прав требуют обязательной идентификации владельца.</a:t>
            </a:r>
          </a:p>
          <a:p>
            <a:r>
              <a:rPr lang="ru-RU" dirty="0">
                <a:solidFill>
                  <a:srgbClr val="FF0000"/>
                </a:solidFill>
              </a:rPr>
              <a:t>К именным ценным бумагам относятся: государственная облигация, облигация, депозитный и сберегательные сертификаты, коносамент, акция, жилищные сертификаты.</a:t>
            </a:r>
          </a:p>
          <a:p>
            <a:r>
              <a:rPr lang="ru-RU" dirty="0" smtClean="0"/>
              <a:t>Бумаги  </a:t>
            </a:r>
            <a:r>
              <a:rPr lang="ru-RU" i="1" dirty="0"/>
              <a:t>на предъявителя </a:t>
            </a:r>
            <a:r>
              <a:rPr lang="ru-RU" i="1" dirty="0" smtClean="0"/>
              <a:t> </a:t>
            </a:r>
            <a:r>
              <a:rPr lang="ru-RU" dirty="0" smtClean="0"/>
              <a:t>передаются </a:t>
            </a:r>
            <a:r>
              <a:rPr lang="ru-RU" dirty="0"/>
              <a:t>другому лицу путем простого вручения.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Бумагами </a:t>
            </a:r>
            <a:r>
              <a:rPr lang="ru-RU" dirty="0">
                <a:solidFill>
                  <a:srgbClr val="FF0000"/>
                </a:solidFill>
              </a:rPr>
              <a:t>на предъявителя могут быть государственные облигации, облигации, депозитные и сберегательные сертификаты, коносаменты, банковская сберегательная книжка на предъявителя, простое складское свидетельство. </a:t>
            </a:r>
            <a:endParaRPr lang="ru-RU" dirty="0" smtClean="0">
              <a:solidFill>
                <a:srgbClr val="FF0000"/>
              </a:solidFill>
            </a:endParaRPr>
          </a:p>
          <a:p>
            <a:r>
              <a:rPr lang="ru-RU" i="1" dirty="0" smtClean="0"/>
              <a:t>Ордерные </a:t>
            </a:r>
            <a:r>
              <a:rPr lang="ru-RU" i="1" dirty="0"/>
              <a:t>ценные бумаги </a:t>
            </a:r>
            <a:r>
              <a:rPr lang="ru-RU" dirty="0"/>
              <a:t> - права по ним могут принадлежать названному в ценной бумаге лицу, которое само осуществляет эти права или назначает своим распоряжением (приказом) другое правомочное лицо. Права по ордерной ценной бумаги передаются путем совершения на этой бумаге передаточной подписи – индоссамента. </a:t>
            </a:r>
          </a:p>
          <a:p>
            <a:r>
              <a:rPr lang="ru-RU" dirty="0">
                <a:solidFill>
                  <a:srgbClr val="FF0000"/>
                </a:solidFill>
              </a:rPr>
              <a:t>Ордерные ценные бумаги : вексель, коносамент, чек, двойное складское свидетельство.</a:t>
            </a:r>
          </a:p>
        </p:txBody>
      </p:sp>
    </p:spTree>
    <p:extLst>
      <p:ext uri="{BB962C8B-B14F-4D97-AF65-F5344CB8AC3E}">
        <p14:creationId xmlns:p14="http://schemas.microsoft.com/office/powerpoint/2010/main" val="2899145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31640" y="116632"/>
            <a:ext cx="7602048" cy="6131768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ru-RU" i="1" dirty="0">
                <a:solidFill>
                  <a:srgbClr val="FF0000"/>
                </a:solidFill>
              </a:rPr>
              <a:t>Документарная форма ЦБ </a:t>
            </a:r>
            <a:r>
              <a:rPr lang="ru-RU" i="1" dirty="0"/>
              <a:t>– форма ЦБ, при которой владелец устанавливается на основании предъявления оформленного надлежащим образом бланка или сертификата </a:t>
            </a:r>
            <a:r>
              <a:rPr lang="ru-RU" i="1" dirty="0" smtClean="0"/>
              <a:t>ЦБ</a:t>
            </a:r>
          </a:p>
          <a:p>
            <a:pPr marL="82296" indent="0">
              <a:buNone/>
            </a:pPr>
            <a:r>
              <a:rPr lang="ru-RU" i="1" dirty="0">
                <a:solidFill>
                  <a:srgbClr val="FF0000"/>
                </a:solidFill>
              </a:rPr>
              <a:t>Бездокументарная форма ценных бумаг </a:t>
            </a:r>
            <a:r>
              <a:rPr lang="ru-RU" i="1" dirty="0"/>
              <a:t>(ст. 149 ГК) – это форма ЦБ, при которой владелец устанавливается на основании записи в системе ведения реестра владельцев ценных бумаг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7406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Классификация ценных бумаг</a:t>
            </a:r>
            <a:endParaRPr lang="ru-RU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440728"/>
            <a:ext cx="7316585" cy="494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7963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7664" y="274638"/>
            <a:ext cx="7386024" cy="56207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Акция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3648" y="1124744"/>
            <a:ext cx="7530040" cy="5123656"/>
          </a:xfrm>
        </p:spPr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ru-RU" i="1" dirty="0">
                <a:solidFill>
                  <a:srgbClr val="FF0000"/>
                </a:solidFill>
              </a:rPr>
              <a:t>Акция</a:t>
            </a:r>
            <a:r>
              <a:rPr lang="ru-RU" i="1" dirty="0"/>
              <a:t> – это эмиссионная ценная бумага, закрепляющая </a:t>
            </a:r>
            <a:r>
              <a:rPr lang="ru-RU" i="1" dirty="0" smtClean="0"/>
              <a:t>право ее </a:t>
            </a:r>
            <a:r>
              <a:rPr lang="ru-RU" i="1" dirty="0"/>
              <a:t>владельца на </a:t>
            </a:r>
            <a:r>
              <a:rPr lang="ru-RU" i="1" dirty="0">
                <a:solidFill>
                  <a:srgbClr val="00B0F0"/>
                </a:solidFill>
              </a:rPr>
              <a:t>получение части прибыли </a:t>
            </a:r>
            <a:r>
              <a:rPr lang="ru-RU" i="1" dirty="0"/>
              <a:t>акционерного общества в виде дивидендов, </a:t>
            </a:r>
            <a:r>
              <a:rPr lang="ru-RU" i="1" dirty="0">
                <a:solidFill>
                  <a:srgbClr val="00B0F0"/>
                </a:solidFill>
              </a:rPr>
              <a:t>на участие в управлении </a:t>
            </a:r>
            <a:r>
              <a:rPr lang="ru-RU" i="1" dirty="0"/>
              <a:t>акционерным обществом и на </a:t>
            </a:r>
            <a:r>
              <a:rPr lang="ru-RU" i="1" dirty="0">
                <a:solidFill>
                  <a:srgbClr val="00B0F0"/>
                </a:solidFill>
              </a:rPr>
              <a:t>часть имущества</a:t>
            </a:r>
            <a:r>
              <a:rPr lang="ru-RU" i="1" dirty="0"/>
              <a:t>, остающегося после его ликвидации.</a:t>
            </a:r>
            <a:r>
              <a:rPr lang="ru-RU" dirty="0"/>
              <a:t> </a:t>
            </a:r>
            <a:endParaRPr lang="ru-RU" dirty="0" smtClean="0"/>
          </a:p>
          <a:p>
            <a:pPr marL="82296" indent="0">
              <a:buNone/>
            </a:pPr>
            <a:r>
              <a:rPr lang="ru-RU" dirty="0" smtClean="0"/>
              <a:t>Она </a:t>
            </a:r>
            <a:r>
              <a:rPr lang="ru-RU" dirty="0"/>
              <a:t>является бессрочной, т.е. обращается на рынке до тех пор, пока существует выпустившее ее акционерное общество (АО).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4375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764704"/>
            <a:ext cx="7316541" cy="507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504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75656" y="188640"/>
            <a:ext cx="7458032" cy="605976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Одной из основных  характеристик акции является номинал </a:t>
            </a:r>
            <a:r>
              <a:rPr lang="ru-RU" dirty="0" smtClean="0"/>
              <a:t>. Сумма </a:t>
            </a:r>
            <a:r>
              <a:rPr lang="ru-RU" dirty="0"/>
              <a:t>номинальных стоимостей всех размещенных акций составляет уставный капитал акционерного общества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Номинальная стоимость всех размещенных привилегированных акций не должна превышать 25% уставного капитала акционерного общества.</a:t>
            </a:r>
          </a:p>
          <a:p>
            <a:r>
              <a:rPr lang="ru-RU" dirty="0"/>
              <a:t> </a:t>
            </a:r>
            <a:r>
              <a:rPr lang="ru-RU" dirty="0" smtClean="0"/>
              <a:t>Номинальная </a:t>
            </a:r>
            <a:r>
              <a:rPr lang="ru-RU" dirty="0"/>
              <a:t>стоимость всех обыкновенных акций должна быть одинаковой. Одинаковой также должна являться номинальная стоимость привилегированных акций одного типа.</a:t>
            </a:r>
          </a:p>
          <a:p>
            <a:r>
              <a:rPr lang="ru-RU" dirty="0" smtClean="0"/>
              <a:t> </a:t>
            </a:r>
            <a:r>
              <a:rPr lang="ru-RU" dirty="0"/>
              <a:t>При учреждении АО все акции размещаются среди учредителей.</a:t>
            </a:r>
          </a:p>
        </p:txBody>
      </p:sp>
    </p:spTree>
    <p:extLst>
      <p:ext uri="{BB962C8B-B14F-4D97-AF65-F5344CB8AC3E}">
        <p14:creationId xmlns:p14="http://schemas.microsoft.com/office/powerpoint/2010/main" val="201754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>
                <a:effectLst/>
              </a:rPr>
              <a:t>Источники выплаты дивидендов по акциям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822" y="1781433"/>
            <a:ext cx="6161905" cy="4133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898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Облигации </a:t>
            </a:r>
            <a:r>
              <a:rPr lang="ru-RU" dirty="0"/>
              <a:t>акционерных обществ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060848"/>
            <a:ext cx="7778568" cy="3008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0318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15616" y="116633"/>
            <a:ext cx="8028384" cy="77251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sz="2400" dirty="0"/>
              <a:t>Облигации выпускаются с целью привлечения средств для решения текущих и перспективных задач акционерного общества</a:t>
            </a:r>
            <a:r>
              <a:rPr lang="ru-RU" sz="2400" smtClean="0"/>
              <a:t>.</a:t>
            </a:r>
            <a:r>
              <a:rPr lang="ru-RU" sz="2400"/>
              <a:t> </a:t>
            </a:r>
            <a:r>
              <a:rPr lang="ru-RU" sz="2400" smtClean="0"/>
              <a:t> </a:t>
            </a:r>
            <a:r>
              <a:rPr lang="ru-RU" sz="2400" dirty="0"/>
              <a:t>Держатель облигации рассчитывает на получение от своих                          инвестиций фиксированного дохода в форме выплаты процентов. В</a:t>
            </a:r>
            <a:r>
              <a:rPr lang="ru-RU" sz="2400" dirty="0" smtClean="0"/>
              <a:t> </a:t>
            </a:r>
            <a:r>
              <a:rPr lang="ru-RU" sz="2400" dirty="0"/>
              <a:t>некоторых случаях облигации продаются по цене ниже номинала (с дисконтом), а погашаются они заемщиком по </a:t>
            </a:r>
            <a:r>
              <a:rPr lang="ru-RU" sz="2400" dirty="0" smtClean="0"/>
              <a:t>номиналу. </a:t>
            </a:r>
          </a:p>
          <a:p>
            <a:pPr algn="just"/>
            <a:endParaRPr lang="ru-RU" sz="2400" dirty="0" smtClean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sz="2400" dirty="0" smtClean="0">
                <a:solidFill>
                  <a:srgbClr val="00B0F0"/>
                </a:solidFill>
              </a:rPr>
              <a:t>Закладная </a:t>
            </a:r>
            <a:r>
              <a:rPr lang="ru-RU" sz="2400" dirty="0">
                <a:solidFill>
                  <a:srgbClr val="00B0F0"/>
                </a:solidFill>
              </a:rPr>
              <a:t>облигация</a:t>
            </a:r>
            <a:r>
              <a:rPr lang="ru-RU" sz="2400" dirty="0"/>
              <a:t>, выпускаемая акционерным обществом, обеспечивается имуществом эмитента. Такая облигация является юридическим документом, подтверждающим, что эмитент заложил под свой долг имущество. По закладным облигациям, называемым облигациями под первый заклад, имущественные претензии удовлетворяются в первую очередь. Их еще называют </a:t>
            </a:r>
            <a:r>
              <a:rPr lang="ru-RU" sz="2400" dirty="0">
                <a:solidFill>
                  <a:srgbClr val="00B0F0"/>
                </a:solidFill>
              </a:rPr>
              <a:t>старшими ценными бумагами общества</a:t>
            </a:r>
            <a:r>
              <a:rPr lang="ru-RU" sz="2400" dirty="0" smtClean="0">
                <a:solidFill>
                  <a:srgbClr val="00B0F0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ru-RU" sz="1600" dirty="0" smtClean="0">
              <a:solidFill>
                <a:srgbClr val="00B0F0"/>
              </a:solidFill>
            </a:endParaRPr>
          </a:p>
          <a:p>
            <a:endParaRPr lang="ru-RU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ru-RU" dirty="0">
              <a:solidFill>
                <a:srgbClr val="00B0F0"/>
              </a:solidFill>
            </a:endParaRPr>
          </a:p>
          <a:p>
            <a:pPr algn="just"/>
            <a:endParaRPr lang="ru-RU" dirty="0" smtClean="0"/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5330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8"/>
          <p:cNvSpPr>
            <a:spLocks noChangeArrowheads="1"/>
          </p:cNvSpPr>
          <p:nvPr/>
        </p:nvSpPr>
        <p:spPr bwMode="auto">
          <a:xfrm>
            <a:off x="838200" y="720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5" name="Group 1"/>
          <p:cNvGrpSpPr>
            <a:grpSpLocks noChangeAspect="1"/>
          </p:cNvGrpSpPr>
          <p:nvPr/>
        </p:nvGrpSpPr>
        <p:grpSpPr bwMode="auto">
          <a:xfrm>
            <a:off x="1619672" y="893699"/>
            <a:ext cx="5829300" cy="5143500"/>
            <a:chOff x="1701" y="1134"/>
            <a:chExt cx="9180" cy="8100"/>
          </a:xfrm>
        </p:grpSpPr>
        <p:sp>
          <p:nvSpPr>
            <p:cNvPr id="6" name="AutoShape 27"/>
            <p:cNvSpPr>
              <a:spLocks noTextEdit="1"/>
            </p:cNvSpPr>
            <p:nvPr/>
          </p:nvSpPr>
          <p:spPr bwMode="auto">
            <a:xfrm>
              <a:off x="1701" y="1134"/>
              <a:ext cx="9180" cy="81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" name="AutoShape 26"/>
            <p:cNvSpPr>
              <a:spLocks noChangeArrowheads="1"/>
            </p:cNvSpPr>
            <p:nvPr/>
          </p:nvSpPr>
          <p:spPr bwMode="auto">
            <a:xfrm>
              <a:off x="4761" y="1674"/>
              <a:ext cx="3601" cy="540"/>
            </a:xfrm>
            <a:prstGeom prst="flowChartProcess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" name="Text Box 25"/>
            <p:cNvSpPr txBox="1">
              <a:spLocks noChangeArrowheads="1"/>
            </p:cNvSpPr>
            <p:nvPr/>
          </p:nvSpPr>
          <p:spPr bwMode="auto">
            <a:xfrm>
              <a:off x="4812" y="1759"/>
              <a:ext cx="3592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1200" b="1" i="0" u="sng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Выпуск облигаций возможен</a:t>
              </a:r>
              <a:endPara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AutoShape 24"/>
            <p:cNvSpPr>
              <a:spLocks noChangeShapeType="1"/>
            </p:cNvSpPr>
            <p:nvPr/>
          </p:nvSpPr>
          <p:spPr bwMode="auto">
            <a:xfrm>
              <a:off x="6560" y="2214"/>
              <a:ext cx="1" cy="52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" name="AutoShape 23"/>
            <p:cNvSpPr>
              <a:spLocks noChangeShapeType="1"/>
            </p:cNvSpPr>
            <p:nvPr/>
          </p:nvSpPr>
          <p:spPr bwMode="auto">
            <a:xfrm flipH="1">
              <a:off x="3891" y="2484"/>
              <a:ext cx="5404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AutoShape 22"/>
            <p:cNvSpPr>
              <a:spLocks noChangeShapeType="1"/>
            </p:cNvSpPr>
            <p:nvPr/>
          </p:nvSpPr>
          <p:spPr bwMode="auto">
            <a:xfrm>
              <a:off x="9293" y="2497"/>
              <a:ext cx="1" cy="3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AutoShape 21"/>
            <p:cNvSpPr>
              <a:spLocks noChangeShapeType="1"/>
            </p:cNvSpPr>
            <p:nvPr/>
          </p:nvSpPr>
          <p:spPr bwMode="auto">
            <a:xfrm flipH="1">
              <a:off x="3891" y="2495"/>
              <a:ext cx="2" cy="324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13" name="Group 18"/>
            <p:cNvGrpSpPr>
              <a:grpSpLocks/>
            </p:cNvGrpSpPr>
            <p:nvPr/>
          </p:nvGrpSpPr>
          <p:grpSpPr bwMode="auto">
            <a:xfrm>
              <a:off x="2165" y="2761"/>
              <a:ext cx="2875" cy="713"/>
              <a:chOff x="2603" y="2846"/>
              <a:chExt cx="2639" cy="540"/>
            </a:xfrm>
          </p:grpSpPr>
          <p:sp>
            <p:nvSpPr>
              <p:cNvPr id="30" name="Rectangle 20"/>
              <p:cNvSpPr>
                <a:spLocks noChangeArrowheads="1"/>
              </p:cNvSpPr>
              <p:nvPr/>
            </p:nvSpPr>
            <p:spPr bwMode="auto">
              <a:xfrm>
                <a:off x="2603" y="2846"/>
                <a:ext cx="2639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" name="Text Box 19"/>
              <p:cNvSpPr txBox="1">
                <a:spLocks noChangeArrowheads="1"/>
              </p:cNvSpPr>
              <p:nvPr/>
            </p:nvSpPr>
            <p:spPr bwMode="auto">
              <a:xfrm>
                <a:off x="2625" y="2924"/>
                <a:ext cx="2496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altLang="ru-RU" sz="12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Под залог имущества</a:t>
                </a:r>
                <a:endParaRPr kumimoji="0" lang="ru-RU" alt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4" name="Group 15"/>
            <p:cNvGrpSpPr>
              <a:grpSpLocks/>
            </p:cNvGrpSpPr>
            <p:nvPr/>
          </p:nvGrpSpPr>
          <p:grpSpPr bwMode="auto">
            <a:xfrm>
              <a:off x="5301" y="2754"/>
              <a:ext cx="2639" cy="1080"/>
              <a:chOff x="2603" y="2846"/>
              <a:chExt cx="2639" cy="540"/>
            </a:xfrm>
          </p:grpSpPr>
          <p:sp>
            <p:nvSpPr>
              <p:cNvPr id="28" name="Rectangle 17"/>
              <p:cNvSpPr>
                <a:spLocks noChangeArrowheads="1"/>
              </p:cNvSpPr>
              <p:nvPr/>
            </p:nvSpPr>
            <p:spPr bwMode="auto">
              <a:xfrm>
                <a:off x="2603" y="2846"/>
                <a:ext cx="2639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" name="Text Box 16"/>
              <p:cNvSpPr txBox="1">
                <a:spLocks noChangeArrowheads="1"/>
              </p:cNvSpPr>
              <p:nvPr/>
            </p:nvSpPr>
            <p:spPr bwMode="auto">
              <a:xfrm>
                <a:off x="2625" y="2924"/>
                <a:ext cx="2496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altLang="ru-RU" sz="12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Под обеспечение третьих лиц</a:t>
                </a:r>
                <a:endParaRPr kumimoji="0" lang="ru-RU" alt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5" name="Group 12"/>
            <p:cNvGrpSpPr>
              <a:grpSpLocks/>
            </p:cNvGrpSpPr>
            <p:nvPr/>
          </p:nvGrpSpPr>
          <p:grpSpPr bwMode="auto">
            <a:xfrm>
              <a:off x="8001" y="2754"/>
              <a:ext cx="2880" cy="585"/>
              <a:chOff x="2603" y="2846"/>
              <a:chExt cx="2639" cy="540"/>
            </a:xfrm>
          </p:grpSpPr>
          <p:sp>
            <p:nvSpPr>
              <p:cNvPr id="26" name="Rectangle 14"/>
              <p:cNvSpPr>
                <a:spLocks noChangeArrowheads="1"/>
              </p:cNvSpPr>
              <p:nvPr/>
            </p:nvSpPr>
            <p:spPr bwMode="auto">
              <a:xfrm>
                <a:off x="2603" y="2846"/>
                <a:ext cx="2639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7" name="Text Box 13"/>
              <p:cNvSpPr txBox="1">
                <a:spLocks noChangeArrowheads="1"/>
              </p:cNvSpPr>
              <p:nvPr/>
            </p:nvSpPr>
            <p:spPr bwMode="auto">
              <a:xfrm>
                <a:off x="2625" y="2924"/>
                <a:ext cx="2496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altLang="ru-RU" sz="12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Без обеспечения</a:t>
                </a:r>
                <a:endParaRPr kumimoji="0" lang="ru-RU" alt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6" name="AutoShape 11"/>
            <p:cNvSpPr>
              <a:spLocks noChangeShapeType="1"/>
            </p:cNvSpPr>
            <p:nvPr/>
          </p:nvSpPr>
          <p:spPr bwMode="auto">
            <a:xfrm flipH="1">
              <a:off x="8179" y="3294"/>
              <a:ext cx="2" cy="24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AutoShape 10"/>
            <p:cNvSpPr>
              <a:spLocks noChangeShapeType="1"/>
            </p:cNvSpPr>
            <p:nvPr/>
          </p:nvSpPr>
          <p:spPr bwMode="auto">
            <a:xfrm flipH="1">
              <a:off x="8181" y="3834"/>
              <a:ext cx="36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" name="AutoShape 9"/>
            <p:cNvSpPr>
              <a:spLocks noChangeShapeType="1"/>
            </p:cNvSpPr>
            <p:nvPr/>
          </p:nvSpPr>
          <p:spPr bwMode="auto">
            <a:xfrm flipH="1">
              <a:off x="8181" y="4734"/>
              <a:ext cx="36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" name="Text Box 8"/>
            <p:cNvSpPr txBox="1">
              <a:spLocks noChangeArrowheads="1"/>
            </p:cNvSpPr>
            <p:nvPr/>
          </p:nvSpPr>
          <p:spPr bwMode="auto">
            <a:xfrm>
              <a:off x="8541" y="3474"/>
              <a:ext cx="2160" cy="7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12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На третий год после учреждения</a:t>
              </a:r>
              <a:endPara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Text Box 7"/>
            <p:cNvSpPr txBox="1">
              <a:spLocks noChangeArrowheads="1"/>
            </p:cNvSpPr>
            <p:nvPr/>
          </p:nvSpPr>
          <p:spPr bwMode="auto">
            <a:xfrm>
              <a:off x="8541" y="4194"/>
              <a:ext cx="2340" cy="1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12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При условии надлежащего утверждения двух годовых балансов общества</a:t>
              </a:r>
              <a:endParaRPr kumimoji="0" lang="ru-RU" alt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" name="AutoShape 6"/>
            <p:cNvSpPr>
              <a:spLocks noChangeShapeType="1"/>
            </p:cNvSpPr>
            <p:nvPr/>
          </p:nvSpPr>
          <p:spPr bwMode="auto">
            <a:xfrm flipH="1">
              <a:off x="3859" y="5734"/>
              <a:ext cx="4332" cy="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2421" y="6174"/>
              <a:ext cx="828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" name="Text Box 4"/>
            <p:cNvSpPr txBox="1">
              <a:spLocks noChangeArrowheads="1"/>
            </p:cNvSpPr>
            <p:nvPr/>
          </p:nvSpPr>
          <p:spPr bwMode="auto">
            <a:xfrm>
              <a:off x="2421" y="6174"/>
              <a:ext cx="828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12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Сумма номиналов выпущенных облигаций не должна превышать уставной капитал или величину предоставленного обеспечения</a:t>
              </a:r>
              <a:endPara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AutoShape 3"/>
            <p:cNvSpPr>
              <a:spLocks/>
            </p:cNvSpPr>
            <p:nvPr/>
          </p:nvSpPr>
          <p:spPr bwMode="auto">
            <a:xfrm rot="-5400000">
              <a:off x="6291" y="3024"/>
              <a:ext cx="540" cy="8280"/>
            </a:xfrm>
            <a:prstGeom prst="leftBrace">
              <a:avLst>
                <a:gd name="adj1" fmla="val 127778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" name="Text Box 2"/>
            <p:cNvSpPr txBox="1">
              <a:spLocks noChangeArrowheads="1"/>
            </p:cNvSpPr>
            <p:nvPr/>
          </p:nvSpPr>
          <p:spPr bwMode="auto">
            <a:xfrm>
              <a:off x="3141" y="7434"/>
              <a:ext cx="684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altLang="ru-RU" sz="12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Выпуск облигаций  размещается по решению Совета директоров после полной оплаты уставного капитала</a:t>
              </a:r>
              <a:endPara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32" name="Прямоугольник 31"/>
          <p:cNvSpPr/>
          <p:nvPr/>
        </p:nvSpPr>
        <p:spPr>
          <a:xfrm>
            <a:off x="1443687" y="135950"/>
            <a:ext cx="77003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>
                <a:solidFill>
                  <a:schemeClr val="accent3">
                    <a:lumMod val="50000"/>
                  </a:schemeClr>
                </a:solidFill>
                <a:latin typeface="+mj-lt"/>
                <a:ea typeface="Times New Roman"/>
              </a:rPr>
              <a:t>Необходимое условие выпуска облигаций</a:t>
            </a:r>
            <a:endParaRPr lang="ru-RU" sz="3200" dirty="0">
              <a:solidFill>
                <a:schemeClr val="accent3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3662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43608" y="332656"/>
            <a:ext cx="770485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sz="2000" dirty="0"/>
              <a:t>Облигации относятся к </a:t>
            </a:r>
            <a:r>
              <a:rPr lang="ru-RU" sz="2000" dirty="0">
                <a:solidFill>
                  <a:srgbClr val="00B0F0"/>
                </a:solidFill>
              </a:rPr>
              <a:t>эмиссионным ценным бумагам </a:t>
            </a:r>
            <a:r>
              <a:rPr lang="ru-RU" sz="2000" dirty="0"/>
              <a:t>и, соответственно, их выпуск возможен только после государственной регистрации.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sz="2000" dirty="0"/>
              <a:t> Поскольку через облигации предприятия получают долгосрочный кредит, он требует определенного обеспечения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/>
              <a:t>Российское  законодательство предусматривает следующие возможные формы обеспечения займов:</a:t>
            </a:r>
          </a:p>
          <a:p>
            <a:r>
              <a:rPr lang="ru-RU" sz="2000" dirty="0"/>
              <a:t>         - залог определенного имущества;</a:t>
            </a:r>
          </a:p>
          <a:p>
            <a:r>
              <a:rPr lang="ru-RU" sz="2000" dirty="0"/>
              <a:t>         - обеспечение, предоставленное обществу третьими лицами.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/>
              <a:t>Облигации без обеспечения («младшие ценные бумаги») могут эмитироваться не ранее третьего года существования общества и при условии утверждения к этому времени двух годовых балансов общества.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 smtClean="0"/>
              <a:t>В </a:t>
            </a:r>
            <a:r>
              <a:rPr lang="ru-RU" sz="2000" dirty="0"/>
              <a:t>связи с тем что облигация является долговым обязательством эмитента, она считается более старшей ценной бумагой, чем акция. </a:t>
            </a:r>
            <a:endParaRPr lang="ru-RU" sz="20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 smtClean="0"/>
              <a:t>Облигация</a:t>
            </a:r>
            <a:r>
              <a:rPr lang="ru-RU" sz="2000" dirty="0"/>
              <a:t>, как менее рискованная ценная бумага, обычно имеет и меньшую доходность по сравнению с акциями.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4960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7664" y="274638"/>
            <a:ext cx="7386024" cy="34605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Вексель</a:t>
            </a:r>
            <a:endParaRPr lang="ru-RU" dirty="0"/>
          </a:p>
        </p:txBody>
      </p:sp>
      <p:grpSp>
        <p:nvGrpSpPr>
          <p:cNvPr id="4" name="Группа 4"/>
          <p:cNvGrpSpPr>
            <a:grpSpLocks noChangeAspect="1"/>
          </p:cNvGrpSpPr>
          <p:nvPr/>
        </p:nvGrpSpPr>
        <p:grpSpPr bwMode="auto">
          <a:xfrm>
            <a:off x="1547219" y="1124744"/>
            <a:ext cx="6408737" cy="4425071"/>
            <a:chOff x="2278" y="1084"/>
            <a:chExt cx="7200" cy="4390"/>
          </a:xfrm>
        </p:grpSpPr>
        <p:sp>
          <p:nvSpPr>
            <p:cNvPr id="5" name="Автофигура 5"/>
            <p:cNvSpPr>
              <a:spLocks noChangeAspect="1" noChangeArrowheads="1"/>
            </p:cNvSpPr>
            <p:nvPr/>
          </p:nvSpPr>
          <p:spPr bwMode="auto">
            <a:xfrm>
              <a:off x="2278" y="1154"/>
              <a:ext cx="720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endParaRPr lang="ru-RU" altLang="ru-RU" b="0">
                <a:latin typeface="Arial" charset="0"/>
              </a:endParaRPr>
            </a:p>
          </p:txBody>
        </p:sp>
        <p:sp>
          <p:nvSpPr>
            <p:cNvPr id="6" name="Прямоуг. 6"/>
            <p:cNvSpPr>
              <a:spLocks noChangeArrowheads="1"/>
            </p:cNvSpPr>
            <p:nvPr/>
          </p:nvSpPr>
          <p:spPr bwMode="auto">
            <a:xfrm>
              <a:off x="4042" y="1084"/>
              <a:ext cx="3671" cy="125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ru-RU" altLang="ru-RU" sz="1400" dirty="0"/>
                <a:t>Вексель</a:t>
              </a:r>
              <a:r>
                <a:rPr lang="ru-RU" altLang="ru-RU" sz="1400" b="0" dirty="0"/>
                <a:t> - разновидность письменного долгового обязательства векселедателя оплатить сумму,  указанную в векселе, его владельцу при наступлении установленного срока</a:t>
              </a:r>
            </a:p>
            <a:p>
              <a:pPr eaLnBrk="1" hangingPunct="1"/>
              <a:endParaRPr lang="ru-RU" altLang="ru-RU" sz="1400" b="0" dirty="0"/>
            </a:p>
          </p:txBody>
        </p:sp>
        <p:sp>
          <p:nvSpPr>
            <p:cNvPr id="7" name="Прямоуг. 7"/>
            <p:cNvSpPr>
              <a:spLocks noChangeArrowheads="1"/>
            </p:cNvSpPr>
            <p:nvPr/>
          </p:nvSpPr>
          <p:spPr bwMode="auto">
            <a:xfrm>
              <a:off x="3054" y="3226"/>
              <a:ext cx="2824" cy="16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ts val="425"/>
                </a:spcBef>
              </a:pPr>
              <a:r>
                <a:rPr lang="ru-RU" altLang="ru-RU" sz="1400"/>
                <a:t>Простой вексель - </a:t>
              </a:r>
              <a:r>
                <a:rPr lang="ru-RU" altLang="ru-RU" sz="1400" b="0"/>
                <a:t>ничем не обусловленное обязательство</a:t>
              </a:r>
            </a:p>
            <a:p>
              <a:pPr algn="ctr" eaLnBrk="1" hangingPunct="1"/>
              <a:r>
                <a:rPr lang="ru-RU" altLang="ru-RU" sz="1400" b="0"/>
                <a:t>векселедателя уплатить при наступлении срока определенную сумму держателю векселя</a:t>
              </a:r>
            </a:p>
            <a:p>
              <a:pPr eaLnBrk="1" hangingPunct="1"/>
              <a:endParaRPr lang="ru-RU" altLang="ru-RU" sz="1400" b="0"/>
            </a:p>
          </p:txBody>
        </p:sp>
        <p:sp>
          <p:nvSpPr>
            <p:cNvPr id="8" name="Прямоуг. 8"/>
            <p:cNvSpPr>
              <a:spLocks noChangeArrowheads="1"/>
            </p:cNvSpPr>
            <p:nvPr/>
          </p:nvSpPr>
          <p:spPr bwMode="auto">
            <a:xfrm>
              <a:off x="6301" y="3226"/>
              <a:ext cx="2824" cy="16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ru-RU" altLang="ru-RU" sz="1400"/>
                <a:t>Переводный вексель - </a:t>
              </a:r>
              <a:r>
                <a:rPr lang="ru-RU" altLang="ru-RU" sz="1400" b="0"/>
                <a:t>письменный приказ векселедателя, </a:t>
              </a:r>
            </a:p>
            <a:p>
              <a:pPr algn="ctr" eaLnBrk="1" hangingPunct="1"/>
              <a:r>
                <a:rPr lang="ru-RU" altLang="ru-RU" sz="1400" b="0"/>
                <a:t>адресованный плательщику, об уплате указанной в векселе</a:t>
              </a:r>
            </a:p>
            <a:p>
              <a:pPr algn="ctr" eaLnBrk="1" hangingPunct="1"/>
              <a:r>
                <a:rPr lang="ru-RU" altLang="ru-RU" sz="1400" b="0"/>
                <a:t>денежной суммы</a:t>
              </a:r>
              <a:r>
                <a:rPr lang="ru-RU" altLang="ru-RU" sz="1400" b="0" i="1"/>
                <a:t> </a:t>
              </a:r>
              <a:r>
                <a:rPr lang="ru-RU" altLang="ru-RU" sz="1400" b="0"/>
                <a:t>держателю векселя</a:t>
              </a:r>
            </a:p>
            <a:p>
              <a:pPr eaLnBrk="1" hangingPunct="1"/>
              <a:endParaRPr lang="ru-RU" altLang="ru-RU" sz="1400" b="0"/>
            </a:p>
          </p:txBody>
        </p:sp>
        <p:sp>
          <p:nvSpPr>
            <p:cNvPr id="9" name="Линия 9"/>
            <p:cNvSpPr>
              <a:spLocks noChangeShapeType="1"/>
            </p:cNvSpPr>
            <p:nvPr/>
          </p:nvSpPr>
          <p:spPr bwMode="auto">
            <a:xfrm>
              <a:off x="5994" y="2391"/>
              <a:ext cx="1" cy="4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Линия 10"/>
            <p:cNvSpPr>
              <a:spLocks noChangeShapeType="1"/>
            </p:cNvSpPr>
            <p:nvPr/>
          </p:nvSpPr>
          <p:spPr bwMode="auto">
            <a:xfrm>
              <a:off x="4326" y="2808"/>
              <a:ext cx="32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Линия 11"/>
            <p:cNvSpPr>
              <a:spLocks noChangeShapeType="1"/>
            </p:cNvSpPr>
            <p:nvPr/>
          </p:nvSpPr>
          <p:spPr bwMode="auto">
            <a:xfrm>
              <a:off x="4326" y="2809"/>
              <a:ext cx="1" cy="4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Линия 12"/>
            <p:cNvSpPr>
              <a:spLocks noChangeShapeType="1"/>
            </p:cNvSpPr>
            <p:nvPr/>
          </p:nvSpPr>
          <p:spPr bwMode="auto">
            <a:xfrm>
              <a:off x="7573" y="2808"/>
              <a:ext cx="1" cy="4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3" name="Прямоуг. 6"/>
          <p:cNvSpPr>
            <a:spLocks noChangeArrowheads="1"/>
          </p:cNvSpPr>
          <p:nvPr/>
        </p:nvSpPr>
        <p:spPr bwMode="auto">
          <a:xfrm>
            <a:off x="1945174" y="5127576"/>
            <a:ext cx="5740111" cy="84447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4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</a:rPr>
              <a:t>Индоссамент </a:t>
            </a:r>
            <a:r>
              <a:rPr kumimoji="0" lang="ru-RU" alt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</a:rPr>
              <a:t>- передаточная надпись на векселе, совершаемая векселедержателем (индоссантом) на оборотной стороне  векселя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0154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Прямоуг. 4"/>
          <p:cNvSpPr>
            <a:spLocks noChangeArrowheads="1"/>
          </p:cNvSpPr>
          <p:nvPr/>
        </p:nvSpPr>
        <p:spPr bwMode="auto">
          <a:xfrm>
            <a:off x="1308100" y="492125"/>
            <a:ext cx="54864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9459" name="Линия 7"/>
          <p:cNvSpPr>
            <a:spLocks noChangeShapeType="1"/>
          </p:cNvSpPr>
          <p:nvPr/>
        </p:nvSpPr>
        <p:spPr bwMode="auto">
          <a:xfrm>
            <a:off x="3827463" y="-2713038"/>
            <a:ext cx="0" cy="342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60" name="Линия 414"/>
          <p:cNvSpPr>
            <a:spLocks noChangeShapeType="1"/>
          </p:cNvSpPr>
          <p:nvPr/>
        </p:nvSpPr>
        <p:spPr bwMode="auto">
          <a:xfrm>
            <a:off x="6792913" y="5165725"/>
            <a:ext cx="0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61" name="Линия 415"/>
          <p:cNvSpPr>
            <a:spLocks noChangeShapeType="1"/>
          </p:cNvSpPr>
          <p:nvPr/>
        </p:nvSpPr>
        <p:spPr bwMode="auto">
          <a:xfrm>
            <a:off x="6792913" y="5519738"/>
            <a:ext cx="0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62" name="Линия 416"/>
          <p:cNvSpPr>
            <a:spLocks noChangeShapeType="1"/>
          </p:cNvSpPr>
          <p:nvPr/>
        </p:nvSpPr>
        <p:spPr bwMode="auto">
          <a:xfrm>
            <a:off x="6824663" y="5519738"/>
            <a:ext cx="0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63" name="Линия 417"/>
          <p:cNvSpPr>
            <a:spLocks noChangeShapeType="1"/>
          </p:cNvSpPr>
          <p:nvPr/>
        </p:nvSpPr>
        <p:spPr bwMode="auto">
          <a:xfrm>
            <a:off x="6824663" y="5705475"/>
            <a:ext cx="0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64" name="Линия 569"/>
          <p:cNvSpPr>
            <a:spLocks noChangeShapeType="1"/>
          </p:cNvSpPr>
          <p:nvPr/>
        </p:nvSpPr>
        <p:spPr bwMode="auto">
          <a:xfrm>
            <a:off x="3827463" y="-2546350"/>
            <a:ext cx="0" cy="342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65" name="Прямоуг. 572"/>
          <p:cNvSpPr>
            <a:spLocks noChangeArrowheads="1"/>
          </p:cNvSpPr>
          <p:nvPr/>
        </p:nvSpPr>
        <p:spPr bwMode="auto">
          <a:xfrm>
            <a:off x="400050" y="2514600"/>
            <a:ext cx="5213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9466" name="Линия 976"/>
          <p:cNvSpPr>
            <a:spLocks noChangeShapeType="1"/>
          </p:cNvSpPr>
          <p:nvPr/>
        </p:nvSpPr>
        <p:spPr bwMode="auto">
          <a:xfrm>
            <a:off x="6792913" y="4848225"/>
            <a:ext cx="0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67" name="Линия 977"/>
          <p:cNvSpPr>
            <a:spLocks noChangeShapeType="1"/>
          </p:cNvSpPr>
          <p:nvPr/>
        </p:nvSpPr>
        <p:spPr bwMode="auto">
          <a:xfrm>
            <a:off x="6792913" y="5202238"/>
            <a:ext cx="0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68" name="Линия 978"/>
          <p:cNvSpPr>
            <a:spLocks noChangeShapeType="1"/>
          </p:cNvSpPr>
          <p:nvPr/>
        </p:nvSpPr>
        <p:spPr bwMode="auto">
          <a:xfrm>
            <a:off x="6824663" y="5202238"/>
            <a:ext cx="0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69" name="Линия 979"/>
          <p:cNvSpPr>
            <a:spLocks noChangeShapeType="1"/>
          </p:cNvSpPr>
          <p:nvPr/>
        </p:nvSpPr>
        <p:spPr bwMode="auto">
          <a:xfrm>
            <a:off x="6824663" y="5387975"/>
            <a:ext cx="0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70" name="Линия 1126"/>
          <p:cNvSpPr>
            <a:spLocks noChangeShapeType="1"/>
          </p:cNvSpPr>
          <p:nvPr/>
        </p:nvSpPr>
        <p:spPr bwMode="auto">
          <a:xfrm>
            <a:off x="3994150" y="-2525713"/>
            <a:ext cx="0" cy="342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71" name="Прямоуг. 1129"/>
          <p:cNvSpPr>
            <a:spLocks noChangeArrowheads="1"/>
          </p:cNvSpPr>
          <p:nvPr/>
        </p:nvSpPr>
        <p:spPr bwMode="auto">
          <a:xfrm>
            <a:off x="455613" y="2535238"/>
            <a:ext cx="5213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9472" name="Линия 1450"/>
          <p:cNvSpPr>
            <a:spLocks noChangeShapeType="1"/>
          </p:cNvSpPr>
          <p:nvPr/>
        </p:nvSpPr>
        <p:spPr bwMode="auto">
          <a:xfrm>
            <a:off x="6457950" y="4868863"/>
            <a:ext cx="0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73" name="Линия 1451"/>
          <p:cNvSpPr>
            <a:spLocks noChangeShapeType="1"/>
          </p:cNvSpPr>
          <p:nvPr/>
        </p:nvSpPr>
        <p:spPr bwMode="auto">
          <a:xfrm>
            <a:off x="6457950" y="5222875"/>
            <a:ext cx="0" cy="0"/>
          </a:xfrm>
          <a:prstGeom prst="line">
            <a:avLst/>
          </a:prstGeom>
          <a:noFill/>
          <a:ln w="9525" cap="rnd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aphicFrame>
        <p:nvGraphicFramePr>
          <p:cNvPr id="25200" name="Группа 1648"/>
          <p:cNvGraphicFramePr>
            <a:graphicFrameLocks noGrp="1"/>
          </p:cNvGraphicFramePr>
          <p:nvPr/>
        </p:nvGraphicFramePr>
        <p:xfrm>
          <a:off x="755650" y="1268413"/>
          <a:ext cx="7324725" cy="5157990"/>
        </p:xfrm>
        <a:graphic>
          <a:graphicData uri="http://schemas.openxmlformats.org/drawingml/2006/table">
            <a:tbl>
              <a:tblPr/>
              <a:tblGrid>
                <a:gridCol w="1944688"/>
                <a:gridCol w="215900"/>
                <a:gridCol w="215900"/>
                <a:gridCol w="711200"/>
                <a:gridCol w="365125"/>
                <a:gridCol w="292100"/>
                <a:gridCol w="1511300"/>
                <a:gridCol w="215900"/>
                <a:gridCol w="215900"/>
                <a:gridCol w="1636712"/>
              </a:tblGrid>
              <a:tr h="594323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Сертификаты </a:t>
                      </a: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(депозитные и сберегательные) - </a:t>
                      </a:r>
                      <a:r>
                        <a:rPr kumimoji="0" lang="ru-RU" sz="1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ценные бумаги,</a:t>
                      </a: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удостоверяющие сумму вклада, внесенного в кредитную организацию, и права</a:t>
                      </a: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держателя сертификата на получение по истечении установленного срока</a:t>
                      </a: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суммы вклада и процентов в кредитной организации, выдавшей сертификат</a:t>
                      </a: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9064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426694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Сертификаты выпускают только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кредитные организации</a:t>
                      </a: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9064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5943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Кредитные организации </a:t>
                      </a:r>
                      <a:r>
                        <a:rPr kumimoji="0" lang="ru-RU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 могут </a:t>
                      </a: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 одностороннем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порядке </a:t>
                      </a:r>
                      <a:r>
                        <a:rPr kumimoji="0" lang="ru-RU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изменить </a:t>
                      </a: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обусловленную в сертификате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процентную ставку</a:t>
                      </a: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9064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5943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Сертификаты </a:t>
                      </a:r>
                      <a:r>
                        <a:rPr kumimoji="0" lang="ru-RU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 могут </a:t>
                      </a: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служить расчетным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или платежным средством за проданные товары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 оказанные услуги</a:t>
                      </a: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9064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90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3991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Депозитные </a:t>
                      </a: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сертификаты</a:t>
                      </a: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Сберегательные </a:t>
                      </a: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сертификаты</a:t>
                      </a: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90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3991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Владельцы </a:t>
                      </a: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юридические лица</a:t>
                      </a: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Владельцы </a:t>
                      </a: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физические лица</a:t>
                      </a: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90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4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платеж </a:t>
                      </a:r>
                      <a:r>
                        <a:rPr kumimoji="0" lang="ru-RU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 безналичном </a:t>
                      </a:r>
                      <a:r>
                        <a:rPr kumimoji="0" lang="ru-RU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порядке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609975" algn="l"/>
                        </a:tabLst>
                      </a:pPr>
                      <a:r>
                        <a:rPr kumimoji="0" lang="ru-RU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платеж как </a:t>
                      </a:r>
                      <a:r>
                        <a:rPr kumimoji="0" lang="ru-RU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 безналичном </a:t>
                      </a:r>
                      <a:r>
                        <a:rPr kumimoji="0" lang="ru-RU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порядке, так и </a:t>
                      </a:r>
                      <a:r>
                        <a:rPr kumimoji="0" lang="ru-RU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наличными </a:t>
                      </a:r>
                      <a:r>
                        <a:rPr kumimoji="0" lang="ru-RU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средствами</a:t>
                      </a:r>
                      <a:endParaRPr kumimoji="0" lang="ru-RU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563" name="Прямоуг. 1607"/>
          <p:cNvSpPr>
            <a:spLocks noChangeArrowheads="1"/>
          </p:cNvSpPr>
          <p:nvPr/>
        </p:nvSpPr>
        <p:spPr bwMode="auto">
          <a:xfrm>
            <a:off x="611188" y="260350"/>
            <a:ext cx="76866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ru-RU" altLang="ru-RU" sz="2400"/>
              <a:t>Определение понятия «депозитный (сберегательный) </a:t>
            </a:r>
          </a:p>
          <a:p>
            <a:pPr algn="ctr" eaLnBrk="1" hangingPunct="1"/>
            <a:r>
              <a:rPr lang="ru-RU" altLang="ru-RU" sz="2400"/>
              <a:t>сертификат» и его основные характеристики </a:t>
            </a:r>
          </a:p>
        </p:txBody>
      </p:sp>
    </p:spTree>
    <p:extLst>
      <p:ext uri="{BB962C8B-B14F-4D97-AF65-F5344CB8AC3E}">
        <p14:creationId xmlns:p14="http://schemas.microsoft.com/office/powerpoint/2010/main" val="269909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Рисунок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5888"/>
            <a:ext cx="8785225" cy="662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1864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Темы докладов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6646" indent="-514350">
              <a:buFont typeface="+mj-lt"/>
              <a:buAutoNum type="arabicPeriod"/>
            </a:pPr>
            <a:r>
              <a:rPr lang="ru-RU" dirty="0" smtClean="0"/>
              <a:t>Акции публичных и непубличных обществ. </a:t>
            </a:r>
          </a:p>
          <a:p>
            <a:pPr marL="596646" indent="-514350">
              <a:buFont typeface="+mj-lt"/>
              <a:buAutoNum type="arabicPeriod"/>
            </a:pPr>
            <a:r>
              <a:rPr lang="ru-RU" dirty="0" smtClean="0"/>
              <a:t>Выпуск облигаций. </a:t>
            </a:r>
          </a:p>
          <a:p>
            <a:pPr marL="596646" indent="-514350">
              <a:buFont typeface="+mj-lt"/>
              <a:buAutoNum type="arabicPeriod"/>
            </a:pPr>
            <a:r>
              <a:rPr lang="ru-RU" dirty="0" smtClean="0"/>
              <a:t>Государственные облигации.</a:t>
            </a:r>
          </a:p>
          <a:p>
            <a:pPr marL="596646" indent="-514350">
              <a:buFont typeface="+mj-lt"/>
              <a:buAutoNum type="arabicPeriod"/>
            </a:pPr>
            <a:r>
              <a:rPr lang="ru-RU" dirty="0" smtClean="0"/>
              <a:t>Корпоративные облигации.</a:t>
            </a:r>
          </a:p>
          <a:p>
            <a:pPr marL="596646" indent="-514350">
              <a:buFont typeface="+mj-lt"/>
              <a:buAutoNum type="arabicPeriod"/>
            </a:pPr>
            <a:r>
              <a:rPr lang="ru-RU" dirty="0" smtClean="0"/>
              <a:t>Вексель. Виды векселей.</a:t>
            </a:r>
          </a:p>
          <a:p>
            <a:pPr marL="596646" indent="-514350">
              <a:buFont typeface="+mj-lt"/>
              <a:buAutoNum type="arabicPeriod"/>
            </a:pPr>
            <a:r>
              <a:rPr lang="ru-RU" dirty="0" smtClean="0"/>
              <a:t>Депозитные сертификаты.</a:t>
            </a:r>
          </a:p>
          <a:p>
            <a:pPr marL="596646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01542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530</TotalTime>
  <Words>1917</Words>
  <Application>Microsoft Office PowerPoint</Application>
  <PresentationFormat>Экран (4:3)</PresentationFormat>
  <Paragraphs>132</Paragraphs>
  <Slides>32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3" baseType="lpstr">
      <vt:lpstr>Солнцестояние</vt:lpstr>
      <vt:lpstr>Финансовый рынок, сущность и структура</vt:lpstr>
      <vt:lpstr>Вопросы:</vt:lpstr>
      <vt:lpstr>Вопрос 1.</vt:lpstr>
      <vt:lpstr>Презентация PowerPoint</vt:lpstr>
      <vt:lpstr>Презентация PowerPoint</vt:lpstr>
      <vt:lpstr>Презентация PowerPoint</vt:lpstr>
      <vt:lpstr>Презентация PowerPoint</vt:lpstr>
      <vt:lpstr>Вопрос 2.</vt:lpstr>
      <vt:lpstr> Периоды становления рынка ценных бумаг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Вопрос 3. Понятие ценных бумаг и их виды</vt:lpstr>
      <vt:lpstr>Различные признаки ценных бумаг </vt:lpstr>
      <vt:lpstr>Презентация PowerPoint</vt:lpstr>
      <vt:lpstr>Презентация PowerPoint</vt:lpstr>
      <vt:lpstr>Классификация ценных бумаг</vt:lpstr>
      <vt:lpstr>Акция</vt:lpstr>
      <vt:lpstr>Презентация PowerPoint</vt:lpstr>
      <vt:lpstr>Презентация PowerPoint</vt:lpstr>
      <vt:lpstr>Источники выплаты дивидендов по акциям</vt:lpstr>
      <vt:lpstr>Облигации акционерных обществ</vt:lpstr>
      <vt:lpstr>Презентация PowerPoint</vt:lpstr>
      <vt:lpstr>Презентация PowerPoint</vt:lpstr>
      <vt:lpstr>Презентация PowerPoint</vt:lpstr>
      <vt:lpstr>Вексель</vt:lpstr>
      <vt:lpstr>Презентация PowerPoint</vt:lpstr>
      <vt:lpstr>Презентация PowerPoint</vt:lpstr>
      <vt:lpstr>Темы докладов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Паутова А.В.</dc:creator>
  <cp:lastModifiedBy>Паутова Анна Владиславовна</cp:lastModifiedBy>
  <cp:revision>77</cp:revision>
  <dcterms:created xsi:type="dcterms:W3CDTF">2023-10-19T08:56:08Z</dcterms:created>
  <dcterms:modified xsi:type="dcterms:W3CDTF">2025-09-23T10:42:56Z</dcterms:modified>
</cp:coreProperties>
</file>