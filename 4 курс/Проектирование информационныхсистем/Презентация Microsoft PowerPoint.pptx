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4901" autoAdjust="0"/>
  </p:normalViewPr>
  <p:slideViewPr>
    <p:cSldViewPr snapToGrid="0">
      <p:cViewPr varScale="1">
        <p:scale>
          <a:sx n="98" d="100"/>
          <a:sy n="98" d="100"/>
        </p:scale>
        <p:origin x="103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E3A774-3115-4D5A-A6CC-A362B53F069E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97FD74-FE0E-40A3-90E4-FC2AB9CE9B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11958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1" dirty="0"/>
              <a:t>MRP </a:t>
            </a:r>
            <a:r>
              <a:rPr lang="ru-RU" dirty="0"/>
              <a:t>— это </a:t>
            </a:r>
            <a:r>
              <a:rPr lang="ru-RU" b="1" dirty="0"/>
              <a:t>система планирования материальных потребностей</a:t>
            </a:r>
            <a:r>
              <a:rPr lang="ru-RU" dirty="0"/>
              <a:t> на производстве. Она помогает понять</a:t>
            </a:r>
          </a:p>
          <a:p>
            <a:r>
              <a:rPr lang="ru-RU" dirty="0"/>
              <a:t>Говоря проще: это как </a:t>
            </a:r>
            <a:r>
              <a:rPr lang="ru-RU" b="1" dirty="0"/>
              <a:t>автоматизированный планировщик покупок и запасов</a:t>
            </a:r>
            <a:r>
              <a:rPr lang="ru-RU" dirty="0"/>
              <a:t>, который знает, какие детали нужны, в каком количестве и в какой момент, чтобы всё производство шло без сбоев.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97FD74-FE0E-40A3-90E4-FC2AB9CE9B76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74242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Производственные процессы становились всё сложнее, а ассортимент товаров — шире</a:t>
            </a:r>
            <a:endParaRPr lang="en-US" dirty="0"/>
          </a:p>
          <a:p>
            <a:r>
              <a:rPr lang="ru-RU" dirty="0"/>
              <a:t>Ручное управление запасами перестали эффективно обеспечивать наличие материалов</a:t>
            </a:r>
          </a:p>
          <a:p>
            <a:r>
              <a:rPr lang="ru-RU" dirty="0"/>
              <a:t>С увеличением масштабов производства появилась необходимость учитывать много входных данных (</a:t>
            </a:r>
            <a:r>
              <a:rPr lang="en-US" dirty="0"/>
              <a:t>BOM</a:t>
            </a:r>
            <a:r>
              <a:rPr lang="ru-RU" dirty="0"/>
              <a:t>, текущие остатки, сроки поставки, планы выпуска)</a:t>
            </a:r>
          </a:p>
          <a:p>
            <a:r>
              <a:rPr lang="ru-RU" dirty="0"/>
              <a:t>Компании искали способ </a:t>
            </a:r>
            <a:r>
              <a:rPr lang="ru-RU" b="1" dirty="0"/>
              <a:t>избежать дефицита материалов и одновременно не хранить слишком много запасов</a:t>
            </a:r>
            <a:r>
              <a:rPr lang="ru-RU" dirty="0"/>
              <a:t> (что дорого)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97FD74-FE0E-40A3-90E4-FC2AB9CE9B76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97781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Планируется </a:t>
            </a:r>
            <a:r>
              <a:rPr lang="ru-RU" b="1" dirty="0"/>
              <a:t>производственная мощность</a:t>
            </a:r>
            <a:r>
              <a:rPr lang="ru-RU" dirty="0"/>
              <a:t> — какие станки, люди и когда будут задействованы, чтобы не было перегрузок или простоев.</a:t>
            </a:r>
          </a:p>
          <a:p>
            <a:r>
              <a:rPr lang="ru-RU" dirty="0"/>
              <a:t>MRP II связывает план производства с </a:t>
            </a:r>
            <a:r>
              <a:rPr lang="ru-RU" b="1" dirty="0"/>
              <a:t>финансами</a:t>
            </a:r>
            <a:r>
              <a:rPr lang="ru-RU" dirty="0"/>
              <a:t> — сколько будет стоить материал, труд, накладные расходы</a:t>
            </a:r>
          </a:p>
          <a:p>
            <a:r>
              <a:rPr lang="ru-RU" dirty="0"/>
              <a:t>Если спрос вырос или возникли задержки с поставками</a:t>
            </a:r>
          </a:p>
          <a:p>
            <a:r>
              <a:rPr lang="ru-RU" dirty="0"/>
              <a:t>Система помогает согласовать планы производства с </a:t>
            </a:r>
            <a:r>
              <a:rPr lang="ru-RU" b="1" dirty="0"/>
              <a:t>продажами, спросом, снабжением и финансами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97FD74-FE0E-40A3-90E4-FC2AB9CE9B76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02823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Использование множество отдельных систем для управления производством (дублированию данных, ошибкам и разрозненности информации)</a:t>
            </a:r>
          </a:p>
          <a:p>
            <a:r>
              <a:rPr lang="ru-RU" dirty="0"/>
              <a:t>Хорошо планировал ресурсы </a:t>
            </a:r>
            <a:r>
              <a:rPr lang="ru-RU" b="1" dirty="0"/>
              <a:t>в рамках производства, НО не бизнес-функции</a:t>
            </a:r>
            <a:r>
              <a:rPr lang="ru-RU" dirty="0"/>
              <a:t> (продажи, склад, бухгалтерию, CRM и т. д.)</a:t>
            </a:r>
          </a:p>
          <a:p>
            <a:r>
              <a:rPr lang="ru-RU" dirty="0"/>
              <a:t>Появление потребности в централизованном управлении и аналитике. Необходимость принимать правильные решения на основе одной версии правды, а не собирать данные из разных систем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97FD74-FE0E-40A3-90E4-FC2AB9CE9B76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22848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B37053-A13A-4CDA-9C81-30E492E676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40346B3-31AC-41D1-A1EA-A591F23438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576E1E4-AF76-4881-B95C-41573030A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9984B-105B-4EC0-BA71-5BC9FB3CCD50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86F303C-B21A-4559-8942-1D2784F9C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6AB57E4-C0E8-4097-BF11-74A4E0CD3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15A24-F7F5-4B20-A698-C6F56F53212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52389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7E0D8D-87AD-4636-A0F6-DC74889BD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7EF2441-A266-4C0F-AF76-3D52646677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DFAC33B-0F1A-4FB5-A36E-4DFAD6C444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9984B-105B-4EC0-BA71-5BC9FB3CCD50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7C948C3-E6D4-4647-8B50-B626C9B49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6389111-01E5-4056-9C5F-4EC6AC069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15A24-F7F5-4B20-A698-C6F56F53212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92921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58B54E-247F-4AEF-B843-EB86ACE480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3AD7A12-3C93-46DA-9AF2-7E136C6903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D7E951C-EF62-49B4-AD15-E07ED1EE4D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9984B-105B-4EC0-BA71-5BC9FB3CCD50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97BDBBF-8765-4E9B-A7D7-34D79659C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B26D372-640A-46B3-9CC8-2C7790A33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15A24-F7F5-4B20-A698-C6F56F53212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52065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9CDF2E-6378-4F51-AFE8-70C246413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38B21E9-4ABE-485D-A2E2-FB9E59191F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E8B2EE0-7F14-4DE8-967A-C11BFCB085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0C94729-E654-46A4-A331-E787ED03DD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9984B-105B-4EC0-BA71-5BC9FB3CCD50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19F9E17-AB12-4DAC-A9E5-983F4CAD1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A5D4893-4EE7-4343-A6FE-76C26B346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15A24-F7F5-4B20-A698-C6F56F53212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2964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38EEB5-65A8-4ED5-A533-03E2940CE0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0A4E06C-90A5-41BF-A643-2F4AE75094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51EACC1-FB01-4CB5-A5B8-7C217DED56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7FA2EA5D-634C-4745-8C89-4EAAD040C5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AB8EDBD-C15E-4EFB-BFFB-1FD20C3130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BF897DB3-7F43-47EC-BBA3-A7A8CC04F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9984B-105B-4EC0-BA71-5BC9FB3CCD50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4E5C016F-86F2-4B5A-8122-A5C3A0979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DFAF0BE4-68A5-44EC-8C68-459BEE600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15A24-F7F5-4B20-A698-C6F56F53212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45660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7310FD-D328-4AF4-A66C-1DE0FF87D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44DEFF2F-45E1-4D34-B566-82725A4A0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9984B-105B-4EC0-BA71-5BC9FB3CCD50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AE9ADDA-FD5D-4E0C-85D5-622BB9027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74081FF-C749-4638-A845-4ABD8219E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15A24-F7F5-4B20-A698-C6F56F53212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72479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3AD06BCB-9833-44C6-B9D2-AEB22C97AC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9984B-105B-4EC0-BA71-5BC9FB3CCD50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5BEDFD95-E57E-4C86-A648-5B7D3AD0A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0F41C61-B012-4E59-94E0-4F63BAD8B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15A24-F7F5-4B20-A698-C6F56F53212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2682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4A8CDA-633E-42BB-BF56-83BDA9E313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7E8F518-599E-4741-B6FC-0B8075E50E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EFCAE22-87CE-484D-9530-E4CAC5788C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FC2CF24-89CE-46FF-9719-E590BD2631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9984B-105B-4EC0-BA71-5BC9FB3CCD50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30205BC-9ADF-48C1-A0FA-281CDE3EC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ACEB0BA-79FC-43C5-A7F0-E16013632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15A24-F7F5-4B20-A698-C6F56F53212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23203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B71B31-D83F-4063-8363-67CF27265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71EF1498-F5E3-4D00-B618-8C5CA5E23B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24124EA-7FD1-4793-B69C-13A56FC336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EE11B17-463D-465F-8F18-E11ED3779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9984B-105B-4EC0-BA71-5BC9FB3CCD50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DC5BBEC-8561-45CE-B8F2-42772539E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E6B6F65-A0E6-40FD-9009-6C78FBC26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15A24-F7F5-4B20-A698-C6F56F53212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22621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850DF1-1E6C-446E-8431-9AAFA4B74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D53CC77-6963-409C-B129-4508E5343D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69E4F7C-987F-4EB8-99DA-91C53202F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9984B-105B-4EC0-BA71-5BC9FB3CCD50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2FDBC7A-0034-401B-8B43-6F4BD1BA4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062C8E5-A12B-4E54-ACAD-5E7E328E4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15A24-F7F5-4B20-A698-C6F56F53212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6628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17E62B00-8609-4E0A-9126-0135A1D9B4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A43A025-C123-4134-8AAB-5294FDB334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BB2E282-FBEB-4951-A101-8B949BC58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9984B-105B-4EC0-BA71-5BC9FB3CCD50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CB2BABE-2F84-4D56-BF53-2424B8406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3F7A8BB-DF0B-4224-AFD0-54D3F584E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15A24-F7F5-4B20-A698-C6F56F53212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4536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C17D49-3628-428F-BEC2-C1425D271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3C58B8D-3C64-48C6-8338-E67E19B485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21566E0-DE4C-422C-9075-F98B7F5C31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09984B-105B-4EC0-BA71-5BC9FB3CCD50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65D584E-8499-4582-9CB6-925B7D796F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B5BBC98-F6F6-4D07-889B-800953683A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215A24-F7F5-4B20-A698-C6F56F53212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2463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29509E-D298-42EE-AAD7-1DD8DD86D88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История методологий</a:t>
            </a:r>
            <a:br>
              <a:rPr lang="ru-RU" dirty="0"/>
            </a:br>
            <a:r>
              <a:rPr lang="ru-RU" dirty="0"/>
              <a:t>MRP II – ERP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4D0384B-3CCB-43B9-8518-1730CA74401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Михайлов И. Р 3-22ПИ</a:t>
            </a:r>
          </a:p>
        </p:txBody>
      </p:sp>
    </p:spTree>
    <p:extLst>
      <p:ext uri="{BB962C8B-B14F-4D97-AF65-F5344CB8AC3E}">
        <p14:creationId xmlns:p14="http://schemas.microsoft.com/office/powerpoint/2010/main" val="27030029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8AA437-B30D-4016-8F11-546A0F239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MRP (Material Requirements Planning)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D9C6646-7235-4946-B49D-879F68302C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Что нужно произвести</a:t>
            </a:r>
          </a:p>
          <a:p>
            <a:r>
              <a:rPr lang="ru-RU" dirty="0"/>
              <a:t>Какие материалы и компоненты нужны</a:t>
            </a:r>
          </a:p>
          <a:p>
            <a:r>
              <a:rPr lang="ru-RU" dirty="0"/>
              <a:t>Сколько их нужно</a:t>
            </a:r>
          </a:p>
          <a:p>
            <a:r>
              <a:rPr lang="ru-RU" dirty="0"/>
              <a:t>Когда они должны быть в наличии, чтобы производство не останавливалось.</a:t>
            </a:r>
          </a:p>
        </p:txBody>
      </p:sp>
    </p:spTree>
    <p:extLst>
      <p:ext uri="{BB962C8B-B14F-4D97-AF65-F5344CB8AC3E}">
        <p14:creationId xmlns:p14="http://schemas.microsoft.com/office/powerpoint/2010/main" val="39676063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4F4FC6-FB25-4B8D-8B7F-023B0B9F0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Причины появления </a:t>
            </a:r>
            <a:r>
              <a:rPr lang="en-US" dirty="0"/>
              <a:t>MRP-</a:t>
            </a:r>
            <a:r>
              <a:rPr lang="ru-RU" dirty="0"/>
              <a:t>системы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CD58C1-CD09-4EBF-B238-601D3EA15A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Рост сложности производства и разнообразия продукции</a:t>
            </a:r>
          </a:p>
          <a:p>
            <a:r>
              <a:rPr lang="ru-RU" dirty="0"/>
              <a:t>Ручное управление запасами</a:t>
            </a:r>
          </a:p>
          <a:p>
            <a:r>
              <a:rPr lang="ru-RU" dirty="0"/>
              <a:t>Рост объёмов данных и информации</a:t>
            </a:r>
          </a:p>
          <a:p>
            <a:r>
              <a:rPr lang="ru-RU" dirty="0"/>
              <a:t>Желание оптимизировать запасы и снизить затраты</a:t>
            </a:r>
          </a:p>
        </p:txBody>
      </p:sp>
    </p:spTree>
    <p:extLst>
      <p:ext uri="{BB962C8B-B14F-4D97-AF65-F5344CB8AC3E}">
        <p14:creationId xmlns:p14="http://schemas.microsoft.com/office/powerpoint/2010/main" val="19593231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Объект 4">
            <a:extLst>
              <a:ext uri="{FF2B5EF4-FFF2-40B4-BE49-F238E27FC236}">
                <a16:creationId xmlns:a16="http://schemas.microsoft.com/office/drawing/2014/main" id="{E5E53689-1FE9-406F-AB4A-473D6B5E0E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365124"/>
            <a:ext cx="10008140" cy="6339413"/>
          </a:xfr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AEEEF7-2887-443D-B563-DEB5B7826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352" y="258119"/>
            <a:ext cx="3578159" cy="2737999"/>
          </a:xfrm>
        </p:spPr>
        <p:txBody>
          <a:bodyPr>
            <a:normAutofit/>
          </a:bodyPr>
          <a:lstStyle/>
          <a:p>
            <a:r>
              <a:rPr lang="en-US" dirty="0"/>
              <a:t>MRP</a:t>
            </a:r>
            <a:br>
              <a:rPr lang="en-US" dirty="0"/>
            </a:br>
            <a:r>
              <a:rPr lang="ru-RU" dirty="0"/>
              <a:t>Система</a:t>
            </a:r>
            <a:br>
              <a:rPr lang="ru-RU" dirty="0"/>
            </a:br>
            <a:r>
              <a:rPr lang="ru-RU" dirty="0"/>
              <a:t>Производство</a:t>
            </a:r>
            <a:br>
              <a:rPr lang="ru-RU" dirty="0"/>
            </a:br>
            <a:r>
              <a:rPr lang="ru-RU" dirty="0"/>
              <a:t>Мебели</a:t>
            </a:r>
          </a:p>
        </p:txBody>
      </p:sp>
    </p:spTree>
    <p:extLst>
      <p:ext uri="{BB962C8B-B14F-4D97-AF65-F5344CB8AC3E}">
        <p14:creationId xmlns:p14="http://schemas.microsoft.com/office/powerpoint/2010/main" val="23901095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5E309C-58D1-47D6-9965-5FDE9B782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MRP II </a:t>
            </a:r>
            <a:r>
              <a:rPr lang="en-US" dirty="0"/>
              <a:t>(Manufacturing Resource Planning)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B1A8536-D841-4FF1-A7F9-F3BCC10989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Как загрузить производство и оборудование</a:t>
            </a:r>
          </a:p>
          <a:p>
            <a:r>
              <a:rPr lang="ru-RU" dirty="0"/>
              <a:t>Какие будут затраты и финансовые потребности</a:t>
            </a:r>
          </a:p>
          <a:p>
            <a:r>
              <a:rPr lang="ru-RU" dirty="0"/>
              <a:t>Что делать, если план меняется</a:t>
            </a:r>
          </a:p>
          <a:p>
            <a:r>
              <a:rPr lang="ru-RU" dirty="0"/>
              <a:t>Как синхронизировать производство со спросом и другими отделами</a:t>
            </a:r>
          </a:p>
        </p:txBody>
      </p:sp>
    </p:spTree>
    <p:extLst>
      <p:ext uri="{BB962C8B-B14F-4D97-AF65-F5344CB8AC3E}">
        <p14:creationId xmlns:p14="http://schemas.microsoft.com/office/powerpoint/2010/main" val="27926271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58FE84BA-3A42-4077-8004-99AADF613F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7" y="256381"/>
            <a:ext cx="5157787" cy="823912"/>
          </a:xfrm>
        </p:spPr>
        <p:txBody>
          <a:bodyPr>
            <a:normAutofit/>
          </a:bodyPr>
          <a:lstStyle/>
          <a:p>
            <a:r>
              <a:rPr lang="en-US" sz="3200" b="0" dirty="0"/>
              <a:t>MRP</a:t>
            </a:r>
            <a:endParaRPr lang="ru-RU" sz="3200" b="0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EAF3BD3-2E7D-486D-A4D6-51FF0E4F3B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7" y="1080293"/>
            <a:ext cx="5157787" cy="3684588"/>
          </a:xfrm>
        </p:spPr>
        <p:txBody>
          <a:bodyPr>
            <a:normAutofit lnSpcReduction="10000"/>
          </a:bodyPr>
          <a:lstStyle/>
          <a:p>
            <a:r>
              <a:rPr lang="ru-RU" dirty="0"/>
              <a:t>Что нужно?</a:t>
            </a:r>
            <a:endParaRPr lang="en-US" dirty="0"/>
          </a:p>
          <a:p>
            <a:r>
              <a:rPr lang="ru-RU" dirty="0"/>
              <a:t>Сколько нужно?</a:t>
            </a:r>
            <a:endParaRPr lang="en-US" dirty="0"/>
          </a:p>
          <a:p>
            <a:r>
              <a:rPr lang="ru-RU" dirty="0"/>
              <a:t>Когда нужно?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76ED7CB-1AE3-41DA-B4C7-AB9BA6023C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69025" y="256381"/>
            <a:ext cx="5183188" cy="823912"/>
          </a:xfrm>
        </p:spPr>
        <p:txBody>
          <a:bodyPr>
            <a:normAutofit/>
          </a:bodyPr>
          <a:lstStyle/>
          <a:p>
            <a:r>
              <a:rPr lang="ru-RU" sz="3200" b="0" dirty="0"/>
              <a:t>MRP II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542B04C0-29C7-4479-AAEF-D376124E37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94428" y="1080293"/>
            <a:ext cx="5527402" cy="5521326"/>
          </a:xfrm>
        </p:spPr>
        <p:txBody>
          <a:bodyPr>
            <a:normAutofit lnSpcReduction="10000"/>
          </a:bodyPr>
          <a:lstStyle/>
          <a:p>
            <a:r>
              <a:rPr lang="ru-RU" dirty="0"/>
              <a:t>Что нужно?</a:t>
            </a:r>
            <a:endParaRPr lang="en-US" dirty="0"/>
          </a:p>
          <a:p>
            <a:r>
              <a:rPr lang="ru-RU" dirty="0"/>
              <a:t>Сколько нужно?</a:t>
            </a:r>
            <a:endParaRPr lang="en-US" dirty="0"/>
          </a:p>
          <a:p>
            <a:r>
              <a:rPr lang="ru-RU" dirty="0"/>
              <a:t>Когда нужно?</a:t>
            </a:r>
            <a:endParaRPr lang="en-US" dirty="0"/>
          </a:p>
          <a:p>
            <a:endParaRPr lang="ru-RU" dirty="0"/>
          </a:p>
          <a:p>
            <a:r>
              <a:rPr lang="ru-RU" dirty="0"/>
              <a:t>Какие ресурсы нужны и когда?</a:t>
            </a:r>
          </a:p>
          <a:p>
            <a:r>
              <a:rPr lang="ru-RU" dirty="0"/>
              <a:t>Как эффективно загрузить производство?</a:t>
            </a:r>
          </a:p>
          <a:p>
            <a:r>
              <a:rPr lang="ru-RU" dirty="0"/>
              <a:t>Как это отразится на финансах?</a:t>
            </a:r>
          </a:p>
          <a:p>
            <a:r>
              <a:rPr lang="ru-RU" dirty="0"/>
              <a:t>Что делать при изменениях в планах?</a:t>
            </a:r>
          </a:p>
          <a:p>
            <a:r>
              <a:rPr lang="ru-RU" dirty="0"/>
              <a:t>Как согласовать производство со всеми отделами предприятия?</a:t>
            </a:r>
          </a:p>
        </p:txBody>
      </p:sp>
    </p:spTree>
    <p:extLst>
      <p:ext uri="{BB962C8B-B14F-4D97-AF65-F5344CB8AC3E}">
        <p14:creationId xmlns:p14="http://schemas.microsoft.com/office/powerpoint/2010/main" val="23624762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Объект 4">
            <a:extLst>
              <a:ext uri="{FF2B5EF4-FFF2-40B4-BE49-F238E27FC236}">
                <a16:creationId xmlns:a16="http://schemas.microsoft.com/office/drawing/2014/main" id="{4F2D3B11-9DC3-4230-80A2-5A4A7F045B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35923" y="239291"/>
            <a:ext cx="9612430" cy="6618709"/>
          </a:xfr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458704-3691-4300-8001-1FE2A944D8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529" y="3429000"/>
            <a:ext cx="3412787" cy="2864458"/>
          </a:xfrm>
        </p:spPr>
        <p:txBody>
          <a:bodyPr>
            <a:normAutofit fontScale="90000"/>
          </a:bodyPr>
          <a:lstStyle/>
          <a:p>
            <a:r>
              <a:rPr lang="en-US" dirty="0"/>
              <a:t>MRP II</a:t>
            </a:r>
            <a:br>
              <a:rPr lang="en-US" dirty="0"/>
            </a:br>
            <a:r>
              <a:rPr lang="ru-RU" dirty="0"/>
              <a:t>Система</a:t>
            </a:r>
            <a:br>
              <a:rPr lang="ru-RU" dirty="0"/>
            </a:br>
            <a:r>
              <a:rPr lang="ru-RU" dirty="0"/>
              <a:t>Производство</a:t>
            </a:r>
            <a:br>
              <a:rPr lang="ru-RU" dirty="0"/>
            </a:br>
            <a:r>
              <a:rPr lang="ru-RU" dirty="0"/>
              <a:t>Мебели</a:t>
            </a:r>
          </a:p>
        </p:txBody>
      </p:sp>
    </p:spTree>
    <p:extLst>
      <p:ext uri="{BB962C8B-B14F-4D97-AF65-F5344CB8AC3E}">
        <p14:creationId xmlns:p14="http://schemas.microsoft.com/office/powerpoint/2010/main" val="12974426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D5119E-E75A-4520-BF4C-2C3890B72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ERP</a:t>
            </a:r>
            <a:r>
              <a:rPr lang="ru-RU" dirty="0"/>
              <a:t> (</a:t>
            </a:r>
            <a:r>
              <a:rPr lang="en-US" dirty="0"/>
              <a:t>Enterprise Resource Planning</a:t>
            </a:r>
            <a:r>
              <a:rPr lang="ru-RU" dirty="0"/>
              <a:t>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1C5F729-CFF6-4F60-B8E1-E48E7DCE35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5897"/>
            <a:ext cx="10515600" cy="4351338"/>
          </a:xfrm>
        </p:spPr>
        <p:txBody>
          <a:bodyPr/>
          <a:lstStyle/>
          <a:p>
            <a:r>
              <a:rPr lang="ru-RU" dirty="0"/>
              <a:t>Ручное управление бизнес-процессами</a:t>
            </a:r>
          </a:p>
          <a:p>
            <a:r>
              <a:rPr lang="ru-RU" dirty="0"/>
              <a:t>Ограниченность MRP II только в сфере производства</a:t>
            </a:r>
          </a:p>
          <a:p>
            <a:r>
              <a:rPr lang="ru-RU" dirty="0"/>
              <a:t>Единое стратегическое управление и принятие решений</a:t>
            </a:r>
          </a:p>
          <a:p>
            <a:r>
              <a:rPr lang="ru-RU" dirty="0"/>
              <a:t>Сквозные процессы во всей компании</a:t>
            </a:r>
          </a:p>
        </p:txBody>
      </p:sp>
    </p:spTree>
    <p:extLst>
      <p:ext uri="{BB962C8B-B14F-4D97-AF65-F5344CB8AC3E}">
        <p14:creationId xmlns:p14="http://schemas.microsoft.com/office/powerpoint/2010/main" val="13102729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89F239-D66B-42FB-B228-10FDCA3921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451" y="238665"/>
            <a:ext cx="2167647" cy="2504535"/>
          </a:xfrm>
        </p:spPr>
        <p:txBody>
          <a:bodyPr>
            <a:normAutofit fontScale="90000"/>
          </a:bodyPr>
          <a:lstStyle/>
          <a:p>
            <a:r>
              <a:rPr lang="en-US" dirty="0"/>
              <a:t>ERP</a:t>
            </a:r>
            <a:br>
              <a:rPr lang="en-US" dirty="0"/>
            </a:br>
            <a:r>
              <a:rPr lang="ru-RU" dirty="0"/>
              <a:t>Система</a:t>
            </a:r>
            <a:br>
              <a:rPr lang="ru-RU" dirty="0"/>
            </a:br>
            <a:r>
              <a:rPr lang="ru-RU" dirty="0"/>
              <a:t>Производство</a:t>
            </a:r>
            <a:br>
              <a:rPr lang="ru-RU" dirty="0"/>
            </a:br>
            <a:r>
              <a:rPr lang="ru-RU" dirty="0"/>
              <a:t>Мебели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14D4C56-F594-43A0-92E3-2601CEC4E4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7612" y="0"/>
            <a:ext cx="46567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1427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C7DD9A-6C1A-4D6C-BDE9-03AF94595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PLM (Product Lifecycle Management)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61FFE3A-20E6-4CDB-87F4-0DCAFCA4AA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Управление данными о продукте с момента идеи и до вывода из эксплуатации</a:t>
            </a:r>
          </a:p>
          <a:p>
            <a:r>
              <a:rPr lang="ru-RU" dirty="0"/>
              <a:t>Необходимость в хранении и контроле документации: чертежи, спецификации, </a:t>
            </a:r>
            <a:r>
              <a:rPr lang="en-US" dirty="0"/>
              <a:t>BOM</a:t>
            </a:r>
            <a:r>
              <a:rPr lang="ru-RU" dirty="0"/>
              <a:t>, контроль их версий </a:t>
            </a:r>
            <a:r>
              <a:rPr lang="en-US" dirty="0"/>
              <a:t>(PDM)</a:t>
            </a:r>
            <a:endParaRPr lang="ru-RU" dirty="0"/>
          </a:p>
          <a:p>
            <a:r>
              <a:rPr lang="ru-RU" dirty="0"/>
              <a:t>Сквозной обмен информацией между тем же и разными отделами</a:t>
            </a:r>
          </a:p>
          <a:p>
            <a:r>
              <a:rPr lang="ru-RU" dirty="0"/>
              <a:t>ERP ориентирован на текущую деятельность предприятия, а не на создание, развитие и будущее продукта</a:t>
            </a:r>
          </a:p>
        </p:txBody>
      </p:sp>
    </p:spTree>
    <p:extLst>
      <p:ext uri="{BB962C8B-B14F-4D97-AF65-F5344CB8AC3E}">
        <p14:creationId xmlns:p14="http://schemas.microsoft.com/office/powerpoint/2010/main" val="31541107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Схема T-FLEX MDM и НСИ">
            <a:extLst>
              <a:ext uri="{FF2B5EF4-FFF2-40B4-BE49-F238E27FC236}">
                <a16:creationId xmlns:a16="http://schemas.microsoft.com/office/drawing/2014/main" id="{E4823C3B-6210-4F7D-9D9F-CD880279489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787" y="961888"/>
            <a:ext cx="10610426" cy="57696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BD1E380-8547-43F6-96E5-BBABCD45B7FC}"/>
              </a:ext>
            </a:extLst>
          </p:cNvPr>
          <p:cNvSpPr txBox="1"/>
          <p:nvPr/>
        </p:nvSpPr>
        <p:spPr>
          <a:xfrm>
            <a:off x="790787" y="126460"/>
            <a:ext cx="106104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/>
              <a:t>Упрощенный пример </a:t>
            </a:r>
            <a:r>
              <a:rPr lang="en-US" sz="3200" dirty="0"/>
              <a:t>PLM </a:t>
            </a:r>
            <a:r>
              <a:rPr lang="ru-RU" sz="3200" dirty="0"/>
              <a:t>на базе </a:t>
            </a:r>
            <a:r>
              <a:rPr lang="en-US" sz="3200" dirty="0"/>
              <a:t>T-FLEX</a:t>
            </a:r>
            <a:r>
              <a:rPr lang="ru-RU" sz="3200" dirty="0"/>
              <a:t> «Топ Системы»</a:t>
            </a:r>
          </a:p>
        </p:txBody>
      </p:sp>
    </p:spTree>
    <p:extLst>
      <p:ext uri="{BB962C8B-B14F-4D97-AF65-F5344CB8AC3E}">
        <p14:creationId xmlns:p14="http://schemas.microsoft.com/office/powerpoint/2010/main" val="12952072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F32807-7B36-433F-8098-75F5831AB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055BC6C-1893-4AED-A356-9A0AE3ACB0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4098" name="Picture 2" descr="Схема комплекса T-FLEX PLM">
            <a:extLst>
              <a:ext uri="{FF2B5EF4-FFF2-40B4-BE49-F238E27FC236}">
                <a16:creationId xmlns:a16="http://schemas.microsoft.com/office/drawing/2014/main" id="{F38E2AEE-B1FA-43DB-A4E9-E3BC853C6B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0" y="0"/>
            <a:ext cx="12180888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266327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Союз-PLM">
            <a:extLst>
              <a:ext uri="{FF2B5EF4-FFF2-40B4-BE49-F238E27FC236}">
                <a16:creationId xmlns:a16="http://schemas.microsoft.com/office/drawing/2014/main" id="{B58D7C24-51B9-42CA-B032-1647A1522C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7262" y="0"/>
            <a:ext cx="90551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D41A6C-492B-4E5A-92FD-92712727F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3677056" cy="2480216"/>
          </a:xfrm>
        </p:spPr>
        <p:txBody>
          <a:bodyPr/>
          <a:lstStyle/>
          <a:p>
            <a:r>
              <a:rPr lang="ru-RU" dirty="0"/>
              <a:t>Пример автоматизации на Союз </a:t>
            </a:r>
            <a:r>
              <a:rPr lang="en-US" dirty="0"/>
              <a:t>PLM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457310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47EDCC-29FF-4411-B041-D34A68A30F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45670"/>
            <a:ext cx="3066988" cy="2990918"/>
          </a:xfrm>
        </p:spPr>
        <p:txBody>
          <a:bodyPr/>
          <a:lstStyle/>
          <a:p>
            <a:r>
              <a:rPr lang="ru-RU" dirty="0"/>
              <a:t>Интерфейс </a:t>
            </a:r>
            <a:r>
              <a:rPr lang="en-US" dirty="0"/>
              <a:t>PLM </a:t>
            </a:r>
            <a:r>
              <a:rPr lang="ru-RU" dirty="0"/>
              <a:t>системы Союз </a:t>
            </a:r>
            <a:r>
              <a:rPr lang="en-US" dirty="0"/>
              <a:t>PLM</a:t>
            </a:r>
            <a:endParaRPr lang="ru-RU"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197A1D09-1977-433D-A3E9-96AA15C1F5D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6988" y="0"/>
            <a:ext cx="914922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692812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</TotalTime>
  <Words>511</Words>
  <Application>Microsoft Office PowerPoint</Application>
  <PresentationFormat>Широкоэкранный</PresentationFormat>
  <Paragraphs>64</Paragraphs>
  <Slides>14</Slides>
  <Notes>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Тема Office</vt:lpstr>
      <vt:lpstr>История методологий MRP II – ERP</vt:lpstr>
      <vt:lpstr>MRP (Material Requirements Planning)</vt:lpstr>
      <vt:lpstr>Причины появления MRP-системы</vt:lpstr>
      <vt:lpstr>MRP Система Производство Мебели</vt:lpstr>
      <vt:lpstr>MRP II (Manufacturing Resource Planning)</vt:lpstr>
      <vt:lpstr>Презентация PowerPoint</vt:lpstr>
      <vt:lpstr>MRP II Система Производство Мебели</vt:lpstr>
      <vt:lpstr>ERP (Enterprise Resource Planning)</vt:lpstr>
      <vt:lpstr>ERP Система Производство Мебели</vt:lpstr>
      <vt:lpstr>PLM (Product Lifecycle Management)</vt:lpstr>
      <vt:lpstr>Презентация PowerPoint</vt:lpstr>
      <vt:lpstr>Презентация PowerPoint</vt:lpstr>
      <vt:lpstr>Пример автоматизации на Союз PLM</vt:lpstr>
      <vt:lpstr>Интерфейс PLM системы Союз PLM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История методологий MRP II – ERP</dc:title>
  <dc:creator>Ontirabon</dc:creator>
  <cp:lastModifiedBy>Ontirabon</cp:lastModifiedBy>
  <cp:revision>12</cp:revision>
  <dcterms:created xsi:type="dcterms:W3CDTF">2026-03-03T16:40:16Z</dcterms:created>
  <dcterms:modified xsi:type="dcterms:W3CDTF">2026-03-03T20:04:41Z</dcterms:modified>
</cp:coreProperties>
</file>